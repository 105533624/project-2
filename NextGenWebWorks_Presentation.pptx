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59" r:id="rId5"/>
    <p:sldId id="273" r:id="rId6"/>
    <p:sldId id="278" r:id="rId7"/>
    <p:sldId id="283" r:id="rId8"/>
    <p:sldId id="281" r:id="rId9"/>
    <p:sldId id="275" r:id="rId10"/>
    <p:sldId id="282" r:id="rId11"/>
    <p:sldId id="277" r:id="rId12"/>
    <p:sldId id="272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75E4BF-D5F2-FCA7-50ED-F07FC5468C5B}" v="38" dt="2026-06-01T08:14:42.672"/>
    <p1510:client id="{29D69BCC-ADDD-B520-658D-247C0E7B0DEF}" v="635" dt="2026-06-01T08:17:51.319"/>
    <p1510:client id="{5DC329D3-CBB2-87AA-CAB2-83A3C20F1CB2}" v="7" dt="2026-06-01T10:56:59.610"/>
    <p1510:client id="{CF6BDAC1-47D7-0148-6CA5-4EBDB5D40A3F}" v="215" dt="2026-06-01T09:18:21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320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0D026-623C-5A66-CD6A-ADAAFCF9C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0452F-6C89-FD38-C970-802931DB9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5DF68-0343-F264-824A-86DFC5243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0EF82-7731-2849-3E7C-2D508841A5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23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8C40B-CDB7-5DDC-0974-316BC5464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326B2-C28B-0775-8C32-2D4C2DE47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DA1A9-EA06-ABC8-BD5F-D510C6402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E31D1-257B-B2EC-99FF-4C272087F7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44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822960" cy="2011680"/>
          </a:xfrm>
          <a:prstGeom prst="rect">
            <a:avLst/>
          </a:prstGeom>
          <a:solidFill>
            <a:srgbClr val="8C9DC0">
              <a:alpha val="7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9144000" cy="201168"/>
          </a:xfrm>
          <a:prstGeom prst="rect">
            <a:avLst/>
          </a:prstGeom>
          <a:solidFill>
            <a:srgbClr val="8C9DC0">
              <a:alpha val="6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286756" cy="11521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666049" y="1280160"/>
            <a:ext cx="492862" cy="115214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1203716" y="1280160"/>
            <a:ext cx="286756" cy="1152144"/>
          </a:xfrm>
          <a:prstGeom prst="rect">
            <a:avLst/>
          </a:prstGeom>
          <a:solidFill>
            <a:srgbClr val="B07C3E"/>
          </a:solidFill>
          <a:ln w="12700">
            <a:solidFill>
              <a:srgbClr val="B07C3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1691640" y="132588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r>
              <a:rPr lang="en-US" sz="4400" b="1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4400"/>
          </a:p>
        </p:txBody>
      </p:sp>
      <p:sp>
        <p:nvSpPr>
          <p:cNvPr id="10" name="Text 8"/>
          <p:cNvSpPr/>
          <p:nvPr/>
        </p:nvSpPr>
        <p:spPr>
          <a:xfrm>
            <a:off x="16916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500">
                <a:solidFill>
                  <a:srgbClr val="8C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WORKS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Digital Future, Today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594360" y="3251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C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 &amp; Services Presentation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6675120" y="2377440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6675120" y="2724912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6675120" y="3072384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7022592" y="2377440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7022592" y="2724912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7022592" y="3072384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7370064" y="2377440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7370064" y="2724912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7370064" y="3072384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7717536" y="2377440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7717536" y="2724912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7717536" y="3072384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8065008" y="2377440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8065008" y="2724912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8065008" y="3072384"/>
            <a:ext cx="109728" cy="109728"/>
          </a:xfrm>
          <a:prstGeom prst="ellipse">
            <a:avLst/>
          </a:prstGeom>
          <a:solidFill>
            <a:srgbClr val="8C9DC0">
              <a:alpha val="50000"/>
            </a:srgbClr>
          </a:solidFill>
          <a:ln w="127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2651760" y="0"/>
            <a:ext cx="27432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</a:t>
            </a:r>
            <a:endParaRPr lang="en-US" sz="2400"/>
          </a:p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3273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C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nextgenwebworks.com</a:t>
            </a:r>
            <a:endParaRPr lang="en-US" sz="1000"/>
          </a:p>
        </p:txBody>
      </p:sp>
      <p:sp>
        <p:nvSpPr>
          <p:cNvPr id="7" name="Shape 4"/>
          <p:cNvSpPr/>
          <p:nvPr/>
        </p:nvSpPr>
        <p:spPr>
          <a:xfrm>
            <a:off x="3200400" y="45720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3310128" y="530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3767328" y="5852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NextGen Web Works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3200400" y="128016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3310128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/>
          </a:p>
        </p:txBody>
      </p:sp>
      <p:sp>
        <p:nvSpPr>
          <p:cNvPr id="12" name="Text 9"/>
          <p:cNvSpPr/>
          <p:nvPr/>
        </p:nvSpPr>
        <p:spPr>
          <a:xfrm>
            <a:off x="3767328" y="14081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1B2B4B"/>
                </a:solidFill>
                <a:ea typeface="Calibri"/>
                <a:cs typeface="Calibri"/>
              </a:rPr>
              <a:t>Tasks Given</a:t>
            </a:r>
          </a:p>
        </p:txBody>
      </p:sp>
      <p:sp>
        <p:nvSpPr>
          <p:cNvPr id="16" name="Shape 13"/>
          <p:cNvSpPr/>
          <p:nvPr/>
        </p:nvSpPr>
        <p:spPr>
          <a:xfrm>
            <a:off x="3185746" y="2105465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3295474" y="217861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C518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2000"/>
          </a:p>
        </p:txBody>
      </p:sp>
      <p:sp>
        <p:nvSpPr>
          <p:cNvPr id="18" name="Text 15"/>
          <p:cNvSpPr/>
          <p:nvPr/>
        </p:nvSpPr>
        <p:spPr>
          <a:xfrm>
            <a:off x="3752674" y="2233481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1B2B4B"/>
                </a:solidFill>
                <a:ea typeface="Calibri"/>
                <a:cs typeface="Calibri"/>
              </a:rPr>
              <a:t>Hamnah's Part and demonstration</a:t>
            </a:r>
          </a:p>
        </p:txBody>
      </p:sp>
      <p:sp>
        <p:nvSpPr>
          <p:cNvPr id="19" name="Shape 16"/>
          <p:cNvSpPr/>
          <p:nvPr/>
        </p:nvSpPr>
        <p:spPr>
          <a:xfrm>
            <a:off x="3185746" y="2928425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Text 17"/>
          <p:cNvSpPr/>
          <p:nvPr/>
        </p:nvSpPr>
        <p:spPr>
          <a:xfrm>
            <a:off x="3295474" y="30015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C518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2000"/>
          </a:p>
        </p:txBody>
      </p:sp>
      <p:sp>
        <p:nvSpPr>
          <p:cNvPr id="21" name="Text 18"/>
          <p:cNvSpPr/>
          <p:nvPr/>
        </p:nvSpPr>
        <p:spPr>
          <a:xfrm>
            <a:off x="3752674" y="3056441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1B2B4B"/>
                </a:solidFill>
                <a:ea typeface="Calibri"/>
                <a:cs typeface="Calibri"/>
              </a:rPr>
              <a:t>Vansh's Part and demonstration</a:t>
            </a:r>
          </a:p>
        </p:txBody>
      </p:sp>
      <p:sp>
        <p:nvSpPr>
          <p:cNvPr id="22" name="Shape 19"/>
          <p:cNvSpPr/>
          <p:nvPr/>
        </p:nvSpPr>
        <p:spPr>
          <a:xfrm>
            <a:off x="6217920" y="45720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Text 20"/>
          <p:cNvSpPr/>
          <p:nvPr/>
        </p:nvSpPr>
        <p:spPr>
          <a:xfrm>
            <a:off x="6327648" y="530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/>
          </a:p>
        </p:txBody>
      </p:sp>
      <p:sp>
        <p:nvSpPr>
          <p:cNvPr id="24" name="Text 21"/>
          <p:cNvSpPr/>
          <p:nvPr/>
        </p:nvSpPr>
        <p:spPr>
          <a:xfrm>
            <a:off x="6784848" y="5852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</a:rPr>
              <a:t>Rafay's Part and Demonstration</a:t>
            </a:r>
            <a:endParaRPr lang="en-US" sz="1100"/>
          </a:p>
        </p:txBody>
      </p:sp>
      <p:sp>
        <p:nvSpPr>
          <p:cNvPr id="25" name="Shape 22"/>
          <p:cNvSpPr/>
          <p:nvPr/>
        </p:nvSpPr>
        <p:spPr>
          <a:xfrm>
            <a:off x="6217920" y="128016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Text 23"/>
          <p:cNvSpPr/>
          <p:nvPr/>
        </p:nvSpPr>
        <p:spPr>
          <a:xfrm>
            <a:off x="6327648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/>
          </a:p>
        </p:txBody>
      </p:sp>
      <p:sp>
        <p:nvSpPr>
          <p:cNvPr id="27" name="Text 24"/>
          <p:cNvSpPr/>
          <p:nvPr/>
        </p:nvSpPr>
        <p:spPr>
          <a:xfrm>
            <a:off x="6784848" y="14081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1B2B4B"/>
                </a:solidFill>
                <a:ea typeface="Calibri"/>
                <a:cs typeface="Calibri"/>
              </a:rPr>
              <a:t>Final Words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31" y="0"/>
            <a:ext cx="347472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3200400" y="0"/>
            <a:ext cx="29260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810101" y="1795938"/>
            <a:ext cx="7806689" cy="9001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About </a:t>
            </a:r>
            <a:r>
              <a:rPr lang="en-US" sz="2800" b="1">
                <a:solidFill>
                  <a:srgbClr val="F5C518"/>
                </a:solidFill>
                <a:latin typeface="Calibri"/>
                <a:ea typeface="Calibri"/>
                <a:cs typeface="Calibri"/>
              </a:rPr>
              <a:t>NextGen       Web Works</a:t>
            </a:r>
            <a:endParaRPr lang="en-US" sz="2800"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28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274320" y="2377440"/>
            <a:ext cx="28346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00">
              <a:solidFill>
                <a:srgbClr val="8C9DC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A5298">
              <a:alpha val="35000"/>
            </a:srgbClr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7351835" y="-548347"/>
            <a:ext cx="2560320" cy="2560320"/>
          </a:xfrm>
          <a:prstGeom prst="ellipse">
            <a:avLst/>
          </a:prstGeom>
          <a:solidFill>
            <a:srgbClr val="F5C518">
              <a:alpha val="12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1574409" y="2128032"/>
            <a:ext cx="54864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4000" b="1">
                <a:solidFill>
                  <a:srgbClr val="FFFFFF"/>
                </a:solidFill>
                <a:ea typeface="Calibri"/>
                <a:cs typeface="Calibri"/>
              </a:rPr>
              <a:t>Mind Map of the Task assigned to us 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3716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7DC299C-C793-F5FD-CF6B-3BB7910B327C}"/>
              </a:ext>
            </a:extLst>
          </p:cNvPr>
          <p:cNvSpPr/>
          <p:nvPr/>
        </p:nvSpPr>
        <p:spPr>
          <a:xfrm>
            <a:off x="979170" y="3190436"/>
            <a:ext cx="1188720" cy="1188720"/>
          </a:xfrm>
          <a:prstGeom prst="ellipse">
            <a:avLst/>
          </a:prstGeom>
          <a:solidFill>
            <a:srgbClr val="2A5298"/>
          </a:solidFill>
          <a:ln w="254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E1A5964A-BBB8-D0C2-9FC5-F07350842D09}"/>
              </a:ext>
            </a:extLst>
          </p:cNvPr>
          <p:cNvSpPr/>
          <p:nvPr/>
        </p:nvSpPr>
        <p:spPr>
          <a:xfrm>
            <a:off x="1827335" y="3190435"/>
            <a:ext cx="1188720" cy="1188720"/>
          </a:xfrm>
          <a:prstGeom prst="ellipse">
            <a:avLst/>
          </a:prstGeom>
          <a:solidFill>
            <a:srgbClr val="F5C518"/>
          </a:solidFill>
          <a:ln w="254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20">
            <a:extLst>
              <a:ext uri="{FF2B5EF4-FFF2-40B4-BE49-F238E27FC236}">
                <a16:creationId xmlns:a16="http://schemas.microsoft.com/office/drawing/2014/main" id="{C331968D-B64A-9849-3492-92973BAB4DEC}"/>
              </a:ext>
            </a:extLst>
          </p:cNvPr>
          <p:cNvSpPr/>
          <p:nvPr/>
        </p:nvSpPr>
        <p:spPr>
          <a:xfrm>
            <a:off x="2544494" y="3190435"/>
            <a:ext cx="1188720" cy="1188720"/>
          </a:xfrm>
          <a:prstGeom prst="ellipse">
            <a:avLst/>
          </a:prstGeom>
          <a:solidFill>
            <a:srgbClr val="2A5298"/>
          </a:solidFill>
          <a:ln w="25400">
            <a:solidFill>
              <a:srgbClr val="8C9D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92648" y="227873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 sz="1200"/>
          </a:p>
        </p:txBody>
      </p:sp>
      <p:sp>
        <p:nvSpPr>
          <p:cNvPr id="3" name="Text 1"/>
          <p:cNvSpPr/>
          <p:nvPr/>
        </p:nvSpPr>
        <p:spPr>
          <a:xfrm>
            <a:off x="3863340" y="2276856"/>
            <a:ext cx="14173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Project Part 2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3892648" y="2621083"/>
            <a:ext cx="1417320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2E8F0"/>
                </a:solidFill>
              </a:rPr>
              <a:t>PHP + MySQL Website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71035" y="834859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 sz="1000"/>
          </a:p>
        </p:txBody>
      </p:sp>
      <p:sp>
        <p:nvSpPr>
          <p:cNvPr id="7" name="Text 5"/>
          <p:cNvSpPr/>
          <p:nvPr/>
        </p:nvSpPr>
        <p:spPr>
          <a:xfrm>
            <a:off x="371035" y="862291"/>
            <a:ext cx="1572768" cy="2948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PHP Modularisation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371035" y="1129662"/>
            <a:ext cx="1572768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Includes + settings.php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834640" y="164592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 sz="1000"/>
          </a:p>
        </p:txBody>
      </p:sp>
      <p:sp>
        <p:nvSpPr>
          <p:cNvPr id="11" name="Text 9"/>
          <p:cNvSpPr/>
          <p:nvPr/>
        </p:nvSpPr>
        <p:spPr>
          <a:xfrm>
            <a:off x="2834640" y="192024"/>
            <a:ext cx="1572768" cy="2948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EOI Table &amp; Process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2834640" y="459395"/>
            <a:ext cx="1572768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err="1">
                <a:solidFill>
                  <a:srgbClr val="E2E8F0"/>
                </a:solidFill>
              </a:rPr>
              <a:t>process_eoi.php</a:t>
            </a:r>
            <a:r>
              <a:rPr lang="en-US" sz="1000">
                <a:solidFill>
                  <a:srgbClr val="E2E8F0"/>
                </a:solidFill>
              </a:rPr>
              <a:t> + validation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309360" y="256032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 sz="1000"/>
          </a:p>
        </p:txBody>
      </p:sp>
      <p:sp>
        <p:nvSpPr>
          <p:cNvPr id="15" name="Text 13"/>
          <p:cNvSpPr/>
          <p:nvPr/>
        </p:nvSpPr>
        <p:spPr>
          <a:xfrm>
            <a:off x="6309360" y="283464"/>
            <a:ext cx="1572768" cy="2948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Jobs Page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309360" y="550835"/>
            <a:ext cx="1572768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Dynamic from DB + search bar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7098909" y="2108395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 sz="1000"/>
          </a:p>
        </p:txBody>
      </p:sp>
      <p:sp>
        <p:nvSpPr>
          <p:cNvPr id="19" name="Text 17"/>
          <p:cNvSpPr/>
          <p:nvPr/>
        </p:nvSpPr>
        <p:spPr>
          <a:xfrm>
            <a:off x="7098909" y="2135827"/>
            <a:ext cx="1572768" cy="2948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manage.php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7098909" y="2403198"/>
            <a:ext cx="1572768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HR portal + login auth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5377082" y="3328768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 sz="1000"/>
          </a:p>
        </p:txBody>
      </p:sp>
      <p:sp>
        <p:nvSpPr>
          <p:cNvPr id="23" name="Text 21"/>
          <p:cNvSpPr/>
          <p:nvPr/>
        </p:nvSpPr>
        <p:spPr>
          <a:xfrm>
            <a:off x="5377082" y="3356200"/>
            <a:ext cx="1572768" cy="2948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About Page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5377082" y="3623571"/>
            <a:ext cx="1572768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about table, member contributions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2717116" y="3473255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 sz="1000"/>
          </a:p>
        </p:txBody>
      </p:sp>
      <p:sp>
        <p:nvSpPr>
          <p:cNvPr id="27" name="Text 25"/>
          <p:cNvSpPr/>
          <p:nvPr/>
        </p:nvSpPr>
        <p:spPr>
          <a:xfrm>
            <a:off x="2717116" y="3420090"/>
            <a:ext cx="1572768" cy="2948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Submission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2717116" y="3768058"/>
            <a:ext cx="1572768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ZIP + GitHub + slides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231824" y="2625383"/>
            <a:ext cx="1572768" cy="566928"/>
          </a:xfrm>
          <a:prstGeom prst="roundRect">
            <a:avLst>
              <a:gd name="adj" fmla="val 12903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 sz="1000"/>
          </a:p>
        </p:txBody>
      </p:sp>
      <p:sp>
        <p:nvSpPr>
          <p:cNvPr id="31" name="Text 29"/>
          <p:cNvSpPr/>
          <p:nvPr/>
        </p:nvSpPr>
        <p:spPr>
          <a:xfrm>
            <a:off x="231824" y="2660142"/>
            <a:ext cx="1572768" cy="2948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Folder Structure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231824" y="2956821"/>
            <a:ext cx="1572768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project2/ – relative paths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792480" y="1557411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0891B2">
              <a:alpha val="32000"/>
            </a:srgbClr>
          </a:solidFill>
          <a:ln w="10160">
            <a:solidFill>
              <a:srgbClr val="0891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34" name="Text 32"/>
          <p:cNvSpPr/>
          <p:nvPr/>
        </p:nvSpPr>
        <p:spPr>
          <a:xfrm>
            <a:off x="792480" y="1557411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header/nav/footer.inc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792480" y="1813443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0891B2">
              <a:alpha val="32000"/>
            </a:srgbClr>
          </a:solidFill>
          <a:ln w="10160">
            <a:solidFill>
              <a:srgbClr val="0891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36" name="Text 34"/>
          <p:cNvSpPr/>
          <p:nvPr/>
        </p:nvSpPr>
        <p:spPr>
          <a:xfrm>
            <a:off x="792480" y="1813443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Convert pages to .php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3368040" y="850509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E11D48">
              <a:alpha val="32000"/>
            </a:srgbClr>
          </a:solidFill>
          <a:ln w="10160">
            <a:solidFill>
              <a:srgbClr val="E11D4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38" name="Text 36"/>
          <p:cNvSpPr/>
          <p:nvPr/>
        </p:nvSpPr>
        <p:spPr>
          <a:xfrm>
            <a:off x="3368040" y="850509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All apply.php fields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3368040" y="1106541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E11D48">
              <a:alpha val="32000"/>
            </a:srgbClr>
          </a:solidFill>
          <a:ln w="10160">
            <a:solidFill>
              <a:srgbClr val="E11D4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40" name="Text 38"/>
          <p:cNvSpPr/>
          <p:nvPr/>
        </p:nvSpPr>
        <p:spPr>
          <a:xfrm>
            <a:off x="3368040" y="1106541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Status: New/Current/Final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3368040" y="1362573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E11D48">
              <a:alpha val="32000"/>
            </a:srgbClr>
          </a:solidFill>
          <a:ln w="10160">
            <a:solidFill>
              <a:srgbClr val="E11D4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42" name="Text 40"/>
          <p:cNvSpPr/>
          <p:nvPr/>
        </p:nvSpPr>
        <p:spPr>
          <a:xfrm>
            <a:off x="3368040" y="1362573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Block direct URL access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6884670" y="963930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2563EB">
              <a:alpha val="32000"/>
            </a:srgbClr>
          </a:solidFill>
          <a:ln w="10160">
            <a:solidFill>
              <a:srgbClr val="2563E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44" name="Text 42"/>
          <p:cNvSpPr/>
          <p:nvPr/>
        </p:nvSpPr>
        <p:spPr>
          <a:xfrm>
            <a:off x="6884670" y="96393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jobs table in MySQL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6884670" y="1219962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2563EB">
              <a:alpha val="32000"/>
            </a:srgbClr>
          </a:solidFill>
          <a:ln w="10160">
            <a:solidFill>
              <a:srgbClr val="2563E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46" name="Text 44"/>
          <p:cNvSpPr/>
          <p:nvPr/>
        </p:nvSpPr>
        <p:spPr>
          <a:xfrm>
            <a:off x="6884670" y="121996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Search bar from DB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7483719" y="2896890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D97706">
              <a:alpha val="32000"/>
            </a:srgbClr>
          </a:solidFill>
          <a:ln w="10160">
            <a:solidFill>
              <a:srgbClr val="D9770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48" name="Text 46"/>
          <p:cNvSpPr/>
          <p:nvPr/>
        </p:nvSpPr>
        <p:spPr>
          <a:xfrm>
            <a:off x="7483719" y="289689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Login page + users table</a:t>
            </a:r>
            <a:endParaRPr lang="en-US" sz="1000"/>
          </a:p>
        </p:txBody>
      </p:sp>
      <p:sp>
        <p:nvSpPr>
          <p:cNvPr id="49" name="Shape 47"/>
          <p:cNvSpPr/>
          <p:nvPr/>
        </p:nvSpPr>
        <p:spPr>
          <a:xfrm>
            <a:off x="7483719" y="3152922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D97706">
              <a:alpha val="32000"/>
            </a:srgbClr>
          </a:solidFill>
          <a:ln w="10160">
            <a:solidFill>
              <a:srgbClr val="D9770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50" name="Text 48"/>
          <p:cNvSpPr/>
          <p:nvPr/>
        </p:nvSpPr>
        <p:spPr>
          <a:xfrm>
            <a:off x="7483719" y="315292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List/search/delete EOIs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7483719" y="3408954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D97706">
              <a:alpha val="32000"/>
            </a:srgbClr>
          </a:solidFill>
          <a:ln w="10160">
            <a:solidFill>
              <a:srgbClr val="D9770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52" name="Text 50"/>
          <p:cNvSpPr/>
          <p:nvPr/>
        </p:nvSpPr>
        <p:spPr>
          <a:xfrm>
            <a:off x="7483719" y="340895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Change EOI status</a:t>
            </a:r>
            <a:endParaRPr lang="en-US" sz="1000"/>
          </a:p>
        </p:txBody>
      </p:sp>
      <p:sp>
        <p:nvSpPr>
          <p:cNvPr id="53" name="Shape 51"/>
          <p:cNvSpPr/>
          <p:nvPr/>
        </p:nvSpPr>
        <p:spPr>
          <a:xfrm>
            <a:off x="7483719" y="3664986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D97706">
              <a:alpha val="32000"/>
            </a:srgbClr>
          </a:solidFill>
          <a:ln w="10160">
            <a:solidFill>
              <a:srgbClr val="D9770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54" name="Text 52"/>
          <p:cNvSpPr/>
          <p:nvPr/>
        </p:nvSpPr>
        <p:spPr>
          <a:xfrm>
            <a:off x="7483719" y="366498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Sort field selection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5770978" y="4049854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059669">
              <a:alpha val="32000"/>
            </a:srgbClr>
          </a:solidFill>
          <a:ln w="10160">
            <a:solidFill>
              <a:srgbClr val="05966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56" name="Text 54"/>
          <p:cNvSpPr/>
          <p:nvPr/>
        </p:nvSpPr>
        <p:spPr>
          <a:xfrm>
            <a:off x="5770978" y="404985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P1 + P2 contributions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5770978" y="4305886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059669">
              <a:alpha val="32000"/>
            </a:srgbClr>
          </a:solidFill>
          <a:ln w="10160">
            <a:solidFill>
              <a:srgbClr val="05966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58" name="Text 56"/>
          <p:cNvSpPr/>
          <p:nvPr/>
        </p:nvSpPr>
        <p:spPr>
          <a:xfrm>
            <a:off x="5770978" y="430588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Load from DB</a:t>
            </a:r>
            <a:endParaRPr lang="en-US" sz="1000"/>
          </a:p>
        </p:txBody>
      </p:sp>
      <p:sp>
        <p:nvSpPr>
          <p:cNvPr id="59" name="Shape 57"/>
          <p:cNvSpPr/>
          <p:nvPr/>
        </p:nvSpPr>
        <p:spPr>
          <a:xfrm>
            <a:off x="3145887" y="4203602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BE185D">
              <a:alpha val="32000"/>
            </a:srgbClr>
          </a:solidFill>
          <a:ln w="10160">
            <a:solidFill>
              <a:srgbClr val="BE185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60" name="Text 58"/>
          <p:cNvSpPr/>
          <p:nvPr/>
        </p:nvSpPr>
        <p:spPr>
          <a:xfrm>
            <a:off x="3145887" y="420360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Wk11 tutor interview</a:t>
            </a:r>
            <a:endParaRPr lang="en-US" sz="1000"/>
          </a:p>
        </p:txBody>
      </p:sp>
      <p:sp>
        <p:nvSpPr>
          <p:cNvPr id="61" name="Shape 59"/>
          <p:cNvSpPr/>
          <p:nvPr/>
        </p:nvSpPr>
        <p:spPr>
          <a:xfrm>
            <a:off x="3145887" y="4459634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BE185D">
              <a:alpha val="32000"/>
            </a:srgbClr>
          </a:solidFill>
          <a:ln w="10160">
            <a:solidFill>
              <a:srgbClr val="BE185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62" name="Text 60"/>
          <p:cNvSpPr/>
          <p:nvPr/>
        </p:nvSpPr>
        <p:spPr>
          <a:xfrm>
            <a:off x="3145887" y="445963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Wk12 group presentation</a:t>
            </a:r>
            <a:endParaRPr lang="en-US" sz="1000"/>
          </a:p>
        </p:txBody>
      </p:sp>
      <p:sp>
        <p:nvSpPr>
          <p:cNvPr id="63" name="Shape 61"/>
          <p:cNvSpPr/>
          <p:nvPr/>
        </p:nvSpPr>
        <p:spPr>
          <a:xfrm>
            <a:off x="3145887" y="4715666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BE185D">
              <a:alpha val="32000"/>
            </a:srgbClr>
          </a:solidFill>
          <a:ln w="10160">
            <a:solidFill>
              <a:srgbClr val="BE185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64" name="Text 62"/>
          <p:cNvSpPr/>
          <p:nvPr/>
        </p:nvSpPr>
        <p:spPr>
          <a:xfrm>
            <a:off x="3145887" y="471566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Peer &amp; self eval (individual)</a:t>
            </a:r>
            <a:endParaRPr lang="en-US" sz="1000"/>
          </a:p>
        </p:txBody>
      </p:sp>
      <p:sp>
        <p:nvSpPr>
          <p:cNvPr id="65" name="Shape 63"/>
          <p:cNvSpPr/>
          <p:nvPr/>
        </p:nvSpPr>
        <p:spPr>
          <a:xfrm>
            <a:off x="697230" y="3397758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475569">
              <a:alpha val="32000"/>
            </a:srgbClr>
          </a:solidFill>
          <a:ln w="10160">
            <a:solidFill>
              <a:srgbClr val="47556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66" name="Text 64"/>
          <p:cNvSpPr/>
          <p:nvPr/>
        </p:nvSpPr>
        <p:spPr>
          <a:xfrm>
            <a:off x="697230" y="339775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images/ &amp; styles/ folders</a:t>
            </a:r>
            <a:endParaRPr lang="en-US" sz="1000"/>
          </a:p>
        </p:txBody>
      </p:sp>
      <p:sp>
        <p:nvSpPr>
          <p:cNvPr id="67" name="Shape 65"/>
          <p:cNvSpPr/>
          <p:nvPr/>
        </p:nvSpPr>
        <p:spPr>
          <a:xfrm>
            <a:off x="697230" y="3653790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475569">
              <a:alpha val="32000"/>
            </a:srgbClr>
          </a:solidFill>
          <a:ln w="10160">
            <a:solidFill>
              <a:srgbClr val="47556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AU" sz="1000"/>
          </a:p>
        </p:txBody>
      </p:sp>
      <p:sp>
        <p:nvSpPr>
          <p:cNvPr id="68" name="Text 66"/>
          <p:cNvSpPr/>
          <p:nvPr/>
        </p:nvSpPr>
        <p:spPr>
          <a:xfrm>
            <a:off x="697230" y="365379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8F0"/>
                </a:solidFill>
              </a:rPr>
              <a:t>Run from index.php</a:t>
            </a:r>
            <a:endParaRPr lang="en-US" sz="1000"/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A12B67D5-1606-C365-3B0E-565CE89E387F}"/>
              </a:ext>
            </a:extLst>
          </p:cNvPr>
          <p:cNvCxnSpPr/>
          <p:nvPr/>
        </p:nvCxnSpPr>
        <p:spPr>
          <a:xfrm flipH="1" flipV="1">
            <a:off x="4662861" y="446495"/>
            <a:ext cx="445379" cy="18412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F3FC294A-C539-79CB-D6DD-79B7B5470C4B}"/>
              </a:ext>
            </a:extLst>
          </p:cNvPr>
          <p:cNvCxnSpPr>
            <a:cxnSpLocks/>
          </p:cNvCxnSpPr>
          <p:nvPr/>
        </p:nvCxnSpPr>
        <p:spPr>
          <a:xfrm flipV="1">
            <a:off x="5320720" y="497783"/>
            <a:ext cx="895447" cy="19364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B3187EF3-6FAE-E270-9FC8-C045C3B3ADA0}"/>
              </a:ext>
            </a:extLst>
          </p:cNvPr>
          <p:cNvCxnSpPr>
            <a:cxnSpLocks/>
          </p:cNvCxnSpPr>
          <p:nvPr/>
        </p:nvCxnSpPr>
        <p:spPr>
          <a:xfrm flipV="1">
            <a:off x="5284087" y="2461397"/>
            <a:ext cx="1672101" cy="3172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98E29466-F1D4-2439-D15E-0945000277B4}"/>
              </a:ext>
            </a:extLst>
          </p:cNvPr>
          <p:cNvCxnSpPr>
            <a:cxnSpLocks/>
          </p:cNvCxnSpPr>
          <p:nvPr/>
        </p:nvCxnSpPr>
        <p:spPr>
          <a:xfrm flipH="1">
            <a:off x="1966553" y="2463553"/>
            <a:ext cx="1962049" cy="2029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A305E33-D7E7-182A-CEC6-49C38EA64797}"/>
              </a:ext>
            </a:extLst>
          </p:cNvPr>
          <p:cNvCxnSpPr>
            <a:cxnSpLocks/>
          </p:cNvCxnSpPr>
          <p:nvPr/>
        </p:nvCxnSpPr>
        <p:spPr>
          <a:xfrm>
            <a:off x="4873777" y="2932477"/>
            <a:ext cx="411872" cy="7744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DB2D9A1A-7984-2F50-58EE-A132EC3F0263}"/>
              </a:ext>
            </a:extLst>
          </p:cNvPr>
          <p:cNvCxnSpPr>
            <a:cxnSpLocks/>
          </p:cNvCxnSpPr>
          <p:nvPr/>
        </p:nvCxnSpPr>
        <p:spPr>
          <a:xfrm flipH="1" flipV="1">
            <a:off x="1966552" y="1142552"/>
            <a:ext cx="1918089" cy="14895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C767E9FD-E014-F8A9-8395-374670C55251}"/>
              </a:ext>
            </a:extLst>
          </p:cNvPr>
          <p:cNvCxnSpPr>
            <a:cxnSpLocks/>
          </p:cNvCxnSpPr>
          <p:nvPr/>
        </p:nvCxnSpPr>
        <p:spPr>
          <a:xfrm flipH="1">
            <a:off x="3842245" y="2903170"/>
            <a:ext cx="57050" cy="5693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899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05A56-A7D3-A05A-450B-319F83883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59575A-5D32-DF4C-7FFD-A1FC98E1770B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22548"/>
          </a:solidFill>
          <a:ln w="12700">
            <a:solidFill>
              <a:srgbClr val="12254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C80BEB-9818-A7FD-D248-52A49121063D}"/>
              </a:ext>
            </a:extLst>
          </p:cNvPr>
          <p:cNvSpPr/>
          <p:nvPr/>
        </p:nvSpPr>
        <p:spPr>
          <a:xfrm>
            <a:off x="201168" y="0"/>
            <a:ext cx="9144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2F5E424-F438-FA5D-AF15-9551C0841BA0}"/>
              </a:ext>
            </a:extLst>
          </p:cNvPr>
          <p:cNvSpPr/>
          <p:nvPr/>
        </p:nvSpPr>
        <p:spPr>
          <a:xfrm>
            <a:off x="292608" y="0"/>
            <a:ext cx="885139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F94AC51-6514-7F2F-0371-9A260B91FC4B}"/>
              </a:ext>
            </a:extLst>
          </p:cNvPr>
          <p:cNvSpPr/>
          <p:nvPr/>
        </p:nvSpPr>
        <p:spPr>
          <a:xfrm>
            <a:off x="502920" y="137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</a:t>
            </a:r>
            <a:endParaRPr lang="en-US" sz="3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B07972D-1FD7-E95F-6DA2-86CEBEEAB7DA}"/>
              </a:ext>
            </a:extLst>
          </p:cNvPr>
          <p:cNvSpPr/>
          <p:nvPr/>
        </p:nvSpPr>
        <p:spPr>
          <a:xfrm>
            <a:off x="50292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F5C518"/>
                </a:solidFill>
                <a:latin typeface="Calibri"/>
                <a:ea typeface="Calibri"/>
                <a:cs typeface="Calibri"/>
              </a:rPr>
              <a:t>Hamnah Chaudhary|  106178479  NextGen Web Works - Group 06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2C888F4-AD7C-4A9E-4FF7-DD1B5D5CA350}"/>
              </a:ext>
            </a:extLst>
          </p:cNvPr>
          <p:cNvSpPr/>
          <p:nvPr/>
        </p:nvSpPr>
        <p:spPr>
          <a:xfrm>
            <a:off x="384048" y="1143000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20B57EC-4825-EA36-CA3E-BE05C5991EEF}"/>
              </a:ext>
            </a:extLst>
          </p:cNvPr>
          <p:cNvSpPr/>
          <p:nvPr/>
        </p:nvSpPr>
        <p:spPr>
          <a:xfrm>
            <a:off x="384048" y="1143000"/>
            <a:ext cx="27432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5F392CA-C91E-1174-E447-E3DF72AE5F13}"/>
              </a:ext>
            </a:extLst>
          </p:cNvPr>
          <p:cNvSpPr/>
          <p:nvPr/>
        </p:nvSpPr>
        <p:spPr>
          <a:xfrm>
            <a:off x="384048" y="1143000"/>
            <a:ext cx="274320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CFB044F-1D93-2DA6-3AE9-FFCBC015B919}"/>
              </a:ext>
            </a:extLst>
          </p:cNvPr>
          <p:cNvSpPr/>
          <p:nvPr/>
        </p:nvSpPr>
        <p:spPr>
          <a:xfrm>
            <a:off x="493776" y="11795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FFFFFF"/>
                </a:solidFill>
                <a:ea typeface="Calibri"/>
                <a:cs typeface="Calibri"/>
              </a:rPr>
              <a:t>Project 1 Fixtures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06C70FD-E487-CC0A-1842-6A6DCAEE4F51}"/>
              </a:ext>
            </a:extLst>
          </p:cNvPr>
          <p:cNvSpPr/>
          <p:nvPr/>
        </p:nvSpPr>
        <p:spPr>
          <a:xfrm>
            <a:off x="493776" y="1605594"/>
            <a:ext cx="2736224" cy="33985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>
              <a:buSzPct val="100000"/>
              <a:buFont typeface="Arial"/>
              <a:buChar char="•"/>
            </a:pPr>
            <a:r>
              <a:rPr lang="en-US" sz="105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+mn-lt"/>
                <a:cs typeface="+mn-lt"/>
              </a:rPr>
              <a:t>Added detailed code comments across the project to improve readability and maintainability </a:t>
            </a:r>
            <a:endParaRPr lang="en-US" sz="1050">
              <a:solidFill>
                <a:schemeClr val="tx1">
                  <a:lumMod val="85000"/>
                  <a:lumOff val="15000"/>
                </a:schemeClr>
              </a:solidFill>
              <a:latin typeface="Aptos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+mn-lt"/>
                <a:cs typeface="+mn-lt"/>
              </a:rPr>
              <a:t>Enhanced the index page with client testimonials for improved user engagement 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Aptos"/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+mn-lt"/>
                <a:cs typeface="+mn-lt"/>
              </a:rPr>
              <a:t>Redesigned the pricing packages section with improved </a:t>
            </a:r>
            <a:r>
              <a:rPr lang="en-US" sz="1050" err="1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+mn-lt"/>
                <a:cs typeface="+mn-lt"/>
              </a:rPr>
              <a:t>colour</a:t>
            </a:r>
            <a:r>
              <a:rPr lang="en-US" sz="105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+mn-lt"/>
                <a:cs typeface="+mn-lt"/>
              </a:rPr>
              <a:t> scheme and layout styling 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Aptos"/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+mn-lt"/>
                <a:cs typeface="+mn-lt"/>
              </a:rPr>
              <a:t>Applied consistent CSS improvements across all pages for better visual design </a:t>
            </a:r>
            <a:endParaRPr lang="en-US" sz="1050">
              <a:solidFill>
                <a:schemeClr val="tx1">
                  <a:lumMod val="85000"/>
                  <a:lumOff val="15000"/>
                </a:schemeClr>
              </a:solidFill>
              <a:latin typeface="Aptos"/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+mn-lt"/>
                <a:cs typeface="+mn-lt"/>
              </a:rPr>
              <a:t>Added search functionality and filtering options on the Jobs page, including sorting by  salary</a:t>
            </a: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+mn-lt"/>
                <a:cs typeface="+mn-lt"/>
              </a:rPr>
              <a:t>Expanded job listings with additional entries and improved database-driven content display</a:t>
            </a: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  <a:ea typeface="+mn-lt"/>
                <a:cs typeface="+mn-lt"/>
              </a:rPr>
              <a:t>Added meta tags and validation features to improve accessibility</a:t>
            </a:r>
            <a:endParaRPr lang="en-US" sz="1050">
              <a:solidFill>
                <a:schemeClr val="tx1">
                  <a:lumMod val="85000"/>
                  <a:lumOff val="15000"/>
                </a:schemeClr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D3A4A05-462D-14CD-C2EB-F629694DF641}"/>
              </a:ext>
            </a:extLst>
          </p:cNvPr>
          <p:cNvSpPr/>
          <p:nvPr/>
        </p:nvSpPr>
        <p:spPr>
          <a:xfrm>
            <a:off x="3291840" y="1143000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E0FC81E-7146-7EA5-E57D-F937D234374E}"/>
              </a:ext>
            </a:extLst>
          </p:cNvPr>
          <p:cNvSpPr/>
          <p:nvPr/>
        </p:nvSpPr>
        <p:spPr>
          <a:xfrm>
            <a:off x="3291840" y="1143000"/>
            <a:ext cx="27432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C149AE9-BD2D-76FB-95E5-A712276A8617}"/>
              </a:ext>
            </a:extLst>
          </p:cNvPr>
          <p:cNvSpPr/>
          <p:nvPr/>
        </p:nvSpPr>
        <p:spPr>
          <a:xfrm>
            <a:off x="3291840" y="1143000"/>
            <a:ext cx="274320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827D9DA-12D8-AA11-91CB-F635BDCF27B4}"/>
              </a:ext>
            </a:extLst>
          </p:cNvPr>
          <p:cNvSpPr/>
          <p:nvPr/>
        </p:nvSpPr>
        <p:spPr>
          <a:xfrm>
            <a:off x="3401568" y="11795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FFFFFF"/>
                </a:solidFill>
                <a:ea typeface="+mn-lt"/>
                <a:cs typeface="+mn-lt"/>
              </a:rPr>
              <a:t>Project 2 – Project Features &amp; Development</a:t>
            </a:r>
            <a:endParaRPr lang="en-US" b="1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E264DFC-60D2-77B4-762A-AD627F40D9A1}"/>
              </a:ext>
            </a:extLst>
          </p:cNvPr>
          <p:cNvSpPr/>
          <p:nvPr/>
        </p:nvSpPr>
        <p:spPr>
          <a:xfrm>
            <a:off x="3401568" y="1664208"/>
            <a:ext cx="2523744" cy="3017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Created </a:t>
            </a:r>
            <a:r>
              <a:rPr lang="en-US" sz="1050" err="1">
                <a:solidFill>
                  <a:srgbClr val="333333"/>
                </a:solidFill>
                <a:latin typeface="Aptos"/>
                <a:ea typeface="Calibri"/>
                <a:cs typeface="Calibri"/>
              </a:rPr>
              <a:t>settings.php</a:t>
            </a: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 for database configuration including host, username, and database name (no password set for local server usage)</a:t>
            </a:r>
            <a:endParaRPr lang="en-US" sz="1050">
              <a:solidFill>
                <a:srgbClr val="333333"/>
              </a:solidFill>
              <a:latin typeface="Aptos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Created an </a:t>
            </a:r>
            <a:r>
              <a:rPr lang="en-US" sz="1050" b="1">
                <a:solidFill>
                  <a:srgbClr val="333333"/>
                </a:solidFill>
                <a:latin typeface="Aptos"/>
                <a:ea typeface="+mn-lt"/>
                <a:cs typeface="+mn-lt"/>
              </a:rPr>
              <a:t>Expression of Interest (EOI) table</a:t>
            </a: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 named </a:t>
            </a:r>
            <a:r>
              <a:rPr lang="en-US" sz="1050" err="1">
                <a:solidFill>
                  <a:srgbClr val="333333"/>
                </a:solidFill>
                <a:latin typeface="Aptos"/>
                <a:ea typeface="Calibri"/>
                <a:cs typeface="Calibri"/>
              </a:rPr>
              <a:t>eoi</a:t>
            </a: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, including all fields based on Project 1 Apply page variables, and added a </a:t>
            </a:r>
            <a:r>
              <a:rPr lang="en-US" sz="1050">
                <a:solidFill>
                  <a:srgbClr val="333333"/>
                </a:solidFill>
                <a:latin typeface="Aptos"/>
                <a:ea typeface="Calibri"/>
                <a:cs typeface="Calibri"/>
              </a:rPr>
              <a:t>status</a:t>
            </a: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 field with predefined values (New, Current, Final) with default set to New </a:t>
            </a:r>
            <a:endParaRPr lang="en-US">
              <a:latin typeface="Aptos"/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Created a </a:t>
            </a:r>
            <a:r>
              <a:rPr lang="en-US" sz="1050" b="1">
                <a:solidFill>
                  <a:srgbClr val="333333"/>
                </a:solidFill>
                <a:latin typeface="Aptos"/>
                <a:ea typeface="+mn-lt"/>
                <a:cs typeface="+mn-lt"/>
              </a:rPr>
              <a:t>Jobs table</a:t>
            </a: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 with fields and data types matching the Project 1 Jobs page structure and implemented dynamic rendering of job details using PHP in </a:t>
            </a:r>
            <a:r>
              <a:rPr lang="en-US" sz="1050" err="1">
                <a:solidFill>
                  <a:srgbClr val="333333"/>
                </a:solidFill>
                <a:latin typeface="Aptos"/>
                <a:ea typeface="Calibri"/>
                <a:cs typeface="Calibri"/>
              </a:rPr>
              <a:t>jobs.php</a:t>
            </a: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 </a:t>
            </a:r>
            <a:endParaRPr lang="en-US">
              <a:latin typeface="Aptos"/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Developed a </a:t>
            </a:r>
            <a:r>
              <a:rPr lang="en-US" sz="1050" b="1">
                <a:solidFill>
                  <a:srgbClr val="333333"/>
                </a:solidFill>
                <a:latin typeface="Aptos"/>
                <a:ea typeface="+mn-lt"/>
                <a:cs typeface="+mn-lt"/>
              </a:rPr>
              <a:t>search functionality</a:t>
            </a: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 on the Jobs page to retrieve and display data dynamically from the database based on user input</a:t>
            </a:r>
            <a:endParaRPr lang="en-US">
              <a:latin typeface="Aptos"/>
            </a:endParaRPr>
          </a:p>
          <a:p>
            <a:pPr>
              <a:buFont typeface="Arial"/>
              <a:buChar char="•"/>
            </a:pPr>
            <a:endParaRPr lang="en-US" sz="1050">
              <a:solidFill>
                <a:srgbClr val="333333"/>
              </a:solidFill>
              <a:ea typeface="Calibri"/>
              <a:cs typeface="Calibri"/>
            </a:endParaRPr>
          </a:p>
          <a:p>
            <a:pPr marL="342900" indent="-342900">
              <a:spcAft>
                <a:spcPts val="700"/>
              </a:spcAft>
              <a:buSzPct val="100000"/>
              <a:buFont typeface="Arial"/>
              <a:buChar char="•"/>
            </a:pPr>
            <a:endParaRPr lang="en-US" sz="1050">
              <a:solidFill>
                <a:srgbClr val="333333"/>
              </a:solidFill>
              <a:ea typeface="Calibri"/>
              <a:cs typeface="Calibri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3DA721B-B241-C112-B520-A9604D727926}"/>
              </a:ext>
            </a:extLst>
          </p:cNvPr>
          <p:cNvSpPr/>
          <p:nvPr/>
        </p:nvSpPr>
        <p:spPr>
          <a:xfrm>
            <a:off x="6199632" y="1143000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53100BB-503D-C117-5731-EEA08D25CFBD}"/>
              </a:ext>
            </a:extLst>
          </p:cNvPr>
          <p:cNvSpPr/>
          <p:nvPr/>
        </p:nvSpPr>
        <p:spPr>
          <a:xfrm>
            <a:off x="6199632" y="1143000"/>
            <a:ext cx="27432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8792DE0-CCD9-7850-4E87-CD0CA72EF189}"/>
              </a:ext>
            </a:extLst>
          </p:cNvPr>
          <p:cNvSpPr/>
          <p:nvPr/>
        </p:nvSpPr>
        <p:spPr>
          <a:xfrm>
            <a:off x="6199632" y="1143000"/>
            <a:ext cx="274320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77F6ECA-0EAB-E6FA-3D2F-808C09317A17}"/>
              </a:ext>
            </a:extLst>
          </p:cNvPr>
          <p:cNvSpPr/>
          <p:nvPr/>
        </p:nvSpPr>
        <p:spPr>
          <a:xfrm>
            <a:off x="6309360" y="11795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FFFFFF"/>
                </a:solidFill>
                <a:ea typeface="+mn-lt"/>
                <a:cs typeface="+mn-lt"/>
              </a:rPr>
              <a:t>Presentation Development &amp; Delivery</a:t>
            </a:r>
            <a:endParaRPr lang="en-US" b="1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0AED3A3-BA64-5297-013F-34851BF6FBFC}"/>
              </a:ext>
            </a:extLst>
          </p:cNvPr>
          <p:cNvSpPr/>
          <p:nvPr/>
        </p:nvSpPr>
        <p:spPr>
          <a:xfrm>
            <a:off x="6309360" y="1664208"/>
            <a:ext cx="2523744" cy="3017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>
              <a:buSzPct val="100000"/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Developed presentation layout, structure, and visual design, including </a:t>
            </a:r>
            <a:r>
              <a:rPr lang="en-US" sz="1050" err="1">
                <a:solidFill>
                  <a:srgbClr val="333333"/>
                </a:solidFill>
                <a:latin typeface="Aptos"/>
                <a:ea typeface="+mn-lt"/>
                <a:cs typeface="+mn-lt"/>
              </a:rPr>
              <a:t>colour</a:t>
            </a: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 palette selection </a:t>
            </a:r>
            <a:endParaRPr lang="en-US" sz="105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Created presentation script and speaking notes for delivery </a:t>
            </a:r>
            <a:endParaRPr lang="en-US">
              <a:latin typeface="Aptos"/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Assisted with timing structure and pacing for each slide section </a:t>
            </a:r>
            <a:endParaRPr lang="en-US">
              <a:latin typeface="Aptos"/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Developed a mind map to plan and </a:t>
            </a:r>
            <a:r>
              <a:rPr lang="en-US" sz="1050" err="1">
                <a:solidFill>
                  <a:srgbClr val="333333"/>
                </a:solidFill>
                <a:latin typeface="Aptos"/>
                <a:ea typeface="+mn-lt"/>
                <a:cs typeface="+mn-lt"/>
              </a:rPr>
              <a:t>organise</a:t>
            </a: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 key presentation content </a:t>
            </a:r>
            <a:endParaRPr lang="en-US">
              <a:latin typeface="Aptos"/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Delivered personal section of the presentation explaining technical implementation and contributions </a:t>
            </a:r>
            <a:endParaRPr lang="en-US">
              <a:latin typeface="Aptos"/>
            </a:endParaRP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333333"/>
                </a:solidFill>
                <a:latin typeface="Aptos"/>
                <a:ea typeface="+mn-lt"/>
                <a:cs typeface="+mn-lt"/>
              </a:rPr>
              <a:t>Coordinated presentation visuals and ensured consistency between slides and website implementation</a:t>
            </a:r>
            <a:endParaRPr lang="en-US">
              <a:latin typeface="Aptos"/>
            </a:endParaRPr>
          </a:p>
          <a:p>
            <a:pPr marL="171450" indent="-171450">
              <a:spcAft>
                <a:spcPts val="700"/>
              </a:spcAft>
              <a:buSzPct val="100000"/>
              <a:buFont typeface="Arial"/>
              <a:buChar char="•"/>
            </a:pPr>
            <a:endParaRPr lang="en-US" sz="1050">
              <a:solidFill>
                <a:srgbClr val="333333"/>
              </a:solidFill>
              <a:latin typeface="Apto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5635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 flows — watch what happens step by step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160520" cy="3931920"/>
          </a:xfrm>
          <a:prstGeom prst="rect">
            <a:avLst/>
          </a:prstGeom>
          <a:solidFill>
            <a:srgbClr val="243656"/>
          </a:solidFill>
          <a:ln w="2286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84048" y="115214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1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384048" y="13533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Page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384048" y="1700784"/>
            <a:ext cx="3794760" cy="0"/>
          </a:xfrm>
          <a:prstGeom prst="line">
            <a:avLst/>
          </a:prstGeom>
          <a:noFill/>
          <a:ln w="7620">
            <a:solidFill>
              <a:srgbClr val="F5C51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384048" y="1810512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84048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731520" y="1810512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Jobs page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731520" y="2020824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listings load dynamically from the MySQL jobs table via PHP — no hardcoded HTML.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384048" y="2468880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384048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731520" y="246888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the search bar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731520" y="2679192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jobs in real time by keyword — results update instantly from a live DB query.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384048" y="3127248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384048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731520" y="3127248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highest salary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731520" y="3337560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salary sort option — SQL ORDER BY re-ranks listings from highest to lowest.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384048" y="3785616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384048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731520" y="3785616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job listing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731520" y="3995928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job details render from individual DB fields — title, description, salary, ref number.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4782312" y="987552"/>
            <a:ext cx="4160520" cy="3931920"/>
          </a:xfrm>
          <a:prstGeom prst="rect">
            <a:avLst/>
          </a:prstGeom>
          <a:solidFill>
            <a:srgbClr val="243656"/>
          </a:solidFill>
          <a:ln w="2286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965192" y="115214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2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4965192" y="13533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Page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4965192" y="1700784"/>
            <a:ext cx="3794760" cy="0"/>
          </a:xfrm>
          <a:prstGeom prst="line">
            <a:avLst/>
          </a:prstGeom>
          <a:noFill/>
          <a:ln w="7620">
            <a:solidFill>
              <a:srgbClr val="F5C51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4965192" y="1810512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4965192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5312664" y="1810512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application form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5312664" y="2020824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validated server-side in PHP — client-side HTML validation is disabled.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4965192" y="2468880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4965192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5312664" y="246888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resume (PDF/DOC)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5312664" y="2679192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 and size checked server-side; saved to uploads/resumes/ with a unique filename.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4965192" y="3127248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4965192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5312664" y="3127248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— data hits the DB</a:t>
            </a:r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5312664" y="3337560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insert the EOI record safely — SQL injection is impossible.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4965192" y="3785616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4965192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5312664" y="3785616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page with EOI number</a:t>
            </a:r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5312664" y="3995928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EOI reference number displayed — confirms the record was saved.</a:t>
            </a:r>
            <a:endParaRPr lang="en-US" sz="950"/>
          </a:p>
        </p:txBody>
      </p:sp>
    </p:spTree>
    <p:extLst>
      <p:ext uri="{BB962C8B-B14F-4D97-AF65-F5344CB8AC3E}">
        <p14:creationId xmlns:p14="http://schemas.microsoft.com/office/powerpoint/2010/main" val="3083648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06908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B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93192" y="822960"/>
            <a:ext cx="384048" cy="2926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93192" y="8229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914400" y="822960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Config &amp; PHP Integration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393192" y="1280160"/>
            <a:ext cx="37398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settings.php to centralise database credentials (host, username, DB name) and reused it across every page — learning how a single config file creates consistent, maintainable connectivity.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846320" y="658368"/>
            <a:ext cx="406908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B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5010912" y="822960"/>
            <a:ext cx="384048" cy="2926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010912" y="8229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5532120" y="822960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Content &amp; Search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5010912" y="1280160"/>
            <a:ext cx="37398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Developed a Jobs table matching Project 1's structure, rendered listings dynamically with PHP, and added search filtering — including sorting by salary — pulling everything live from the database.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8600" y="2788920"/>
            <a:ext cx="406908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B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393192" y="2953512"/>
            <a:ext cx="384048" cy="2926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393192" y="295351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914400" y="2953512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&amp; Front-End Polish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393192" y="3410712"/>
            <a:ext cx="37398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write maintainable code through detailed comments, logical folder structure, consistent CSS, meta tags for SEO/accessibility, and implementing file upload on the Apply page.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846320" y="2788920"/>
            <a:ext cx="4069080" cy="1993392"/>
          </a:xfrm>
          <a:prstGeom prst="rect">
            <a:avLst/>
          </a:prstGeom>
          <a:solidFill>
            <a:srgbClr val="1B2A4A"/>
          </a:solidFill>
          <a:ln w="31750">
            <a:solidFill>
              <a:srgbClr val="F5C51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5010912" y="2953512"/>
            <a:ext cx="384048" cy="2926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5010912" y="295351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5532120" y="2953512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Communication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5010912" y="3410712"/>
            <a:ext cx="37398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slide layout and colour palette, wrote the script and speaker notes, built a mind map for planning, and delivered my section live — bridging technical work with clear communication.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502971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22548"/>
          </a:solidFill>
          <a:ln w="12700">
            <a:solidFill>
              <a:srgbClr val="1225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 Sukhija  |  105533624  |  NextGen Web Works - Group 06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384048" y="1143000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143000"/>
            <a:ext cx="27432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143000"/>
            <a:ext cx="274320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1795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process_eoi.php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93776" y="1664208"/>
            <a:ext cx="252374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 for all form fields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check (15–80) &amp; postcode/state matching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- SQL injection protection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Auto-creates EOI table if it doesn't exist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143000"/>
            <a:ext cx="27432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143000"/>
            <a:ext cx="274320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1795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manage.php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3401568" y="1664208"/>
            <a:ext cx="252374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dashboard - list all EOI applications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job reference or applicant name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EOI status &amp; delete by job reference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columns - click header to sort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6199632" y="1143000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1143000"/>
            <a:ext cx="27432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1143000"/>
            <a:ext cx="274320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1795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login.php / logout.php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309360" y="1664208"/>
            <a:ext cx="252374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password_hash &amp; password_verify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access control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to login if not authenticated</a:t>
            </a:r>
            <a:endParaRPr lang="en-US" sz="105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session destroy on logout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4033164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E575F-5A69-F916-314D-35A6E8EF6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D1C4B6-60C6-515A-2DE4-9BBA6DCFE57D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22548"/>
          </a:solidFill>
          <a:ln w="12700">
            <a:solidFill>
              <a:srgbClr val="12254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A0668EE-AE08-33C2-B4B5-E768D7AAEB0B}"/>
              </a:ext>
            </a:extLst>
          </p:cNvPr>
          <p:cNvSpPr/>
          <p:nvPr/>
        </p:nvSpPr>
        <p:spPr>
          <a:xfrm>
            <a:off x="201168" y="0"/>
            <a:ext cx="9144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1E89D1-636E-C57D-2D98-0B57DC574690}"/>
              </a:ext>
            </a:extLst>
          </p:cNvPr>
          <p:cNvSpPr/>
          <p:nvPr/>
        </p:nvSpPr>
        <p:spPr>
          <a:xfrm>
            <a:off x="50292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DC6B2F-7282-07B1-A55B-0C230BC70937}"/>
              </a:ext>
            </a:extLst>
          </p:cNvPr>
          <p:cNvSpPr/>
          <p:nvPr/>
        </p:nvSpPr>
        <p:spPr>
          <a:xfrm>
            <a:off x="50292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 flows - watch what happens step by step</a:t>
            </a:r>
            <a:endParaRPr lang="en-US"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1F53FED-DB63-344C-8D3C-52976488219A}"/>
              </a:ext>
            </a:extLst>
          </p:cNvPr>
          <p:cNvSpPr/>
          <p:nvPr/>
        </p:nvSpPr>
        <p:spPr>
          <a:xfrm>
            <a:off x="384048" y="1261872"/>
            <a:ext cx="4023360" cy="3566160"/>
          </a:xfrm>
          <a:prstGeom prst="rect">
            <a:avLst/>
          </a:prstGeom>
          <a:solidFill>
            <a:srgbClr val="122548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7F511A4-B62A-B056-213D-D4F5B50C2132}"/>
              </a:ext>
            </a:extLst>
          </p:cNvPr>
          <p:cNvSpPr/>
          <p:nvPr/>
        </p:nvSpPr>
        <p:spPr>
          <a:xfrm>
            <a:off x="530352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1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88F900A-8B83-CD30-26F3-F9C3550A0BC5}"/>
              </a:ext>
            </a:extLst>
          </p:cNvPr>
          <p:cNvSpPr/>
          <p:nvPr/>
        </p:nvSpPr>
        <p:spPr>
          <a:xfrm>
            <a:off x="530352" y="15910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Submits an EOI</a:t>
            </a:r>
            <a:endParaRPr lang="en-US" sz="1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B13596-C8A8-4BD1-90A5-3734A651440B}"/>
              </a:ext>
            </a:extLst>
          </p:cNvPr>
          <p:cNvSpPr/>
          <p:nvPr/>
        </p:nvSpPr>
        <p:spPr>
          <a:xfrm>
            <a:off x="530352" y="2029968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apply.php - fill in job reference, name, DOB</a:t>
            </a:r>
            <a:endParaRPr lang="en-US" sz="11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with wrong data - see validation errors fire</a:t>
            </a:r>
            <a:endParaRPr lang="en-US" sz="11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errors and resubmit - EOI reference number generated</a:t>
            </a:r>
            <a:endParaRPr lang="en-US" sz="11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manage.php - new record appears instantly</a:t>
            </a:r>
            <a:endParaRPr lang="en-US" sz="11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018285F-24CD-8DBF-A074-056F7A1FE31A}"/>
              </a:ext>
            </a:extLst>
          </p:cNvPr>
          <p:cNvSpPr/>
          <p:nvPr/>
        </p:nvSpPr>
        <p:spPr>
          <a:xfrm>
            <a:off x="4736592" y="1261872"/>
            <a:ext cx="4023360" cy="3566160"/>
          </a:xfrm>
          <a:prstGeom prst="rect">
            <a:avLst/>
          </a:prstGeom>
          <a:solidFill>
            <a:srgbClr val="122548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F0C04A0-BBE1-3287-8CF1-621D285AF68B}"/>
              </a:ext>
            </a:extLst>
          </p:cNvPr>
          <p:cNvSpPr/>
          <p:nvPr/>
        </p:nvSpPr>
        <p:spPr>
          <a:xfrm>
            <a:off x="4882896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2</a:t>
            </a:r>
            <a:endParaRPr lang="en-US" sz="9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D51E665-B55B-220C-BED6-C61A8941EC3B}"/>
              </a:ext>
            </a:extLst>
          </p:cNvPr>
          <p:cNvSpPr/>
          <p:nvPr/>
        </p:nvSpPr>
        <p:spPr>
          <a:xfrm>
            <a:off x="4882896" y="15910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Manages Applications</a:t>
            </a:r>
            <a:endParaRPr lang="en-US" sz="15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EE7CF80-C777-8DAA-FC03-838AFFAE39B1}"/>
              </a:ext>
            </a:extLst>
          </p:cNvPr>
          <p:cNvSpPr/>
          <p:nvPr/>
        </p:nvSpPr>
        <p:spPr>
          <a:xfrm>
            <a:off x="4882896" y="2029968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login.php - log in with admin / admin</a:t>
            </a:r>
            <a:endParaRPr lang="en-US" sz="11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loads - all EOIs listed in a table</a:t>
            </a:r>
            <a:endParaRPr lang="en-US" sz="11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applicant name - table filters live</a:t>
            </a:r>
            <a:endParaRPr lang="en-US" sz="11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status from New to Current - updates instantly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557066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22548"/>
          </a:solidFill>
          <a:ln w="12700">
            <a:solidFill>
              <a:srgbClr val="1225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 Learned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502920" y="731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Project 2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384048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271016"/>
            <a:ext cx="365760" cy="3657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2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950976" y="127101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521208" y="17099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validation can be bypassed by disabling HTML attributes. Real security only happens on the server - validating every field with PHP before touching the database.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271016"/>
            <a:ext cx="365760" cy="3657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2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230368" y="127101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800600" y="17099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mysqli_prepare() and bind_param() separates SQL from data, making SQL injection impossible - much safer than escaping strings manually.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384048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" y="3145536"/>
            <a:ext cx="365760" cy="3657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2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950976" y="31455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521208" y="358444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plain text passwords is a critical vulnerability. password_hash() uses bcrypt one-way hashing. password_verify() checks it without ever decrypting.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114800" cy="1691640"/>
          </a:xfrm>
          <a:prstGeom prst="rect">
            <a:avLst/>
          </a:prstGeom>
          <a:solidFill>
            <a:srgbClr val="1B3A6B"/>
          </a:solidFill>
          <a:ln w="19050">
            <a:solidFill>
              <a:srgbClr val="F5C51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3145536"/>
            <a:ext cx="365760" cy="3657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2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5230368" y="31455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I'd Improve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4800600" y="358444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add email notifications to applicants when their EOI status changes - a real-world feature that would make the HR dashboard much more practical.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367160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292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182880"/>
            <a:ext cx="4754880" cy="475488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303520" y="457200"/>
            <a:ext cx="4206240" cy="4206240"/>
          </a:xfrm>
          <a:prstGeom prst="ellipse">
            <a:avLst/>
          </a:prstGeom>
          <a:solidFill>
            <a:srgbClr val="D4A800">
              <a:alpha val="60000"/>
            </a:srgbClr>
          </a:solidFill>
          <a:ln w="12700">
            <a:solidFill>
              <a:srgbClr val="D4A8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6035040" y="1188720"/>
            <a:ext cx="2743200" cy="2743200"/>
          </a:xfrm>
          <a:prstGeom prst="ellipse">
            <a:avLst/>
          </a:prstGeom>
          <a:solidFill>
            <a:srgbClr val="1B3A6B">
              <a:alpha val="80000"/>
            </a:srgbClr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46304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2834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r>
              <a:rPr lang="en-US" sz="2800" b="1">
                <a:solidFill>
                  <a:srgbClr val="12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2800"/>
          </a:p>
        </p:txBody>
      </p:sp>
      <p:sp>
        <p:nvSpPr>
          <p:cNvPr id="7" name="Text 4"/>
          <p:cNvSpPr/>
          <p:nvPr/>
        </p:nvSpPr>
        <p:spPr>
          <a:xfrm>
            <a:off x="6035040" y="33649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>
                <a:solidFill>
                  <a:srgbClr val="12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WORKS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457200" y="457200"/>
            <a:ext cx="5029200" cy="2011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4000" b="1">
                <a:solidFill>
                  <a:srgbClr val="FFFFFF"/>
                </a:solidFill>
                <a:ea typeface="Calibri"/>
                <a:cs typeface="Calibri"/>
              </a:rPr>
              <a:t>THANK YOU</a:t>
            </a:r>
          </a:p>
        </p:txBody>
      </p:sp>
      <p:sp>
        <p:nvSpPr>
          <p:cNvPr id="9" name="Text 6"/>
          <p:cNvSpPr/>
          <p:nvPr/>
        </p:nvSpPr>
        <p:spPr>
          <a:xfrm>
            <a:off x="45720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8C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digital presence?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457200" y="3063240"/>
            <a:ext cx="2926080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457200" y="3063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 Today →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457200" y="37307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C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info@nextgenwebworks.com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457200" y="40233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C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nextgenwebworks.com.au</a:t>
            </a:r>
            <a:endParaRPr lang="en-US" sz="1200"/>
          </a:p>
        </p:txBody>
      </p:sp>
      <p:sp>
        <p:nvSpPr>
          <p:cNvPr id="14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A35"/>
          </a:solidFill>
          <a:ln w="12700">
            <a:solidFill>
              <a:srgbClr val="0A1A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C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NextGen Web Works — G06 Creative Media &amp; Design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NextGen Web Works</dc:title>
  <dc:subject>PptxGenJS Presentation</dc:subject>
  <dc:creator>NextGen Web Works</dc:creator>
  <cp:revision>8</cp:revision>
  <dcterms:created xsi:type="dcterms:W3CDTF">2026-05-28T14:36:23Z</dcterms:created>
  <dcterms:modified xsi:type="dcterms:W3CDTF">2026-06-01T10:59:59Z</dcterms:modified>
</cp:coreProperties>
</file>