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67" r:id="rId14"/>
    <p:sldId id="268" r:id="rId15"/>
    <p:sldId id="269" r:id="rId16"/>
    <p:sldId id="270"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0" d="100"/>
          <a:sy n="100" d="100"/>
        </p:scale>
        <p:origin x="30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AU" sz="1800" b="0" i="0" u="none" strike="noStrike">
                <a:solidFill>
                  <a:srgbClr val="000000"/>
                </a:solidFill>
                <a:latin typeface="Arial"/>
              </a:rPr>
              <a:t>Growth Since Campaign Launch</a:t>
            </a:r>
          </a:p>
        </c:rich>
      </c:tx>
      <c:overlay val="0"/>
    </c:title>
    <c:autoTitleDeleted val="0"/>
    <c:plotArea>
      <c:layout/>
      <c:lineChart>
        <c:grouping val="standard"/>
        <c:varyColors val="0"/>
        <c:ser>
          <c:idx val="0"/>
          <c:order val="0"/>
          <c:tx>
            <c:strRef>
              <c:f>Sheet1!$B$1</c:f>
              <c:strCache>
                <c:ptCount val="1"/>
                <c:pt idx="0">
                  <c:v>Organic Traffic</c:v>
                </c:pt>
              </c:strCache>
            </c:strRef>
          </c:tx>
          <c:spPr>
            <a:ln w="38100" cap="flat">
              <a:solidFill>
                <a:srgbClr val="1B3A6B"/>
              </a:solidFill>
              <a:prstDash val="solid"/>
              <a:round/>
            </a:ln>
            <a:effectLst/>
          </c:spPr>
          <c:marker>
            <c:symbol val="circle"/>
            <c:size val="6"/>
            <c:spPr>
              <a:solidFill>
                <a:srgbClr val="1B3A6B"/>
              </a:solidFill>
              <a:ln w="9525" cap="flat">
                <a:solidFill>
                  <a:srgbClr val="1B3A6B"/>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1200</c:v>
                </c:pt>
                <c:pt idx="1">
                  <c:v>1800</c:v>
                </c:pt>
                <c:pt idx="2">
                  <c:v>2400</c:v>
                </c:pt>
                <c:pt idx="3">
                  <c:v>3100</c:v>
                </c:pt>
                <c:pt idx="4">
                  <c:v>4200</c:v>
                </c:pt>
                <c:pt idx="5">
                  <c:v>5800</c:v>
                </c:pt>
              </c:numCache>
            </c:numRef>
          </c:val>
          <c:smooth val="1"/>
          <c:extLst>
            <c:ext xmlns:c16="http://schemas.microsoft.com/office/drawing/2014/chart" uri="{C3380CC4-5D6E-409C-BE32-E72D297353CC}">
              <c16:uniqueId val="{00000000-9778-435D-B1A5-8B40A1FDB0DA}"/>
            </c:ext>
          </c:extLst>
        </c:ser>
        <c:ser>
          <c:idx val="1"/>
          <c:order val="1"/>
          <c:tx>
            <c:strRef>
              <c:f>Sheet1!$C$1</c:f>
              <c:strCache>
                <c:ptCount val="1"/>
                <c:pt idx="0">
                  <c:v>Conversions</c:v>
                </c:pt>
              </c:strCache>
            </c:strRef>
          </c:tx>
          <c:spPr>
            <a:ln w="38100" cap="flat">
              <a:solidFill>
                <a:srgbClr val="F5C518"/>
              </a:solidFill>
              <a:prstDash val="solid"/>
              <a:round/>
            </a:ln>
            <a:effectLst/>
          </c:spPr>
          <c:marker>
            <c:symbol val="circle"/>
            <c:size val="6"/>
            <c:spPr>
              <a:solidFill>
                <a:srgbClr val="F5C518"/>
              </a:solidFill>
              <a:ln w="9525" cap="flat">
                <a:solidFill>
                  <a:srgbClr val="F5C518"/>
                </a:solidFill>
                <a:prstDash val="solid"/>
                <a:round/>
              </a:ln>
              <a:effectLst/>
            </c:spPr>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45</c:v>
                </c:pt>
                <c:pt idx="1">
                  <c:v>72</c:v>
                </c:pt>
                <c:pt idx="2">
                  <c:v>95</c:v>
                </c:pt>
                <c:pt idx="3">
                  <c:v>130</c:v>
                </c:pt>
                <c:pt idx="4">
                  <c:v>175</c:v>
                </c:pt>
                <c:pt idx="5">
                  <c:v>240</c:v>
                </c:pt>
              </c:numCache>
            </c:numRef>
          </c:val>
          <c:smooth val="1"/>
          <c:extLst>
            <c:ext xmlns:c16="http://schemas.microsoft.com/office/drawing/2014/chart" uri="{C3380CC4-5D6E-409C-BE32-E72D297353CC}">
              <c16:uniqueId val="{00000001-9778-435D-B1A5-8B40A1FDB0D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7320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chart" Target="../charts/chart1.xml"/><Relationship Id="rId7"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48"/>
        </a:solidFill>
        <a:effectLst/>
      </p:bgPr>
    </p:bg>
    <p:spTree>
      <p:nvGrpSpPr>
        <p:cNvPr id="1" name=""/>
        <p:cNvGrpSpPr/>
        <p:nvPr/>
      </p:nvGrpSpPr>
      <p:grpSpPr>
        <a:xfrm>
          <a:off x="0" y="0"/>
          <a:ext cx="0" cy="0"/>
          <a:chOff x="0" y="0"/>
          <a:chExt cx="0" cy="0"/>
        </a:xfrm>
      </p:grpSpPr>
      <p:sp>
        <p:nvSpPr>
          <p:cNvPr id="2" name="Shape 0"/>
          <p:cNvSpPr/>
          <p:nvPr/>
        </p:nvSpPr>
        <p:spPr>
          <a:xfrm>
            <a:off x="5943600" y="0"/>
            <a:ext cx="3200400" cy="2011680"/>
          </a:xfrm>
          <a:prstGeom prst="rect">
            <a:avLst/>
          </a:prstGeom>
          <a:solidFill>
            <a:srgbClr val="F5C518"/>
          </a:solidFill>
          <a:ln w="12700">
            <a:solidFill>
              <a:srgbClr val="F5C518"/>
            </a:solidFill>
            <a:prstDash val="solid"/>
          </a:ln>
        </p:spPr>
        <p:txBody>
          <a:bodyPr/>
          <a:lstStyle/>
          <a:p>
            <a:endParaRPr lang="en-AU"/>
          </a:p>
        </p:txBody>
      </p:sp>
      <p:sp>
        <p:nvSpPr>
          <p:cNvPr id="3" name="Shape 1"/>
          <p:cNvSpPr/>
          <p:nvPr/>
        </p:nvSpPr>
        <p:spPr>
          <a:xfrm>
            <a:off x="5303520" y="0"/>
            <a:ext cx="822960" cy="2011680"/>
          </a:xfrm>
          <a:prstGeom prst="rect">
            <a:avLst/>
          </a:prstGeom>
          <a:solidFill>
            <a:srgbClr val="8C9DC0">
              <a:alpha val="70000"/>
            </a:srgbClr>
          </a:solidFill>
          <a:ln w="12700">
            <a:solidFill>
              <a:srgbClr val="8C9DC0"/>
            </a:solidFill>
            <a:prstDash val="solid"/>
          </a:ln>
        </p:spPr>
        <p:txBody>
          <a:bodyPr/>
          <a:lstStyle/>
          <a:p>
            <a:endParaRPr lang="en-AU"/>
          </a:p>
        </p:txBody>
      </p:sp>
      <p:sp>
        <p:nvSpPr>
          <p:cNvPr id="4" name="Shape 2"/>
          <p:cNvSpPr/>
          <p:nvPr/>
        </p:nvSpPr>
        <p:spPr>
          <a:xfrm>
            <a:off x="0" y="4754880"/>
            <a:ext cx="9144000" cy="388620"/>
          </a:xfrm>
          <a:prstGeom prst="rect">
            <a:avLst/>
          </a:prstGeom>
          <a:solidFill>
            <a:srgbClr val="F5C518"/>
          </a:solidFill>
          <a:ln w="12700">
            <a:solidFill>
              <a:srgbClr val="F5C518"/>
            </a:solidFill>
            <a:prstDash val="solid"/>
          </a:ln>
        </p:spPr>
        <p:txBody>
          <a:bodyPr/>
          <a:lstStyle/>
          <a:p>
            <a:endParaRPr lang="en-AU"/>
          </a:p>
        </p:txBody>
      </p:sp>
      <p:sp>
        <p:nvSpPr>
          <p:cNvPr id="5" name="Shape 3"/>
          <p:cNvSpPr/>
          <p:nvPr/>
        </p:nvSpPr>
        <p:spPr>
          <a:xfrm>
            <a:off x="0" y="4572000"/>
            <a:ext cx="9144000" cy="201168"/>
          </a:xfrm>
          <a:prstGeom prst="rect">
            <a:avLst/>
          </a:prstGeom>
          <a:solidFill>
            <a:srgbClr val="8C9DC0">
              <a:alpha val="60000"/>
            </a:srgbClr>
          </a:solidFill>
          <a:ln w="12700">
            <a:solidFill>
              <a:srgbClr val="8C9DC0"/>
            </a:solidFill>
            <a:prstDash val="solid"/>
          </a:ln>
        </p:spPr>
        <p:txBody>
          <a:bodyPr/>
          <a:lstStyle/>
          <a:p>
            <a:endParaRPr lang="en-AU"/>
          </a:p>
        </p:txBody>
      </p:sp>
      <p:sp>
        <p:nvSpPr>
          <p:cNvPr id="6" name="Shape 4"/>
          <p:cNvSpPr/>
          <p:nvPr/>
        </p:nvSpPr>
        <p:spPr>
          <a:xfrm>
            <a:off x="594360" y="1280160"/>
            <a:ext cx="286756" cy="1152144"/>
          </a:xfrm>
          <a:prstGeom prst="rect">
            <a:avLst/>
          </a:prstGeom>
          <a:solidFill>
            <a:srgbClr val="1B3A6B"/>
          </a:solidFill>
          <a:ln w="12700">
            <a:solidFill>
              <a:srgbClr val="1B3A6B"/>
            </a:solidFill>
            <a:prstDash val="solid"/>
          </a:ln>
        </p:spPr>
        <p:txBody>
          <a:bodyPr/>
          <a:lstStyle/>
          <a:p>
            <a:endParaRPr lang="en-AU"/>
          </a:p>
        </p:txBody>
      </p:sp>
      <p:sp>
        <p:nvSpPr>
          <p:cNvPr id="7" name="Shape 5"/>
          <p:cNvSpPr/>
          <p:nvPr/>
        </p:nvSpPr>
        <p:spPr>
          <a:xfrm>
            <a:off x="666049" y="1280160"/>
            <a:ext cx="492862" cy="1152144"/>
          </a:xfrm>
          <a:prstGeom prst="rect">
            <a:avLst/>
          </a:prstGeom>
          <a:solidFill>
            <a:srgbClr val="F5C518"/>
          </a:solidFill>
          <a:ln w="12700">
            <a:solidFill>
              <a:srgbClr val="F5C518"/>
            </a:solidFill>
            <a:prstDash val="solid"/>
          </a:ln>
        </p:spPr>
        <p:txBody>
          <a:bodyPr/>
          <a:lstStyle/>
          <a:p>
            <a:endParaRPr lang="en-AU"/>
          </a:p>
        </p:txBody>
      </p:sp>
      <p:sp>
        <p:nvSpPr>
          <p:cNvPr id="8" name="Shape 6"/>
          <p:cNvSpPr/>
          <p:nvPr/>
        </p:nvSpPr>
        <p:spPr>
          <a:xfrm>
            <a:off x="1203716" y="1280160"/>
            <a:ext cx="286756" cy="1152144"/>
          </a:xfrm>
          <a:prstGeom prst="rect">
            <a:avLst/>
          </a:prstGeom>
          <a:solidFill>
            <a:srgbClr val="B07C3E"/>
          </a:solidFill>
          <a:ln w="12700">
            <a:solidFill>
              <a:srgbClr val="B07C3E"/>
            </a:solidFill>
            <a:prstDash val="solid"/>
          </a:ln>
        </p:spPr>
        <p:txBody>
          <a:bodyPr/>
          <a:lstStyle/>
          <a:p>
            <a:endParaRPr lang="en-AU"/>
          </a:p>
        </p:txBody>
      </p:sp>
      <p:sp>
        <p:nvSpPr>
          <p:cNvPr id="9" name="Text 7"/>
          <p:cNvSpPr/>
          <p:nvPr/>
        </p:nvSpPr>
        <p:spPr>
          <a:xfrm>
            <a:off x="1691640" y="1325880"/>
            <a:ext cx="3657600" cy="658368"/>
          </a:xfrm>
          <a:prstGeom prst="rect">
            <a:avLst/>
          </a:prstGeom>
          <a:noFill/>
          <a:ln/>
        </p:spPr>
        <p:txBody>
          <a:bodyPr wrap="square"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Next</a:t>
            </a:r>
            <a:r>
              <a:rPr lang="en-US" sz="4400" b="1" dirty="0">
                <a:solidFill>
                  <a:srgbClr val="F5C518"/>
                </a:solidFill>
                <a:latin typeface="Calibri" pitchFamily="34" charset="0"/>
                <a:ea typeface="Calibri" pitchFamily="34" charset="-122"/>
                <a:cs typeface="Calibri" pitchFamily="34" charset="-120"/>
              </a:rPr>
              <a:t>Gen</a:t>
            </a:r>
            <a:endParaRPr lang="en-US" sz="4400" dirty="0"/>
          </a:p>
        </p:txBody>
      </p:sp>
      <p:sp>
        <p:nvSpPr>
          <p:cNvPr id="10" name="Text 8"/>
          <p:cNvSpPr/>
          <p:nvPr/>
        </p:nvSpPr>
        <p:spPr>
          <a:xfrm>
            <a:off x="1691640" y="1965960"/>
            <a:ext cx="3657600" cy="365760"/>
          </a:xfrm>
          <a:prstGeom prst="rect">
            <a:avLst/>
          </a:prstGeom>
          <a:noFill/>
          <a:ln/>
        </p:spPr>
        <p:txBody>
          <a:bodyPr wrap="square" lIns="0" tIns="0" rIns="0" bIns="0" rtlCol="0" anchor="ctr"/>
          <a:lstStyle/>
          <a:p>
            <a:pPr marL="0" indent="0">
              <a:buNone/>
            </a:pPr>
            <a:r>
              <a:rPr lang="en-US" sz="1800" kern="0" spc="500" dirty="0">
                <a:solidFill>
                  <a:srgbClr val="8C9DC0"/>
                </a:solidFill>
                <a:latin typeface="Calibri" pitchFamily="34" charset="0"/>
                <a:ea typeface="Calibri" pitchFamily="34" charset="-122"/>
                <a:cs typeface="Calibri" pitchFamily="34" charset="-120"/>
              </a:rPr>
              <a:t>WEB WORKS</a:t>
            </a:r>
            <a:endParaRPr lang="en-US" sz="1800" dirty="0"/>
          </a:p>
        </p:txBody>
      </p:sp>
      <p:sp>
        <p:nvSpPr>
          <p:cNvPr id="11" name="Text 9"/>
          <p:cNvSpPr/>
          <p:nvPr/>
        </p:nvSpPr>
        <p:spPr>
          <a:xfrm>
            <a:off x="594360" y="2788920"/>
            <a:ext cx="5943600" cy="411480"/>
          </a:xfrm>
          <a:prstGeom prst="rect">
            <a:avLst/>
          </a:prstGeom>
          <a:noFill/>
          <a:ln/>
        </p:spPr>
        <p:txBody>
          <a:bodyPr wrap="square" rtlCol="0" anchor="ctr"/>
          <a:lstStyle/>
          <a:p>
            <a:pPr marL="0" indent="0">
              <a:buNone/>
            </a:pPr>
            <a:r>
              <a:rPr lang="en-US" sz="1800" i="1" dirty="0">
                <a:solidFill>
                  <a:srgbClr val="FFFFFF"/>
                </a:solidFill>
                <a:latin typeface="Calibri" pitchFamily="34" charset="0"/>
                <a:ea typeface="Calibri" pitchFamily="34" charset="-122"/>
                <a:cs typeface="Calibri" pitchFamily="34" charset="-120"/>
              </a:rPr>
              <a:t>Designing the Digital Future, Today</a:t>
            </a:r>
            <a:endParaRPr lang="en-US" sz="1800" dirty="0"/>
          </a:p>
        </p:txBody>
      </p:sp>
      <p:sp>
        <p:nvSpPr>
          <p:cNvPr id="12" name="Text 10"/>
          <p:cNvSpPr/>
          <p:nvPr/>
        </p:nvSpPr>
        <p:spPr>
          <a:xfrm>
            <a:off x="594360" y="3251200"/>
            <a:ext cx="5486400" cy="320040"/>
          </a:xfrm>
          <a:prstGeom prst="rect">
            <a:avLst/>
          </a:prstGeom>
          <a:noFill/>
          <a:ln/>
        </p:spPr>
        <p:txBody>
          <a:bodyPr wrap="square" rtlCol="0" anchor="ctr"/>
          <a:lstStyle/>
          <a:p>
            <a:pPr marL="0" indent="0">
              <a:buNone/>
            </a:pPr>
            <a:r>
              <a:rPr lang="en-US" sz="1200" dirty="0">
                <a:solidFill>
                  <a:srgbClr val="8C9DC0"/>
                </a:solidFill>
                <a:latin typeface="Calibri" pitchFamily="34" charset="0"/>
                <a:ea typeface="Calibri" pitchFamily="34" charset="-122"/>
                <a:cs typeface="Calibri" pitchFamily="34" charset="-120"/>
              </a:rPr>
              <a:t>Company Overview &amp; Services Presentation</a:t>
            </a:r>
            <a:endParaRPr lang="en-US" sz="1200" dirty="0"/>
          </a:p>
        </p:txBody>
      </p:sp>
      <p:sp>
        <p:nvSpPr>
          <p:cNvPr id="13" name="Shape 11"/>
          <p:cNvSpPr/>
          <p:nvPr/>
        </p:nvSpPr>
        <p:spPr>
          <a:xfrm>
            <a:off x="6675120" y="2377440"/>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4" name="Shape 12"/>
          <p:cNvSpPr/>
          <p:nvPr/>
        </p:nvSpPr>
        <p:spPr>
          <a:xfrm>
            <a:off x="6675120" y="2724912"/>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5" name="Shape 13"/>
          <p:cNvSpPr/>
          <p:nvPr/>
        </p:nvSpPr>
        <p:spPr>
          <a:xfrm>
            <a:off x="6675120" y="3072384"/>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6" name="Shape 14"/>
          <p:cNvSpPr/>
          <p:nvPr/>
        </p:nvSpPr>
        <p:spPr>
          <a:xfrm>
            <a:off x="7022592" y="2377440"/>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7" name="Shape 15"/>
          <p:cNvSpPr/>
          <p:nvPr/>
        </p:nvSpPr>
        <p:spPr>
          <a:xfrm>
            <a:off x="7022592" y="2724912"/>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8" name="Shape 16"/>
          <p:cNvSpPr/>
          <p:nvPr/>
        </p:nvSpPr>
        <p:spPr>
          <a:xfrm>
            <a:off x="7022592" y="3072384"/>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19" name="Shape 17"/>
          <p:cNvSpPr/>
          <p:nvPr/>
        </p:nvSpPr>
        <p:spPr>
          <a:xfrm>
            <a:off x="7370064" y="2377440"/>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0" name="Shape 18"/>
          <p:cNvSpPr/>
          <p:nvPr/>
        </p:nvSpPr>
        <p:spPr>
          <a:xfrm>
            <a:off x="7370064" y="2724912"/>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1" name="Shape 19"/>
          <p:cNvSpPr/>
          <p:nvPr/>
        </p:nvSpPr>
        <p:spPr>
          <a:xfrm>
            <a:off x="7370064" y="3072384"/>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2" name="Shape 20"/>
          <p:cNvSpPr/>
          <p:nvPr/>
        </p:nvSpPr>
        <p:spPr>
          <a:xfrm>
            <a:off x="7717536" y="2377440"/>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3" name="Shape 21"/>
          <p:cNvSpPr/>
          <p:nvPr/>
        </p:nvSpPr>
        <p:spPr>
          <a:xfrm>
            <a:off x="7717536" y="2724912"/>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4" name="Shape 22"/>
          <p:cNvSpPr/>
          <p:nvPr/>
        </p:nvSpPr>
        <p:spPr>
          <a:xfrm>
            <a:off x="7717536" y="3072384"/>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5" name="Shape 23"/>
          <p:cNvSpPr/>
          <p:nvPr/>
        </p:nvSpPr>
        <p:spPr>
          <a:xfrm>
            <a:off x="8065008" y="2377440"/>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6" name="Shape 24"/>
          <p:cNvSpPr/>
          <p:nvPr/>
        </p:nvSpPr>
        <p:spPr>
          <a:xfrm>
            <a:off x="8065008" y="2724912"/>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
        <p:nvSpPr>
          <p:cNvPr id="27" name="Shape 25"/>
          <p:cNvSpPr/>
          <p:nvPr/>
        </p:nvSpPr>
        <p:spPr>
          <a:xfrm>
            <a:off x="8065008" y="3072384"/>
            <a:ext cx="109728" cy="109728"/>
          </a:xfrm>
          <a:prstGeom prst="ellipse">
            <a:avLst/>
          </a:prstGeom>
          <a:solidFill>
            <a:srgbClr val="8C9DC0">
              <a:alpha val="50000"/>
            </a:srgbClr>
          </a:solidFill>
          <a:ln w="12700">
            <a:solidFill>
              <a:srgbClr val="8C9DC0"/>
            </a:solidFill>
            <a:prstDash val="solid"/>
          </a:ln>
        </p:spPr>
        <p:txBody>
          <a:bodyPr/>
          <a:lstStyle/>
          <a:p>
            <a:endParaRPr lang="en-AU"/>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2651760" y="0"/>
            <a:ext cx="274320" cy="5143500"/>
          </a:xfrm>
          <a:prstGeom prst="rect">
            <a:avLst/>
          </a:prstGeom>
          <a:solidFill>
            <a:srgbClr val="F5C518"/>
          </a:solidFill>
          <a:ln w="12700">
            <a:solidFill>
              <a:srgbClr val="F5C518"/>
            </a:solidFill>
            <a:prstDash val="solid"/>
          </a:ln>
        </p:spPr>
        <p:txBody>
          <a:bodyPr/>
          <a:lstStyle/>
          <a:p>
            <a:endParaRPr lang="en-AU"/>
          </a:p>
        </p:txBody>
      </p:sp>
      <p:sp>
        <p:nvSpPr>
          <p:cNvPr id="4" name="Text 2"/>
          <p:cNvSpPr/>
          <p:nvPr/>
        </p:nvSpPr>
        <p:spPr>
          <a:xfrm>
            <a:off x="274320" y="1097280"/>
            <a:ext cx="2194560" cy="1280160"/>
          </a:xfrm>
          <a:prstGeom prst="rect">
            <a:avLst/>
          </a:prstGeom>
          <a:noFill/>
          <a:ln/>
        </p:spPr>
        <p:txBody>
          <a:bodyPr wrap="square"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TABLE OF</a:t>
            </a:r>
            <a:endParaRPr lang="en-US" sz="2400" dirty="0"/>
          </a:p>
          <a:p>
            <a:pPr marL="0" indent="0" algn="l">
              <a:buNone/>
            </a:pPr>
            <a:r>
              <a:rPr lang="en-US" sz="2400" b="1" dirty="0">
                <a:solidFill>
                  <a:srgbClr val="FFFFFF"/>
                </a:solidFill>
                <a:latin typeface="Calibri" pitchFamily="34" charset="0"/>
                <a:ea typeface="Calibri" pitchFamily="34" charset="-122"/>
                <a:cs typeface="Calibri" pitchFamily="34" charset="-120"/>
              </a:rPr>
              <a:t>CONTENTS</a:t>
            </a:r>
            <a:endParaRPr lang="en-US" sz="2400" dirty="0"/>
          </a:p>
        </p:txBody>
      </p:sp>
      <p:pic>
        <p:nvPicPr>
          <p:cNvPr id="5" name="Image 0" descr="preencoded.png"/>
          <p:cNvPicPr>
            <a:picLocks noChangeAspect="1"/>
          </p:cNvPicPr>
          <p:nvPr/>
        </p:nvPicPr>
        <p:blipFill>
          <a:blip r:embed="rId3"/>
          <a:stretch>
            <a:fillRect/>
          </a:stretch>
        </p:blipFill>
        <p:spPr>
          <a:xfrm>
            <a:off x="640080" y="3200400"/>
            <a:ext cx="457200" cy="457200"/>
          </a:xfrm>
          <a:prstGeom prst="rect">
            <a:avLst/>
          </a:prstGeom>
        </p:spPr>
      </p:pic>
      <p:sp>
        <p:nvSpPr>
          <p:cNvPr id="6" name="Text 3"/>
          <p:cNvSpPr/>
          <p:nvPr/>
        </p:nvSpPr>
        <p:spPr>
          <a:xfrm>
            <a:off x="1188720" y="3273552"/>
            <a:ext cx="1554480" cy="32004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nextgenwebworks.com</a:t>
            </a:r>
            <a:endParaRPr lang="en-US" sz="1000" dirty="0"/>
          </a:p>
        </p:txBody>
      </p:sp>
      <p:sp>
        <p:nvSpPr>
          <p:cNvPr id="7" name="Shape 4"/>
          <p:cNvSpPr/>
          <p:nvPr/>
        </p:nvSpPr>
        <p:spPr>
          <a:xfrm>
            <a:off x="3200400" y="45720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8" name="Text 5"/>
          <p:cNvSpPr/>
          <p:nvPr/>
        </p:nvSpPr>
        <p:spPr>
          <a:xfrm>
            <a:off x="3310128" y="53035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01</a:t>
            </a:r>
            <a:endParaRPr lang="en-US" sz="2000" dirty="0"/>
          </a:p>
        </p:txBody>
      </p:sp>
      <p:sp>
        <p:nvSpPr>
          <p:cNvPr id="9" name="Text 6"/>
          <p:cNvSpPr/>
          <p:nvPr/>
        </p:nvSpPr>
        <p:spPr>
          <a:xfrm>
            <a:off x="3767328" y="58521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About NextGen Web Works</a:t>
            </a:r>
            <a:endParaRPr lang="en-US" sz="1100" dirty="0"/>
          </a:p>
        </p:txBody>
      </p:sp>
      <p:sp>
        <p:nvSpPr>
          <p:cNvPr id="10" name="Shape 7"/>
          <p:cNvSpPr/>
          <p:nvPr/>
        </p:nvSpPr>
        <p:spPr>
          <a:xfrm>
            <a:off x="3200400" y="128016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11" name="Text 8"/>
          <p:cNvSpPr/>
          <p:nvPr/>
        </p:nvSpPr>
        <p:spPr>
          <a:xfrm>
            <a:off x="3310128" y="135331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02</a:t>
            </a:r>
            <a:endParaRPr lang="en-US" sz="2000" dirty="0"/>
          </a:p>
        </p:txBody>
      </p:sp>
      <p:sp>
        <p:nvSpPr>
          <p:cNvPr id="12" name="Text 9"/>
          <p:cNvSpPr/>
          <p:nvPr/>
        </p:nvSpPr>
        <p:spPr>
          <a:xfrm>
            <a:off x="3767328" y="140817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Our Services</a:t>
            </a:r>
            <a:endParaRPr lang="en-US" sz="1100" dirty="0"/>
          </a:p>
        </p:txBody>
      </p:sp>
      <p:sp>
        <p:nvSpPr>
          <p:cNvPr id="13" name="Shape 10"/>
          <p:cNvSpPr/>
          <p:nvPr/>
        </p:nvSpPr>
        <p:spPr>
          <a:xfrm>
            <a:off x="3200400" y="210312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14" name="Text 11"/>
          <p:cNvSpPr/>
          <p:nvPr/>
        </p:nvSpPr>
        <p:spPr>
          <a:xfrm>
            <a:off x="3310128" y="217627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03</a:t>
            </a:r>
            <a:endParaRPr lang="en-US" sz="2000" dirty="0"/>
          </a:p>
        </p:txBody>
      </p:sp>
      <p:sp>
        <p:nvSpPr>
          <p:cNvPr id="15" name="Text 12"/>
          <p:cNvSpPr/>
          <p:nvPr/>
        </p:nvSpPr>
        <p:spPr>
          <a:xfrm>
            <a:off x="3767328" y="223113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Why Choose Us</a:t>
            </a:r>
            <a:endParaRPr lang="en-US" sz="1100" dirty="0"/>
          </a:p>
        </p:txBody>
      </p:sp>
      <p:sp>
        <p:nvSpPr>
          <p:cNvPr id="16" name="Shape 13"/>
          <p:cNvSpPr/>
          <p:nvPr/>
        </p:nvSpPr>
        <p:spPr>
          <a:xfrm>
            <a:off x="3200400" y="292608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17" name="Text 14"/>
          <p:cNvSpPr/>
          <p:nvPr/>
        </p:nvSpPr>
        <p:spPr>
          <a:xfrm>
            <a:off x="3310128" y="299923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04</a:t>
            </a:r>
            <a:endParaRPr lang="en-US" sz="2000" dirty="0"/>
          </a:p>
        </p:txBody>
      </p:sp>
      <p:sp>
        <p:nvSpPr>
          <p:cNvPr id="18" name="Text 15"/>
          <p:cNvSpPr/>
          <p:nvPr/>
        </p:nvSpPr>
        <p:spPr>
          <a:xfrm>
            <a:off x="3767328" y="305409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Our Process</a:t>
            </a:r>
            <a:endParaRPr lang="en-US" sz="1100" dirty="0"/>
          </a:p>
        </p:txBody>
      </p:sp>
      <p:sp>
        <p:nvSpPr>
          <p:cNvPr id="19" name="Shape 16"/>
          <p:cNvSpPr/>
          <p:nvPr/>
        </p:nvSpPr>
        <p:spPr>
          <a:xfrm>
            <a:off x="3200400" y="374904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20" name="Text 17"/>
          <p:cNvSpPr/>
          <p:nvPr/>
        </p:nvSpPr>
        <p:spPr>
          <a:xfrm>
            <a:off x="3310128" y="382219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05</a:t>
            </a:r>
            <a:endParaRPr lang="en-US" sz="2000" dirty="0"/>
          </a:p>
        </p:txBody>
      </p:sp>
      <p:sp>
        <p:nvSpPr>
          <p:cNvPr id="21" name="Text 18"/>
          <p:cNvSpPr/>
          <p:nvPr/>
        </p:nvSpPr>
        <p:spPr>
          <a:xfrm>
            <a:off x="3767328" y="387705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Portfolio &amp; Case Studies</a:t>
            </a:r>
            <a:endParaRPr lang="en-US" sz="1100" dirty="0"/>
          </a:p>
        </p:txBody>
      </p:sp>
      <p:sp>
        <p:nvSpPr>
          <p:cNvPr id="22" name="Shape 19"/>
          <p:cNvSpPr/>
          <p:nvPr/>
        </p:nvSpPr>
        <p:spPr>
          <a:xfrm>
            <a:off x="6217920" y="45720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23" name="Text 20"/>
          <p:cNvSpPr/>
          <p:nvPr/>
        </p:nvSpPr>
        <p:spPr>
          <a:xfrm>
            <a:off x="6327648" y="53035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06</a:t>
            </a:r>
            <a:endParaRPr lang="en-US" sz="2000" dirty="0"/>
          </a:p>
        </p:txBody>
      </p:sp>
      <p:sp>
        <p:nvSpPr>
          <p:cNvPr id="24" name="Text 21"/>
          <p:cNvSpPr/>
          <p:nvPr/>
        </p:nvSpPr>
        <p:spPr>
          <a:xfrm>
            <a:off x="6784848" y="58521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Pricing Packages</a:t>
            </a:r>
            <a:endParaRPr lang="en-US" sz="1100" dirty="0"/>
          </a:p>
        </p:txBody>
      </p:sp>
      <p:sp>
        <p:nvSpPr>
          <p:cNvPr id="25" name="Shape 22"/>
          <p:cNvSpPr/>
          <p:nvPr/>
        </p:nvSpPr>
        <p:spPr>
          <a:xfrm>
            <a:off x="6217920" y="128016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26" name="Text 23"/>
          <p:cNvSpPr/>
          <p:nvPr/>
        </p:nvSpPr>
        <p:spPr>
          <a:xfrm>
            <a:off x="6327648" y="135331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07</a:t>
            </a:r>
            <a:endParaRPr lang="en-US" sz="2000" dirty="0"/>
          </a:p>
        </p:txBody>
      </p:sp>
      <p:sp>
        <p:nvSpPr>
          <p:cNvPr id="27" name="Text 24"/>
          <p:cNvSpPr/>
          <p:nvPr/>
        </p:nvSpPr>
        <p:spPr>
          <a:xfrm>
            <a:off x="6784848" y="140817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Client Testimonials</a:t>
            </a:r>
            <a:endParaRPr lang="en-US" sz="1100" dirty="0"/>
          </a:p>
        </p:txBody>
      </p:sp>
      <p:sp>
        <p:nvSpPr>
          <p:cNvPr id="28" name="Shape 25"/>
          <p:cNvSpPr/>
          <p:nvPr/>
        </p:nvSpPr>
        <p:spPr>
          <a:xfrm>
            <a:off x="6217920" y="210312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29" name="Text 26"/>
          <p:cNvSpPr/>
          <p:nvPr/>
        </p:nvSpPr>
        <p:spPr>
          <a:xfrm>
            <a:off x="6327648" y="217627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08</a:t>
            </a:r>
            <a:endParaRPr lang="en-US" sz="2000" dirty="0"/>
          </a:p>
        </p:txBody>
      </p:sp>
      <p:sp>
        <p:nvSpPr>
          <p:cNvPr id="30" name="Text 27"/>
          <p:cNvSpPr/>
          <p:nvPr/>
        </p:nvSpPr>
        <p:spPr>
          <a:xfrm>
            <a:off x="6784848" y="223113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Team</a:t>
            </a:r>
            <a:endParaRPr lang="en-US" sz="1100" dirty="0"/>
          </a:p>
        </p:txBody>
      </p:sp>
      <p:sp>
        <p:nvSpPr>
          <p:cNvPr id="31" name="Shape 28"/>
          <p:cNvSpPr/>
          <p:nvPr/>
        </p:nvSpPr>
        <p:spPr>
          <a:xfrm>
            <a:off x="6217920" y="2926080"/>
            <a:ext cx="2651760" cy="640080"/>
          </a:xfrm>
          <a:prstGeom prst="rect">
            <a:avLst/>
          </a:prstGeom>
          <a:solidFill>
            <a:srgbClr val="FFFFFF"/>
          </a:solidFill>
          <a:ln w="12700">
            <a:solidFill>
              <a:srgbClr val="E8EDF5"/>
            </a:solidFill>
            <a:prstDash val="solid"/>
          </a:ln>
          <a:effectLst>
            <a:outerShdw blurRad="50800" dist="25400" dir="8100000" algn="bl" rotWithShape="0">
              <a:srgbClr val="000000">
                <a:alpha val="7000"/>
              </a:srgbClr>
            </a:outerShdw>
          </a:effectLst>
        </p:spPr>
        <p:txBody>
          <a:bodyPr/>
          <a:lstStyle/>
          <a:p>
            <a:endParaRPr lang="en-AU"/>
          </a:p>
        </p:txBody>
      </p:sp>
      <p:sp>
        <p:nvSpPr>
          <p:cNvPr id="32" name="Text 29"/>
          <p:cNvSpPr/>
          <p:nvPr/>
        </p:nvSpPr>
        <p:spPr>
          <a:xfrm>
            <a:off x="6327648" y="2999232"/>
            <a:ext cx="457200" cy="457200"/>
          </a:xfrm>
          <a:prstGeom prst="rect">
            <a:avLst/>
          </a:prstGeom>
          <a:noFill/>
          <a:ln/>
        </p:spPr>
        <p:txBody>
          <a:bodyPr wrap="square" lIns="0" tIns="0" rIns="0" bIns="0" rtlCol="0" anchor="ctr"/>
          <a:lstStyle/>
          <a:p>
            <a:pPr marL="0" indent="0">
              <a:buNone/>
            </a:pPr>
            <a:r>
              <a:rPr lang="en-US" sz="2000" b="1" dirty="0">
                <a:solidFill>
                  <a:srgbClr val="F5C518"/>
                </a:solidFill>
                <a:latin typeface="Calibri" pitchFamily="34" charset="0"/>
                <a:ea typeface="Calibri" pitchFamily="34" charset="-122"/>
                <a:cs typeface="Calibri" pitchFamily="34" charset="-120"/>
              </a:rPr>
              <a:t>09</a:t>
            </a:r>
            <a:endParaRPr lang="en-US" sz="2000" dirty="0"/>
          </a:p>
        </p:txBody>
      </p:sp>
      <p:sp>
        <p:nvSpPr>
          <p:cNvPr id="33" name="Text 30"/>
          <p:cNvSpPr/>
          <p:nvPr/>
        </p:nvSpPr>
        <p:spPr>
          <a:xfrm>
            <a:off x="6784848" y="3054096"/>
            <a:ext cx="1920240" cy="384048"/>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Contact Us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0" y="914400"/>
            <a:ext cx="9144000" cy="109728"/>
          </a:xfrm>
          <a:prstGeom prst="rect">
            <a:avLst/>
          </a:prstGeom>
          <a:solidFill>
            <a:srgbClr val="F5C518"/>
          </a:solidFill>
          <a:ln w="12700">
            <a:solidFill>
              <a:srgbClr val="F5C518"/>
            </a:solidFill>
            <a:prstDash val="solid"/>
          </a:ln>
        </p:spPr>
        <p:txBody>
          <a:bodyPr/>
          <a:lstStyle/>
          <a:p>
            <a:endParaRPr lang="en-AU"/>
          </a:p>
        </p:txBody>
      </p:sp>
      <p:sp>
        <p:nvSpPr>
          <p:cNvPr id="4" name="Text 2"/>
          <p:cNvSpPr/>
          <p:nvPr/>
        </p:nvSpPr>
        <p:spPr>
          <a:xfrm>
            <a:off x="457200" y="164592"/>
            <a:ext cx="8229600" cy="658368"/>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About </a:t>
            </a:r>
            <a:r>
              <a:rPr lang="en-US" sz="2800" b="1" dirty="0">
                <a:solidFill>
                  <a:srgbClr val="F5C518"/>
                </a:solidFill>
                <a:latin typeface="Calibri" pitchFamily="34" charset="0"/>
                <a:ea typeface="Calibri" pitchFamily="34" charset="-122"/>
                <a:cs typeface="Calibri" pitchFamily="34" charset="-120"/>
              </a:rPr>
              <a:t>NextGen Web Works</a:t>
            </a:r>
            <a:endParaRPr lang="en-US" sz="2800" dirty="0"/>
          </a:p>
        </p:txBody>
      </p:sp>
      <p:sp>
        <p:nvSpPr>
          <p:cNvPr id="5" name="Shape 3"/>
          <p:cNvSpPr/>
          <p:nvPr/>
        </p:nvSpPr>
        <p:spPr>
          <a:xfrm>
            <a:off x="457200" y="1280160"/>
            <a:ext cx="1828800" cy="1371600"/>
          </a:xfrm>
          <a:prstGeom prst="rect">
            <a:avLst/>
          </a:prstGeom>
          <a:solidFill>
            <a:srgbClr val="1B3A6B"/>
          </a:solidFill>
          <a:ln w="12700">
            <a:solidFill>
              <a:srgbClr val="1B3A6B"/>
            </a:solidFill>
            <a:prstDash val="solid"/>
          </a:ln>
          <a:effectLst>
            <a:outerShdw blurRad="101600" dist="38100" dir="8100000" algn="bl" rotWithShape="0">
              <a:srgbClr val="000000">
                <a:alpha val="12000"/>
              </a:srgbClr>
            </a:outerShdw>
          </a:effectLst>
        </p:spPr>
        <p:txBody>
          <a:bodyPr/>
          <a:lstStyle/>
          <a:p>
            <a:endParaRPr lang="en-AU"/>
          </a:p>
        </p:txBody>
      </p:sp>
      <p:sp>
        <p:nvSpPr>
          <p:cNvPr id="6" name="Text 4"/>
          <p:cNvSpPr/>
          <p:nvPr/>
        </p:nvSpPr>
        <p:spPr>
          <a:xfrm>
            <a:off x="457200" y="1371600"/>
            <a:ext cx="1828800" cy="594360"/>
          </a:xfrm>
          <a:prstGeom prst="rect">
            <a:avLst/>
          </a:prstGeom>
          <a:noFill/>
          <a:ln/>
        </p:spPr>
        <p:txBody>
          <a:bodyPr wrap="square" lIns="0" tIns="0" rIns="0" bIns="0" rtlCol="0" anchor="ctr"/>
          <a:lstStyle/>
          <a:p>
            <a:pPr marL="0" indent="0" algn="ctr">
              <a:buNone/>
            </a:pPr>
            <a:r>
              <a:rPr lang="en-US" sz="3200" b="1" dirty="0">
                <a:solidFill>
                  <a:srgbClr val="F5C518"/>
                </a:solidFill>
                <a:latin typeface="Calibri" pitchFamily="34" charset="0"/>
                <a:ea typeface="Calibri" pitchFamily="34" charset="-122"/>
                <a:cs typeface="Calibri" pitchFamily="34" charset="-120"/>
              </a:rPr>
              <a:t>150+</a:t>
            </a:r>
            <a:endParaRPr lang="en-US" sz="3200" dirty="0"/>
          </a:p>
        </p:txBody>
      </p:sp>
      <p:sp>
        <p:nvSpPr>
          <p:cNvPr id="7" name="Text 5"/>
          <p:cNvSpPr/>
          <p:nvPr/>
        </p:nvSpPr>
        <p:spPr>
          <a:xfrm>
            <a:off x="457200" y="1956816"/>
            <a:ext cx="1828800" cy="59436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Projects</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Delivered</a:t>
            </a:r>
            <a:endParaRPr lang="en-US" sz="1100" dirty="0"/>
          </a:p>
        </p:txBody>
      </p:sp>
      <p:sp>
        <p:nvSpPr>
          <p:cNvPr id="8" name="Shape 6"/>
          <p:cNvSpPr/>
          <p:nvPr/>
        </p:nvSpPr>
        <p:spPr>
          <a:xfrm>
            <a:off x="2560320" y="1280160"/>
            <a:ext cx="1828800" cy="1371600"/>
          </a:xfrm>
          <a:prstGeom prst="rect">
            <a:avLst/>
          </a:prstGeom>
          <a:solidFill>
            <a:srgbClr val="F5C518"/>
          </a:solidFill>
          <a:ln w="12700">
            <a:solidFill>
              <a:srgbClr val="1B3A6B"/>
            </a:solidFill>
            <a:prstDash val="solid"/>
          </a:ln>
          <a:effectLst>
            <a:outerShdw blurRad="101600" dist="38100" dir="8100000" algn="bl" rotWithShape="0">
              <a:srgbClr val="000000">
                <a:alpha val="12000"/>
              </a:srgbClr>
            </a:outerShdw>
          </a:effectLst>
        </p:spPr>
        <p:txBody>
          <a:bodyPr/>
          <a:lstStyle/>
          <a:p>
            <a:endParaRPr lang="en-AU"/>
          </a:p>
        </p:txBody>
      </p:sp>
      <p:sp>
        <p:nvSpPr>
          <p:cNvPr id="9" name="Text 7"/>
          <p:cNvSpPr/>
          <p:nvPr/>
        </p:nvSpPr>
        <p:spPr>
          <a:xfrm>
            <a:off x="2560320" y="1371600"/>
            <a:ext cx="1828800" cy="594360"/>
          </a:xfrm>
          <a:prstGeom prst="rect">
            <a:avLst/>
          </a:prstGeom>
          <a:noFill/>
          <a:ln/>
        </p:spPr>
        <p:txBody>
          <a:bodyPr wrap="square" lIns="0" tIns="0" rIns="0" bIns="0" rtlCol="0" anchor="ctr"/>
          <a:lstStyle/>
          <a:p>
            <a:pPr marL="0" indent="0" algn="ctr">
              <a:buNone/>
            </a:pPr>
            <a:r>
              <a:rPr lang="en-US" sz="3200" b="1" dirty="0">
                <a:solidFill>
                  <a:srgbClr val="1B3A6B"/>
                </a:solidFill>
                <a:latin typeface="Calibri" pitchFamily="34" charset="0"/>
                <a:ea typeface="Calibri" pitchFamily="34" charset="-122"/>
                <a:cs typeface="Calibri" pitchFamily="34" charset="-120"/>
              </a:rPr>
              <a:t>98%</a:t>
            </a:r>
            <a:endParaRPr lang="en-US" sz="3200" dirty="0"/>
          </a:p>
        </p:txBody>
      </p:sp>
      <p:sp>
        <p:nvSpPr>
          <p:cNvPr id="10" name="Text 8"/>
          <p:cNvSpPr/>
          <p:nvPr/>
        </p:nvSpPr>
        <p:spPr>
          <a:xfrm>
            <a:off x="2560320" y="1956816"/>
            <a:ext cx="1828800" cy="594360"/>
          </a:xfrm>
          <a:prstGeom prst="rect">
            <a:avLst/>
          </a:prstGeom>
          <a:noFill/>
          <a:ln/>
        </p:spPr>
        <p:txBody>
          <a:bodyPr wrap="square" lIns="0" tIns="0" rIns="0" bIns="0" rtlCol="0" anchor="ctr"/>
          <a:lstStyle/>
          <a:p>
            <a:pPr marL="0" indent="0" algn="ctr">
              <a:buNone/>
            </a:pPr>
            <a:r>
              <a:rPr lang="en-US" sz="1100" dirty="0">
                <a:solidFill>
                  <a:srgbClr val="122548"/>
                </a:solidFill>
                <a:latin typeface="Calibri" pitchFamily="34" charset="0"/>
                <a:ea typeface="Calibri" pitchFamily="34" charset="-122"/>
                <a:cs typeface="Calibri" pitchFamily="34" charset="-120"/>
              </a:rPr>
              <a:t>Client</a:t>
            </a:r>
            <a:endParaRPr lang="en-US" sz="1100" dirty="0"/>
          </a:p>
          <a:p>
            <a:pPr marL="0" indent="0" algn="ctr">
              <a:buNone/>
            </a:pPr>
            <a:r>
              <a:rPr lang="en-US" sz="1100" dirty="0">
                <a:solidFill>
                  <a:srgbClr val="122548"/>
                </a:solidFill>
                <a:latin typeface="Calibri" pitchFamily="34" charset="0"/>
                <a:ea typeface="Calibri" pitchFamily="34" charset="-122"/>
                <a:cs typeface="Calibri" pitchFamily="34" charset="-120"/>
              </a:rPr>
              <a:t>Satisfaction</a:t>
            </a:r>
            <a:endParaRPr lang="en-US" sz="1100" dirty="0"/>
          </a:p>
        </p:txBody>
      </p:sp>
      <p:sp>
        <p:nvSpPr>
          <p:cNvPr id="11" name="Shape 9"/>
          <p:cNvSpPr/>
          <p:nvPr/>
        </p:nvSpPr>
        <p:spPr>
          <a:xfrm>
            <a:off x="4663440" y="1280160"/>
            <a:ext cx="1828800" cy="1371600"/>
          </a:xfrm>
          <a:prstGeom prst="rect">
            <a:avLst/>
          </a:prstGeom>
          <a:solidFill>
            <a:srgbClr val="1B3A6B"/>
          </a:solidFill>
          <a:ln w="12700">
            <a:solidFill>
              <a:srgbClr val="1B3A6B"/>
            </a:solidFill>
            <a:prstDash val="solid"/>
          </a:ln>
          <a:effectLst>
            <a:outerShdw blurRad="101600" dist="38100" dir="8100000" algn="bl" rotWithShape="0">
              <a:srgbClr val="000000">
                <a:alpha val="12000"/>
              </a:srgbClr>
            </a:outerShdw>
          </a:effectLst>
        </p:spPr>
        <p:txBody>
          <a:bodyPr/>
          <a:lstStyle/>
          <a:p>
            <a:endParaRPr lang="en-AU"/>
          </a:p>
        </p:txBody>
      </p:sp>
      <p:sp>
        <p:nvSpPr>
          <p:cNvPr id="12" name="Text 10"/>
          <p:cNvSpPr/>
          <p:nvPr/>
        </p:nvSpPr>
        <p:spPr>
          <a:xfrm>
            <a:off x="4663440" y="1371600"/>
            <a:ext cx="1828800" cy="594360"/>
          </a:xfrm>
          <a:prstGeom prst="rect">
            <a:avLst/>
          </a:prstGeom>
          <a:noFill/>
          <a:ln/>
        </p:spPr>
        <p:txBody>
          <a:bodyPr wrap="square" lIns="0" tIns="0" rIns="0" bIns="0" rtlCol="0" anchor="ctr"/>
          <a:lstStyle/>
          <a:p>
            <a:pPr marL="0" indent="0" algn="ctr">
              <a:buNone/>
            </a:pPr>
            <a:r>
              <a:rPr lang="en-US" sz="3200" b="1" dirty="0">
                <a:solidFill>
                  <a:srgbClr val="F5C518"/>
                </a:solidFill>
                <a:latin typeface="Calibri" pitchFamily="34" charset="0"/>
                <a:ea typeface="Calibri" pitchFamily="34" charset="-122"/>
                <a:cs typeface="Calibri" pitchFamily="34" charset="-120"/>
              </a:rPr>
              <a:t>8+</a:t>
            </a:r>
            <a:endParaRPr lang="en-US" sz="3200" dirty="0"/>
          </a:p>
        </p:txBody>
      </p:sp>
      <p:sp>
        <p:nvSpPr>
          <p:cNvPr id="13" name="Text 11"/>
          <p:cNvSpPr/>
          <p:nvPr/>
        </p:nvSpPr>
        <p:spPr>
          <a:xfrm>
            <a:off x="4663440" y="1956816"/>
            <a:ext cx="1828800" cy="59436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Years of</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Experience</a:t>
            </a:r>
            <a:endParaRPr lang="en-US" sz="1100" dirty="0"/>
          </a:p>
        </p:txBody>
      </p:sp>
      <p:sp>
        <p:nvSpPr>
          <p:cNvPr id="14" name="Shape 12"/>
          <p:cNvSpPr/>
          <p:nvPr/>
        </p:nvSpPr>
        <p:spPr>
          <a:xfrm>
            <a:off x="6766560" y="1280160"/>
            <a:ext cx="1828800" cy="1371600"/>
          </a:xfrm>
          <a:prstGeom prst="rect">
            <a:avLst/>
          </a:prstGeom>
          <a:solidFill>
            <a:srgbClr val="F5C518"/>
          </a:solidFill>
          <a:ln w="12700">
            <a:solidFill>
              <a:srgbClr val="1B3A6B"/>
            </a:solidFill>
            <a:prstDash val="solid"/>
          </a:ln>
          <a:effectLst>
            <a:outerShdw blurRad="101600" dist="38100" dir="8100000" algn="bl" rotWithShape="0">
              <a:srgbClr val="000000">
                <a:alpha val="12000"/>
              </a:srgbClr>
            </a:outerShdw>
          </a:effectLst>
        </p:spPr>
        <p:txBody>
          <a:bodyPr/>
          <a:lstStyle/>
          <a:p>
            <a:endParaRPr lang="en-AU"/>
          </a:p>
        </p:txBody>
      </p:sp>
      <p:sp>
        <p:nvSpPr>
          <p:cNvPr id="15" name="Text 13"/>
          <p:cNvSpPr/>
          <p:nvPr/>
        </p:nvSpPr>
        <p:spPr>
          <a:xfrm>
            <a:off x="6766560" y="1371600"/>
            <a:ext cx="1828800" cy="594360"/>
          </a:xfrm>
          <a:prstGeom prst="rect">
            <a:avLst/>
          </a:prstGeom>
          <a:noFill/>
          <a:ln/>
        </p:spPr>
        <p:txBody>
          <a:bodyPr wrap="square" lIns="0" tIns="0" rIns="0" bIns="0" rtlCol="0" anchor="ctr"/>
          <a:lstStyle/>
          <a:p>
            <a:pPr marL="0" indent="0" algn="ctr">
              <a:buNone/>
            </a:pPr>
            <a:r>
              <a:rPr lang="en-US" sz="3200" b="1" dirty="0">
                <a:solidFill>
                  <a:srgbClr val="1B3A6B"/>
                </a:solidFill>
                <a:latin typeface="Calibri" pitchFamily="34" charset="0"/>
                <a:ea typeface="Calibri" pitchFamily="34" charset="-122"/>
                <a:cs typeface="Calibri" pitchFamily="34" charset="-120"/>
              </a:rPr>
              <a:t>30+</a:t>
            </a:r>
            <a:endParaRPr lang="en-US" sz="3200" dirty="0"/>
          </a:p>
        </p:txBody>
      </p:sp>
      <p:sp>
        <p:nvSpPr>
          <p:cNvPr id="16" name="Text 14"/>
          <p:cNvSpPr/>
          <p:nvPr/>
        </p:nvSpPr>
        <p:spPr>
          <a:xfrm>
            <a:off x="6766560" y="1956816"/>
            <a:ext cx="1828800" cy="594360"/>
          </a:xfrm>
          <a:prstGeom prst="rect">
            <a:avLst/>
          </a:prstGeom>
          <a:noFill/>
          <a:ln/>
        </p:spPr>
        <p:txBody>
          <a:bodyPr wrap="square" lIns="0" tIns="0" rIns="0" bIns="0" rtlCol="0" anchor="ctr"/>
          <a:lstStyle/>
          <a:p>
            <a:pPr marL="0" indent="0" algn="ctr">
              <a:buNone/>
            </a:pPr>
            <a:r>
              <a:rPr lang="en-US" sz="1100" dirty="0">
                <a:solidFill>
                  <a:srgbClr val="122548"/>
                </a:solidFill>
                <a:latin typeface="Calibri" pitchFamily="34" charset="0"/>
                <a:ea typeface="Calibri" pitchFamily="34" charset="-122"/>
                <a:cs typeface="Calibri" pitchFamily="34" charset="-120"/>
              </a:rPr>
              <a:t>Team</a:t>
            </a:r>
            <a:endParaRPr lang="en-US" sz="1100" dirty="0"/>
          </a:p>
          <a:p>
            <a:pPr marL="0" indent="0" algn="ctr">
              <a:buNone/>
            </a:pPr>
            <a:r>
              <a:rPr lang="en-US" sz="1100" dirty="0">
                <a:solidFill>
                  <a:srgbClr val="122548"/>
                </a:solidFill>
                <a:latin typeface="Calibri" pitchFamily="34" charset="0"/>
                <a:ea typeface="Calibri" pitchFamily="34" charset="-122"/>
                <a:cs typeface="Calibri" pitchFamily="34" charset="-120"/>
              </a:rPr>
              <a:t>Members</a:t>
            </a:r>
            <a:endParaRPr lang="en-US" sz="1100" dirty="0"/>
          </a:p>
        </p:txBody>
      </p:sp>
      <p:sp>
        <p:nvSpPr>
          <p:cNvPr id="17" name="Text 15"/>
          <p:cNvSpPr/>
          <p:nvPr/>
        </p:nvSpPr>
        <p:spPr>
          <a:xfrm>
            <a:off x="457200" y="2926080"/>
            <a:ext cx="3657600" cy="365760"/>
          </a:xfrm>
          <a:prstGeom prst="rect">
            <a:avLst/>
          </a:prstGeom>
          <a:noFill/>
          <a:ln/>
        </p:spPr>
        <p:txBody>
          <a:bodyPr wrap="square" rtlCol="0" anchor="ctr"/>
          <a:lstStyle/>
          <a:p>
            <a:pPr marL="0" indent="0">
              <a:buNone/>
            </a:pPr>
            <a:r>
              <a:rPr lang="en-US" sz="1600" b="1" dirty="0">
                <a:solidFill>
                  <a:srgbClr val="1B3A6B"/>
                </a:solidFill>
                <a:latin typeface="Calibri" pitchFamily="34" charset="0"/>
                <a:ea typeface="Calibri" pitchFamily="34" charset="-122"/>
                <a:cs typeface="Calibri" pitchFamily="34" charset="-120"/>
              </a:rPr>
              <a:t>Our Mission</a:t>
            </a:r>
            <a:endParaRPr lang="en-US" sz="1600" dirty="0"/>
          </a:p>
        </p:txBody>
      </p:sp>
      <p:sp>
        <p:nvSpPr>
          <p:cNvPr id="18" name="Shape 16"/>
          <p:cNvSpPr/>
          <p:nvPr/>
        </p:nvSpPr>
        <p:spPr>
          <a:xfrm>
            <a:off x="457200" y="3310128"/>
            <a:ext cx="3840480" cy="1463040"/>
          </a:xfrm>
          <a:prstGeom prst="rect">
            <a:avLst/>
          </a:prstGeom>
          <a:solidFill>
            <a:srgbClr val="F5F7FA"/>
          </a:solidFill>
          <a:ln w="12700">
            <a:solidFill>
              <a:srgbClr val="E8EDF5"/>
            </a:solidFill>
            <a:prstDash val="solid"/>
          </a:ln>
        </p:spPr>
        <p:txBody>
          <a:bodyPr/>
          <a:lstStyle/>
          <a:p>
            <a:endParaRPr lang="en-AU"/>
          </a:p>
        </p:txBody>
      </p:sp>
      <p:sp>
        <p:nvSpPr>
          <p:cNvPr id="19" name="Text 17"/>
          <p:cNvSpPr/>
          <p:nvPr/>
        </p:nvSpPr>
        <p:spPr>
          <a:xfrm>
            <a:off x="640080" y="3401568"/>
            <a:ext cx="3474720" cy="1280160"/>
          </a:xfrm>
          <a:prstGeom prst="rect">
            <a:avLst/>
          </a:prstGeom>
          <a:noFill/>
          <a:ln/>
        </p:spPr>
        <p:txBody>
          <a:bodyPr wrap="square" rtlCol="0" anchor="t"/>
          <a:lstStyle/>
          <a:p>
            <a:pPr marL="0" indent="0">
              <a:buNone/>
            </a:pPr>
            <a:r>
              <a:rPr lang="en-US" sz="1150" dirty="0">
                <a:solidFill>
                  <a:srgbClr val="4A5568"/>
                </a:solidFill>
                <a:latin typeface="Calibri" pitchFamily="34" charset="0"/>
                <a:ea typeface="Calibri" pitchFamily="34" charset="-122"/>
                <a:cs typeface="Calibri" pitchFamily="34" charset="-120"/>
              </a:rPr>
              <a:t>NextGen Web Works is a Creative Digital Media Agency specialising in web design and branding. We empower businesses with beautiful, responsive digital experiences that drive real results.</a:t>
            </a:r>
            <a:endParaRPr lang="en-US" sz="1150" dirty="0"/>
          </a:p>
        </p:txBody>
      </p:sp>
      <p:sp>
        <p:nvSpPr>
          <p:cNvPr id="20" name="Text 18"/>
          <p:cNvSpPr/>
          <p:nvPr/>
        </p:nvSpPr>
        <p:spPr>
          <a:xfrm>
            <a:off x="4754880" y="2926080"/>
            <a:ext cx="3657600" cy="365760"/>
          </a:xfrm>
          <a:prstGeom prst="rect">
            <a:avLst/>
          </a:prstGeom>
          <a:noFill/>
          <a:ln/>
        </p:spPr>
        <p:txBody>
          <a:bodyPr wrap="square" rtlCol="0" anchor="ctr"/>
          <a:lstStyle/>
          <a:p>
            <a:pPr marL="0" indent="0">
              <a:buNone/>
            </a:pPr>
            <a:r>
              <a:rPr lang="en-US" sz="1600" b="1" dirty="0">
                <a:solidFill>
                  <a:srgbClr val="1B3A6B"/>
                </a:solidFill>
                <a:latin typeface="Calibri" pitchFamily="34" charset="0"/>
                <a:ea typeface="Calibri" pitchFamily="34" charset="-122"/>
                <a:cs typeface="Calibri" pitchFamily="34" charset="-120"/>
              </a:rPr>
              <a:t>Our Core Values</a:t>
            </a:r>
            <a:endParaRPr lang="en-US" sz="1600" dirty="0"/>
          </a:p>
        </p:txBody>
      </p:sp>
      <p:pic>
        <p:nvPicPr>
          <p:cNvPr id="21" name="Image 0" descr="preencoded.png"/>
          <p:cNvPicPr>
            <a:picLocks noChangeAspect="1"/>
          </p:cNvPicPr>
          <p:nvPr/>
        </p:nvPicPr>
        <p:blipFill>
          <a:blip r:embed="rId3"/>
          <a:stretch>
            <a:fillRect/>
          </a:stretch>
        </p:blipFill>
        <p:spPr>
          <a:xfrm>
            <a:off x="4754880" y="3364992"/>
            <a:ext cx="201168" cy="201168"/>
          </a:xfrm>
          <a:prstGeom prst="rect">
            <a:avLst/>
          </a:prstGeom>
        </p:spPr>
      </p:pic>
      <p:sp>
        <p:nvSpPr>
          <p:cNvPr id="22" name="Text 19"/>
          <p:cNvSpPr/>
          <p:nvPr/>
        </p:nvSpPr>
        <p:spPr>
          <a:xfrm>
            <a:off x="5029200" y="3364992"/>
            <a:ext cx="2743200" cy="22860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Innovation</a:t>
            </a:r>
            <a:endParaRPr lang="en-US" sz="1200" dirty="0"/>
          </a:p>
        </p:txBody>
      </p:sp>
      <p:pic>
        <p:nvPicPr>
          <p:cNvPr id="23" name="Image 1" descr="preencoded.png"/>
          <p:cNvPicPr>
            <a:picLocks noChangeAspect="1"/>
          </p:cNvPicPr>
          <p:nvPr/>
        </p:nvPicPr>
        <p:blipFill>
          <a:blip r:embed="rId3"/>
          <a:stretch>
            <a:fillRect/>
          </a:stretch>
        </p:blipFill>
        <p:spPr>
          <a:xfrm>
            <a:off x="4754880" y="3685032"/>
            <a:ext cx="201168" cy="201168"/>
          </a:xfrm>
          <a:prstGeom prst="rect">
            <a:avLst/>
          </a:prstGeom>
        </p:spPr>
      </p:pic>
      <p:sp>
        <p:nvSpPr>
          <p:cNvPr id="24" name="Text 20"/>
          <p:cNvSpPr/>
          <p:nvPr/>
        </p:nvSpPr>
        <p:spPr>
          <a:xfrm>
            <a:off x="5029200" y="3685032"/>
            <a:ext cx="2743200" cy="22860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Quality</a:t>
            </a:r>
            <a:endParaRPr lang="en-US" sz="1200" dirty="0"/>
          </a:p>
        </p:txBody>
      </p:sp>
      <p:pic>
        <p:nvPicPr>
          <p:cNvPr id="25" name="Image 2" descr="preencoded.png"/>
          <p:cNvPicPr>
            <a:picLocks noChangeAspect="1"/>
          </p:cNvPicPr>
          <p:nvPr/>
        </p:nvPicPr>
        <p:blipFill>
          <a:blip r:embed="rId3"/>
          <a:stretch>
            <a:fillRect/>
          </a:stretch>
        </p:blipFill>
        <p:spPr>
          <a:xfrm>
            <a:off x="4754880" y="4005072"/>
            <a:ext cx="201168" cy="201168"/>
          </a:xfrm>
          <a:prstGeom prst="rect">
            <a:avLst/>
          </a:prstGeom>
        </p:spPr>
      </p:pic>
      <p:sp>
        <p:nvSpPr>
          <p:cNvPr id="26" name="Text 21"/>
          <p:cNvSpPr/>
          <p:nvPr/>
        </p:nvSpPr>
        <p:spPr>
          <a:xfrm>
            <a:off x="5029200" y="4005072"/>
            <a:ext cx="2743200" cy="22860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Transparency</a:t>
            </a:r>
            <a:endParaRPr lang="en-US" sz="1200" dirty="0"/>
          </a:p>
        </p:txBody>
      </p:sp>
      <p:pic>
        <p:nvPicPr>
          <p:cNvPr id="27" name="Image 3" descr="preencoded.png"/>
          <p:cNvPicPr>
            <a:picLocks noChangeAspect="1"/>
          </p:cNvPicPr>
          <p:nvPr/>
        </p:nvPicPr>
        <p:blipFill>
          <a:blip r:embed="rId3"/>
          <a:stretch>
            <a:fillRect/>
          </a:stretch>
        </p:blipFill>
        <p:spPr>
          <a:xfrm>
            <a:off x="4754880" y="4325112"/>
            <a:ext cx="201168" cy="201168"/>
          </a:xfrm>
          <a:prstGeom prst="rect">
            <a:avLst/>
          </a:prstGeom>
        </p:spPr>
      </p:pic>
      <p:sp>
        <p:nvSpPr>
          <p:cNvPr id="28" name="Text 22"/>
          <p:cNvSpPr/>
          <p:nvPr/>
        </p:nvSpPr>
        <p:spPr>
          <a:xfrm>
            <a:off x="5029200" y="4325112"/>
            <a:ext cx="2743200" cy="22860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Partnership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548"/>
        </a:solidFill>
        <a:effectLst/>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2A5298">
              <a:alpha val="35000"/>
            </a:srgbClr>
          </a:solidFill>
          <a:ln w="12700">
            <a:solidFill>
              <a:srgbClr val="2A5298"/>
            </a:solidFill>
            <a:prstDash val="solid"/>
          </a:ln>
        </p:spPr>
        <p:txBody>
          <a:bodyPr/>
          <a:lstStyle/>
          <a:p>
            <a:endParaRPr lang="en-AU"/>
          </a:p>
        </p:txBody>
      </p:sp>
      <p:sp>
        <p:nvSpPr>
          <p:cNvPr id="3" name="Shape 1"/>
          <p:cNvSpPr/>
          <p:nvPr/>
        </p:nvSpPr>
        <p:spPr>
          <a:xfrm>
            <a:off x="7315200" y="-731520"/>
            <a:ext cx="2560320" cy="2560320"/>
          </a:xfrm>
          <a:prstGeom prst="ellipse">
            <a:avLst/>
          </a:prstGeom>
          <a:solidFill>
            <a:srgbClr val="F5C518">
              <a:alpha val="12000"/>
            </a:srgbClr>
          </a:solidFill>
          <a:ln w="12700">
            <a:solidFill>
              <a:srgbClr val="F5C518"/>
            </a:solidFill>
            <a:prstDash val="solid"/>
          </a:ln>
        </p:spPr>
        <p:txBody>
          <a:bodyPr/>
          <a:lstStyle/>
          <a:p>
            <a:endParaRPr lang="en-AU"/>
          </a:p>
        </p:txBody>
      </p:sp>
      <p:sp>
        <p:nvSpPr>
          <p:cNvPr id="4" name="Text 2"/>
          <p:cNvSpPr/>
          <p:nvPr/>
        </p:nvSpPr>
        <p:spPr>
          <a:xfrm>
            <a:off x="548640" y="274320"/>
            <a:ext cx="5486400" cy="594360"/>
          </a:xfrm>
          <a:prstGeom prst="rect">
            <a:avLst/>
          </a:prstGeom>
          <a:noFill/>
          <a:ln/>
        </p:spPr>
        <p:txBody>
          <a:bodyPr wrap="square"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Our Services</a:t>
            </a:r>
            <a:endParaRPr lang="en-US" sz="3400" dirty="0"/>
          </a:p>
        </p:txBody>
      </p:sp>
      <p:sp>
        <p:nvSpPr>
          <p:cNvPr id="5" name="Text 3"/>
          <p:cNvSpPr/>
          <p:nvPr/>
        </p:nvSpPr>
        <p:spPr>
          <a:xfrm>
            <a:off x="548640" y="868680"/>
            <a:ext cx="6400800" cy="320040"/>
          </a:xfrm>
          <a:prstGeom prst="rect">
            <a:avLst/>
          </a:prstGeom>
          <a:noFill/>
          <a:ln/>
        </p:spPr>
        <p:txBody>
          <a:bodyPr wrap="square" rtlCol="0" anchor="ctr"/>
          <a:lstStyle/>
          <a:p>
            <a:pPr marL="0" indent="0">
              <a:buNone/>
            </a:pPr>
            <a:r>
              <a:rPr lang="en-US" sz="1300" dirty="0">
                <a:solidFill>
                  <a:srgbClr val="8C9DC0"/>
                </a:solidFill>
                <a:latin typeface="Calibri" pitchFamily="34" charset="0"/>
                <a:ea typeface="Calibri" pitchFamily="34" charset="-122"/>
                <a:cs typeface="Calibri" pitchFamily="34" charset="-120"/>
              </a:rPr>
              <a:t>Comprehensive digital solutions tailored to your business needs</a:t>
            </a:r>
            <a:endParaRPr lang="en-US" sz="1300" dirty="0"/>
          </a:p>
        </p:txBody>
      </p:sp>
      <p:sp>
        <p:nvSpPr>
          <p:cNvPr id="6" name="Shape 4"/>
          <p:cNvSpPr/>
          <p:nvPr/>
        </p:nvSpPr>
        <p:spPr>
          <a:xfrm>
            <a:off x="548640" y="1234440"/>
            <a:ext cx="1371600" cy="64008"/>
          </a:xfrm>
          <a:prstGeom prst="rect">
            <a:avLst/>
          </a:prstGeom>
          <a:solidFill>
            <a:srgbClr val="F5C518"/>
          </a:solidFill>
          <a:ln w="12700">
            <a:solidFill>
              <a:srgbClr val="F5C518"/>
            </a:solidFill>
            <a:prstDash val="solid"/>
          </a:ln>
        </p:spPr>
        <p:txBody>
          <a:bodyPr/>
          <a:lstStyle/>
          <a:p>
            <a:endParaRPr lang="en-AU"/>
          </a:p>
        </p:txBody>
      </p:sp>
      <p:sp>
        <p:nvSpPr>
          <p:cNvPr id="7" name="Shape 5"/>
          <p:cNvSpPr/>
          <p:nvPr/>
        </p:nvSpPr>
        <p:spPr>
          <a:xfrm>
            <a:off x="365760" y="150876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8" name="Image 0" descr="preencoded.png"/>
          <p:cNvPicPr>
            <a:picLocks noChangeAspect="1"/>
          </p:cNvPicPr>
          <p:nvPr/>
        </p:nvPicPr>
        <p:blipFill>
          <a:blip r:embed="rId3"/>
          <a:stretch>
            <a:fillRect/>
          </a:stretch>
        </p:blipFill>
        <p:spPr>
          <a:xfrm>
            <a:off x="502920" y="1691640"/>
            <a:ext cx="347472" cy="347472"/>
          </a:xfrm>
          <a:prstGeom prst="rect">
            <a:avLst/>
          </a:prstGeom>
        </p:spPr>
      </p:pic>
      <p:sp>
        <p:nvSpPr>
          <p:cNvPr id="9" name="Text 6"/>
          <p:cNvSpPr/>
          <p:nvPr/>
        </p:nvSpPr>
        <p:spPr>
          <a:xfrm>
            <a:off x="914400" y="167335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Web Design</a:t>
            </a:r>
            <a:endParaRPr lang="en-US" sz="1200" dirty="0"/>
          </a:p>
        </p:txBody>
      </p:sp>
      <p:sp>
        <p:nvSpPr>
          <p:cNvPr id="10" name="Text 7"/>
          <p:cNvSpPr/>
          <p:nvPr/>
        </p:nvSpPr>
        <p:spPr>
          <a:xfrm>
            <a:off x="457200" y="210312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Beautiful, responsive websites tailored to your needs</a:t>
            </a:r>
            <a:endParaRPr lang="en-US" sz="1000" dirty="0"/>
          </a:p>
        </p:txBody>
      </p:sp>
      <p:sp>
        <p:nvSpPr>
          <p:cNvPr id="11" name="Text 8"/>
          <p:cNvSpPr/>
          <p:nvPr/>
        </p:nvSpPr>
        <p:spPr>
          <a:xfrm>
            <a:off x="457200" y="269748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$800–$1500</a:t>
            </a:r>
            <a:endParaRPr lang="en-US" sz="1000" dirty="0"/>
          </a:p>
        </p:txBody>
      </p:sp>
      <p:sp>
        <p:nvSpPr>
          <p:cNvPr id="12" name="Shape 9"/>
          <p:cNvSpPr/>
          <p:nvPr/>
        </p:nvSpPr>
        <p:spPr>
          <a:xfrm>
            <a:off x="3246120" y="150876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13" name="Image 1" descr="preencoded.png"/>
          <p:cNvPicPr>
            <a:picLocks noChangeAspect="1"/>
          </p:cNvPicPr>
          <p:nvPr/>
        </p:nvPicPr>
        <p:blipFill>
          <a:blip r:embed="rId4"/>
          <a:stretch>
            <a:fillRect/>
          </a:stretch>
        </p:blipFill>
        <p:spPr>
          <a:xfrm>
            <a:off x="3383280" y="1691640"/>
            <a:ext cx="347472" cy="347472"/>
          </a:xfrm>
          <a:prstGeom prst="rect">
            <a:avLst/>
          </a:prstGeom>
        </p:spPr>
      </p:pic>
      <p:sp>
        <p:nvSpPr>
          <p:cNvPr id="14" name="Text 10"/>
          <p:cNvSpPr/>
          <p:nvPr/>
        </p:nvSpPr>
        <p:spPr>
          <a:xfrm>
            <a:off x="3794760" y="167335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SEO Optimisation</a:t>
            </a:r>
            <a:endParaRPr lang="en-US" sz="1200" dirty="0"/>
          </a:p>
        </p:txBody>
      </p:sp>
      <p:sp>
        <p:nvSpPr>
          <p:cNvPr id="15" name="Text 11"/>
          <p:cNvSpPr/>
          <p:nvPr/>
        </p:nvSpPr>
        <p:spPr>
          <a:xfrm>
            <a:off x="3337560" y="210312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Boost your visibility and reach more customers online</a:t>
            </a:r>
            <a:endParaRPr lang="en-US" sz="1000" dirty="0"/>
          </a:p>
        </p:txBody>
      </p:sp>
      <p:sp>
        <p:nvSpPr>
          <p:cNvPr id="16" name="Text 12"/>
          <p:cNvSpPr/>
          <p:nvPr/>
        </p:nvSpPr>
        <p:spPr>
          <a:xfrm>
            <a:off x="3337560" y="269748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$400–$900</a:t>
            </a:r>
            <a:endParaRPr lang="en-US" sz="1000" dirty="0"/>
          </a:p>
        </p:txBody>
      </p:sp>
      <p:sp>
        <p:nvSpPr>
          <p:cNvPr id="17" name="Shape 13"/>
          <p:cNvSpPr/>
          <p:nvPr/>
        </p:nvSpPr>
        <p:spPr>
          <a:xfrm>
            <a:off x="6126480" y="150876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18" name="Image 2" descr="preencoded.png"/>
          <p:cNvPicPr>
            <a:picLocks noChangeAspect="1"/>
          </p:cNvPicPr>
          <p:nvPr/>
        </p:nvPicPr>
        <p:blipFill>
          <a:blip r:embed="rId5"/>
          <a:stretch>
            <a:fillRect/>
          </a:stretch>
        </p:blipFill>
        <p:spPr>
          <a:xfrm>
            <a:off x="6263640" y="1691640"/>
            <a:ext cx="347472" cy="347472"/>
          </a:xfrm>
          <a:prstGeom prst="rect">
            <a:avLst/>
          </a:prstGeom>
        </p:spPr>
      </p:pic>
      <p:sp>
        <p:nvSpPr>
          <p:cNvPr id="19" name="Text 14"/>
          <p:cNvSpPr/>
          <p:nvPr/>
        </p:nvSpPr>
        <p:spPr>
          <a:xfrm>
            <a:off x="6675120" y="167335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Enterprise Solutions</a:t>
            </a:r>
            <a:endParaRPr lang="en-US" sz="1200" dirty="0"/>
          </a:p>
        </p:txBody>
      </p:sp>
      <p:sp>
        <p:nvSpPr>
          <p:cNvPr id="20" name="Text 15"/>
          <p:cNvSpPr/>
          <p:nvPr/>
        </p:nvSpPr>
        <p:spPr>
          <a:xfrm>
            <a:off x="6217920" y="210312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Custom enterprise-grade platforms built to scale</a:t>
            </a:r>
            <a:endParaRPr lang="en-US" sz="1000" dirty="0"/>
          </a:p>
        </p:txBody>
      </p:sp>
      <p:sp>
        <p:nvSpPr>
          <p:cNvPr id="21" name="Text 16"/>
          <p:cNvSpPr/>
          <p:nvPr/>
        </p:nvSpPr>
        <p:spPr>
          <a:xfrm>
            <a:off x="6217920" y="269748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$1000+</a:t>
            </a:r>
            <a:endParaRPr lang="en-US" sz="1000" dirty="0"/>
          </a:p>
        </p:txBody>
      </p:sp>
      <p:sp>
        <p:nvSpPr>
          <p:cNvPr id="22" name="Shape 17"/>
          <p:cNvSpPr/>
          <p:nvPr/>
        </p:nvSpPr>
        <p:spPr>
          <a:xfrm>
            <a:off x="365760" y="315468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23" name="Image 3" descr="preencoded.png"/>
          <p:cNvPicPr>
            <a:picLocks noChangeAspect="1"/>
          </p:cNvPicPr>
          <p:nvPr/>
        </p:nvPicPr>
        <p:blipFill>
          <a:blip r:embed="rId6"/>
          <a:stretch>
            <a:fillRect/>
          </a:stretch>
        </p:blipFill>
        <p:spPr>
          <a:xfrm>
            <a:off x="502920" y="3337560"/>
            <a:ext cx="347472" cy="347472"/>
          </a:xfrm>
          <a:prstGeom prst="rect">
            <a:avLst/>
          </a:prstGeom>
        </p:spPr>
      </p:pic>
      <p:sp>
        <p:nvSpPr>
          <p:cNvPr id="24" name="Text 18"/>
          <p:cNvSpPr/>
          <p:nvPr/>
        </p:nvSpPr>
        <p:spPr>
          <a:xfrm>
            <a:off x="914400" y="331927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Mobile Development</a:t>
            </a:r>
            <a:endParaRPr lang="en-US" sz="1200" dirty="0"/>
          </a:p>
        </p:txBody>
      </p:sp>
      <p:sp>
        <p:nvSpPr>
          <p:cNvPr id="25" name="Text 19"/>
          <p:cNvSpPr/>
          <p:nvPr/>
        </p:nvSpPr>
        <p:spPr>
          <a:xfrm>
            <a:off x="457200" y="374904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Cross-platform apps for iOS &amp; Android audiences</a:t>
            </a:r>
            <a:endParaRPr lang="en-US" sz="1000" dirty="0"/>
          </a:p>
        </p:txBody>
      </p:sp>
      <p:sp>
        <p:nvSpPr>
          <p:cNvPr id="26" name="Text 20"/>
          <p:cNvSpPr/>
          <p:nvPr/>
        </p:nvSpPr>
        <p:spPr>
          <a:xfrm>
            <a:off x="457200" y="434340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Custom</a:t>
            </a:r>
            <a:endParaRPr lang="en-US" sz="1000" dirty="0"/>
          </a:p>
        </p:txBody>
      </p:sp>
      <p:sp>
        <p:nvSpPr>
          <p:cNvPr id="27" name="Shape 21"/>
          <p:cNvSpPr/>
          <p:nvPr/>
        </p:nvSpPr>
        <p:spPr>
          <a:xfrm>
            <a:off x="3246120" y="315468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28" name="Image 4" descr="preencoded.png"/>
          <p:cNvPicPr>
            <a:picLocks noChangeAspect="1"/>
          </p:cNvPicPr>
          <p:nvPr/>
        </p:nvPicPr>
        <p:blipFill>
          <a:blip r:embed="rId7"/>
          <a:stretch>
            <a:fillRect/>
          </a:stretch>
        </p:blipFill>
        <p:spPr>
          <a:xfrm>
            <a:off x="3383280" y="3337560"/>
            <a:ext cx="347472" cy="347472"/>
          </a:xfrm>
          <a:prstGeom prst="rect">
            <a:avLst/>
          </a:prstGeom>
        </p:spPr>
      </p:pic>
      <p:sp>
        <p:nvSpPr>
          <p:cNvPr id="29" name="Text 22"/>
          <p:cNvSpPr/>
          <p:nvPr/>
        </p:nvSpPr>
        <p:spPr>
          <a:xfrm>
            <a:off x="3794760" y="331927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Brand Strategy</a:t>
            </a:r>
            <a:endParaRPr lang="en-US" sz="1200" dirty="0"/>
          </a:p>
        </p:txBody>
      </p:sp>
      <p:sp>
        <p:nvSpPr>
          <p:cNvPr id="30" name="Text 23"/>
          <p:cNvSpPr/>
          <p:nvPr/>
        </p:nvSpPr>
        <p:spPr>
          <a:xfrm>
            <a:off x="3337560" y="374904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Identity, messaging, and design that resonates</a:t>
            </a:r>
            <a:endParaRPr lang="en-US" sz="1000" dirty="0"/>
          </a:p>
        </p:txBody>
      </p:sp>
      <p:sp>
        <p:nvSpPr>
          <p:cNvPr id="31" name="Text 24"/>
          <p:cNvSpPr/>
          <p:nvPr/>
        </p:nvSpPr>
        <p:spPr>
          <a:xfrm>
            <a:off x="3337560" y="434340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$500–$1200</a:t>
            </a:r>
            <a:endParaRPr lang="en-US" sz="1000" dirty="0"/>
          </a:p>
        </p:txBody>
      </p:sp>
      <p:sp>
        <p:nvSpPr>
          <p:cNvPr id="32" name="Shape 25"/>
          <p:cNvSpPr/>
          <p:nvPr/>
        </p:nvSpPr>
        <p:spPr>
          <a:xfrm>
            <a:off x="6126480" y="3154680"/>
            <a:ext cx="2651760" cy="1463040"/>
          </a:xfrm>
          <a:prstGeom prst="rect">
            <a:avLst/>
          </a:prstGeom>
          <a:solidFill>
            <a:srgbClr val="2A5298">
              <a:alpha val="80000"/>
            </a:srgbClr>
          </a:solidFill>
          <a:ln w="12700">
            <a:solidFill>
              <a:srgbClr val="8C9DC0"/>
            </a:solidFill>
            <a:prstDash val="solid"/>
          </a:ln>
        </p:spPr>
        <p:txBody>
          <a:bodyPr/>
          <a:lstStyle/>
          <a:p>
            <a:endParaRPr lang="en-AU"/>
          </a:p>
        </p:txBody>
      </p:sp>
      <p:pic>
        <p:nvPicPr>
          <p:cNvPr id="33" name="Image 5" descr="preencoded.png"/>
          <p:cNvPicPr>
            <a:picLocks noChangeAspect="1"/>
          </p:cNvPicPr>
          <p:nvPr/>
        </p:nvPicPr>
        <p:blipFill>
          <a:blip r:embed="rId8"/>
          <a:stretch>
            <a:fillRect/>
          </a:stretch>
        </p:blipFill>
        <p:spPr>
          <a:xfrm>
            <a:off x="6263640" y="3337560"/>
            <a:ext cx="347472" cy="347472"/>
          </a:xfrm>
          <a:prstGeom prst="rect">
            <a:avLst/>
          </a:prstGeom>
        </p:spPr>
      </p:pic>
      <p:sp>
        <p:nvSpPr>
          <p:cNvPr id="34" name="Text 26"/>
          <p:cNvSpPr/>
          <p:nvPr/>
        </p:nvSpPr>
        <p:spPr>
          <a:xfrm>
            <a:off x="6675120" y="3319272"/>
            <a:ext cx="196596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Digital Marketing</a:t>
            </a:r>
            <a:endParaRPr lang="en-US" sz="1200" dirty="0"/>
          </a:p>
        </p:txBody>
      </p:sp>
      <p:sp>
        <p:nvSpPr>
          <p:cNvPr id="35" name="Text 27"/>
          <p:cNvSpPr/>
          <p:nvPr/>
        </p:nvSpPr>
        <p:spPr>
          <a:xfrm>
            <a:off x="6217920" y="3749040"/>
            <a:ext cx="2423160" cy="502920"/>
          </a:xfrm>
          <a:prstGeom prst="rect">
            <a:avLst/>
          </a:prstGeom>
          <a:noFill/>
          <a:ln/>
        </p:spPr>
        <p:txBody>
          <a:bodyPr wrap="square" rtlCol="0" anchor="ctr"/>
          <a:lstStyle/>
          <a:p>
            <a:pPr marL="0" indent="0">
              <a:buNone/>
            </a:pPr>
            <a:r>
              <a:rPr lang="en-US" sz="1000" dirty="0">
                <a:solidFill>
                  <a:srgbClr val="8C9DC0"/>
                </a:solidFill>
                <a:latin typeface="Calibri" pitchFamily="34" charset="0"/>
                <a:ea typeface="Calibri" pitchFamily="34" charset="-122"/>
                <a:cs typeface="Calibri" pitchFamily="34" charset="-120"/>
              </a:rPr>
              <a:t>Campaigns that convert and analytics that guide</a:t>
            </a:r>
            <a:endParaRPr lang="en-US" sz="1000" dirty="0"/>
          </a:p>
        </p:txBody>
      </p:sp>
      <p:sp>
        <p:nvSpPr>
          <p:cNvPr id="36" name="Text 28"/>
          <p:cNvSpPr/>
          <p:nvPr/>
        </p:nvSpPr>
        <p:spPr>
          <a:xfrm>
            <a:off x="6217920" y="4343400"/>
            <a:ext cx="2423160" cy="201168"/>
          </a:xfrm>
          <a:prstGeom prst="rect">
            <a:avLst/>
          </a:prstGeom>
          <a:noFill/>
          <a:ln/>
        </p:spPr>
        <p:txBody>
          <a:bodyPr wrap="square" lIns="0" tIns="0" rIns="0" bIns="0" rtlCol="0" anchor="ctr"/>
          <a:lstStyle/>
          <a:p>
            <a:pPr marL="0" indent="0">
              <a:buNone/>
            </a:pPr>
            <a:r>
              <a:rPr lang="en-US" sz="1000" b="1" dirty="0">
                <a:solidFill>
                  <a:srgbClr val="F5C518"/>
                </a:solidFill>
                <a:latin typeface="Calibri" pitchFamily="34" charset="0"/>
                <a:ea typeface="Calibri" pitchFamily="34" charset="-122"/>
                <a:cs typeface="Calibri" pitchFamily="34" charset="-120"/>
              </a:rPr>
              <a:t>$300–$800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3200400" y="0"/>
            <a:ext cx="292608" cy="5143500"/>
          </a:xfrm>
          <a:prstGeom prst="rect">
            <a:avLst/>
          </a:prstGeom>
          <a:solidFill>
            <a:srgbClr val="F5C518"/>
          </a:solidFill>
          <a:ln w="12700">
            <a:solidFill>
              <a:srgbClr val="F5C518"/>
            </a:solidFill>
            <a:prstDash val="solid"/>
          </a:ln>
        </p:spPr>
        <p:txBody>
          <a:bodyPr/>
          <a:lstStyle/>
          <a:p>
            <a:endParaRPr lang="en-AU"/>
          </a:p>
        </p:txBody>
      </p:sp>
      <p:pic>
        <p:nvPicPr>
          <p:cNvPr id="4" name="Image 0" descr="preencoded.png"/>
          <p:cNvPicPr>
            <a:picLocks noChangeAspect="1"/>
          </p:cNvPicPr>
          <p:nvPr/>
        </p:nvPicPr>
        <p:blipFill>
          <a:blip r:embed="rId3"/>
          <a:stretch>
            <a:fillRect/>
          </a:stretch>
        </p:blipFill>
        <p:spPr>
          <a:xfrm>
            <a:off x="1325880" y="457200"/>
            <a:ext cx="822960" cy="822960"/>
          </a:xfrm>
          <a:prstGeom prst="rect">
            <a:avLst/>
          </a:prstGeom>
        </p:spPr>
      </p:pic>
      <p:sp>
        <p:nvSpPr>
          <p:cNvPr id="5" name="Text 2"/>
          <p:cNvSpPr/>
          <p:nvPr/>
        </p:nvSpPr>
        <p:spPr>
          <a:xfrm>
            <a:off x="274320" y="1417320"/>
            <a:ext cx="2834640" cy="9144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Web</a:t>
            </a:r>
            <a:endParaRPr lang="en-US" sz="2800" dirty="0"/>
          </a:p>
          <a:p>
            <a:pPr marL="0" indent="0" algn="ctr">
              <a:buNone/>
            </a:pPr>
            <a:r>
              <a:rPr lang="en-US" sz="2800" b="1" dirty="0">
                <a:solidFill>
                  <a:srgbClr val="FFFFFF"/>
                </a:solidFill>
                <a:latin typeface="Calibri" pitchFamily="34" charset="0"/>
                <a:ea typeface="Calibri" pitchFamily="34" charset="-122"/>
                <a:cs typeface="Calibri" pitchFamily="34" charset="-120"/>
              </a:rPr>
              <a:t>Design</a:t>
            </a:r>
            <a:endParaRPr lang="en-US" sz="2800" dirty="0"/>
          </a:p>
        </p:txBody>
      </p:sp>
      <p:sp>
        <p:nvSpPr>
          <p:cNvPr id="6" name="Text 3"/>
          <p:cNvSpPr/>
          <p:nvPr/>
        </p:nvSpPr>
        <p:spPr>
          <a:xfrm>
            <a:off x="274320" y="2377440"/>
            <a:ext cx="2834640" cy="640080"/>
          </a:xfrm>
          <a:prstGeom prst="rect">
            <a:avLst/>
          </a:prstGeom>
          <a:noFill/>
          <a:ln/>
        </p:spPr>
        <p:txBody>
          <a:bodyPr wrap="square" rtlCol="0" anchor="ctr"/>
          <a:lstStyle/>
          <a:p>
            <a:pPr marL="0" indent="0" algn="ctr">
              <a:buNone/>
            </a:pPr>
            <a:r>
              <a:rPr lang="en-US" sz="1200" dirty="0">
                <a:solidFill>
                  <a:srgbClr val="8C9DC0"/>
                </a:solidFill>
                <a:latin typeface="Calibri" pitchFamily="34" charset="0"/>
                <a:ea typeface="Calibri" pitchFamily="34" charset="-122"/>
                <a:cs typeface="Calibri" pitchFamily="34" charset="-120"/>
              </a:rPr>
              <a:t>Beautiful, responsive websites</a:t>
            </a:r>
            <a:endParaRPr lang="en-US" sz="1200" dirty="0"/>
          </a:p>
          <a:p>
            <a:pPr marL="0" indent="0" algn="ctr">
              <a:buNone/>
            </a:pPr>
            <a:r>
              <a:rPr lang="en-US" sz="1200" dirty="0">
                <a:solidFill>
                  <a:srgbClr val="8C9DC0"/>
                </a:solidFill>
                <a:latin typeface="Calibri" pitchFamily="34" charset="0"/>
                <a:ea typeface="Calibri" pitchFamily="34" charset="-122"/>
                <a:cs typeface="Calibri" pitchFamily="34" charset="-120"/>
              </a:rPr>
              <a:t>built for performance</a:t>
            </a:r>
            <a:endParaRPr lang="en-US" sz="1200" dirty="0"/>
          </a:p>
        </p:txBody>
      </p:sp>
      <p:sp>
        <p:nvSpPr>
          <p:cNvPr id="7" name="Text 4"/>
          <p:cNvSpPr/>
          <p:nvPr/>
        </p:nvSpPr>
        <p:spPr>
          <a:xfrm>
            <a:off x="274320" y="3200400"/>
            <a:ext cx="2834640" cy="274320"/>
          </a:xfrm>
          <a:prstGeom prst="rect">
            <a:avLst/>
          </a:prstGeom>
          <a:noFill/>
          <a:ln/>
        </p:spPr>
        <p:txBody>
          <a:bodyPr wrap="square" rtlCol="0" anchor="ctr"/>
          <a:lstStyle/>
          <a:p>
            <a:pPr marL="0" indent="0" algn="ctr">
              <a:buNone/>
            </a:pPr>
            <a:r>
              <a:rPr lang="en-US" sz="1100" dirty="0">
                <a:solidFill>
                  <a:srgbClr val="8C9DC0"/>
                </a:solidFill>
                <a:latin typeface="Calibri" pitchFamily="34" charset="0"/>
                <a:ea typeface="Calibri" pitchFamily="34" charset="-122"/>
                <a:cs typeface="Calibri" pitchFamily="34" charset="-120"/>
              </a:rPr>
              <a:t>Starting from</a:t>
            </a:r>
            <a:endParaRPr lang="en-US" sz="1100" dirty="0"/>
          </a:p>
        </p:txBody>
      </p:sp>
      <p:sp>
        <p:nvSpPr>
          <p:cNvPr id="8" name="Text 5"/>
          <p:cNvSpPr/>
          <p:nvPr/>
        </p:nvSpPr>
        <p:spPr>
          <a:xfrm>
            <a:off x="274320" y="3474720"/>
            <a:ext cx="2834640" cy="594360"/>
          </a:xfrm>
          <a:prstGeom prst="rect">
            <a:avLst/>
          </a:prstGeom>
          <a:noFill/>
          <a:ln/>
        </p:spPr>
        <p:txBody>
          <a:bodyPr wrap="square" rtlCol="0" anchor="ctr"/>
          <a:lstStyle/>
          <a:p>
            <a:pPr marL="0" indent="0" algn="ctr">
              <a:buNone/>
            </a:pPr>
            <a:r>
              <a:rPr lang="en-US" sz="4000" b="1" dirty="0">
                <a:solidFill>
                  <a:srgbClr val="F5C518"/>
                </a:solidFill>
                <a:latin typeface="Calibri" pitchFamily="34" charset="0"/>
                <a:ea typeface="Calibri" pitchFamily="34" charset="-122"/>
                <a:cs typeface="Calibri" pitchFamily="34" charset="-120"/>
              </a:rPr>
              <a:t>$800</a:t>
            </a:r>
            <a:endParaRPr lang="en-US" sz="4000" dirty="0"/>
          </a:p>
        </p:txBody>
      </p:sp>
      <p:sp>
        <p:nvSpPr>
          <p:cNvPr id="9" name="Text 6"/>
          <p:cNvSpPr/>
          <p:nvPr/>
        </p:nvSpPr>
        <p:spPr>
          <a:xfrm>
            <a:off x="3840480" y="320040"/>
            <a:ext cx="4846320" cy="457200"/>
          </a:xfrm>
          <a:prstGeom prst="rect">
            <a:avLst/>
          </a:prstGeom>
          <a:noFill/>
          <a:ln/>
        </p:spPr>
        <p:txBody>
          <a:bodyPr wrap="square" rtlCol="0" anchor="ctr"/>
          <a:lstStyle/>
          <a:p>
            <a:pPr marL="0" indent="0">
              <a:buNone/>
            </a:pPr>
            <a:r>
              <a:rPr lang="en-US" sz="2200" b="1" dirty="0">
                <a:solidFill>
                  <a:srgbClr val="1B3A6B"/>
                </a:solidFill>
                <a:latin typeface="Calibri" pitchFamily="34" charset="0"/>
                <a:ea typeface="Calibri" pitchFamily="34" charset="-122"/>
                <a:cs typeface="Calibri" pitchFamily="34" charset="-120"/>
              </a:rPr>
              <a:t>What's Included</a:t>
            </a:r>
            <a:endParaRPr lang="en-US" sz="2200" dirty="0"/>
          </a:p>
        </p:txBody>
      </p:sp>
      <p:sp>
        <p:nvSpPr>
          <p:cNvPr id="10" name="Shape 7"/>
          <p:cNvSpPr/>
          <p:nvPr/>
        </p:nvSpPr>
        <p:spPr>
          <a:xfrm>
            <a:off x="3840480" y="987552"/>
            <a:ext cx="228600" cy="228600"/>
          </a:xfrm>
          <a:prstGeom prst="ellipse">
            <a:avLst/>
          </a:prstGeom>
          <a:solidFill>
            <a:srgbClr val="F5C518"/>
          </a:solidFill>
          <a:ln w="12700">
            <a:solidFill>
              <a:srgbClr val="F5C518"/>
            </a:solidFill>
            <a:prstDash val="solid"/>
          </a:ln>
        </p:spPr>
        <p:txBody>
          <a:bodyPr/>
          <a:lstStyle/>
          <a:p>
            <a:endParaRPr lang="en-AU"/>
          </a:p>
        </p:txBody>
      </p:sp>
      <p:sp>
        <p:nvSpPr>
          <p:cNvPr id="11" name="Text 8"/>
          <p:cNvSpPr/>
          <p:nvPr/>
        </p:nvSpPr>
        <p:spPr>
          <a:xfrm>
            <a:off x="4160520" y="98755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Custom responsive design for all devices</a:t>
            </a:r>
            <a:endParaRPr lang="en-US" sz="1200" dirty="0"/>
          </a:p>
        </p:txBody>
      </p:sp>
      <p:sp>
        <p:nvSpPr>
          <p:cNvPr id="12" name="Shape 9"/>
          <p:cNvSpPr/>
          <p:nvPr/>
        </p:nvSpPr>
        <p:spPr>
          <a:xfrm>
            <a:off x="3840480" y="1536192"/>
            <a:ext cx="228600" cy="228600"/>
          </a:xfrm>
          <a:prstGeom prst="ellipse">
            <a:avLst/>
          </a:prstGeom>
          <a:solidFill>
            <a:srgbClr val="F5C518"/>
          </a:solidFill>
          <a:ln w="12700">
            <a:solidFill>
              <a:srgbClr val="F5C518"/>
            </a:solidFill>
            <a:prstDash val="solid"/>
          </a:ln>
        </p:spPr>
        <p:txBody>
          <a:bodyPr/>
          <a:lstStyle/>
          <a:p>
            <a:endParaRPr lang="en-AU"/>
          </a:p>
        </p:txBody>
      </p:sp>
      <p:sp>
        <p:nvSpPr>
          <p:cNvPr id="13" name="Text 10"/>
          <p:cNvSpPr/>
          <p:nvPr/>
        </p:nvSpPr>
        <p:spPr>
          <a:xfrm>
            <a:off x="4160520" y="153619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Up to 10 pages built to brand guidelines</a:t>
            </a:r>
            <a:endParaRPr lang="en-US" sz="1200" dirty="0"/>
          </a:p>
        </p:txBody>
      </p:sp>
      <p:sp>
        <p:nvSpPr>
          <p:cNvPr id="14" name="Shape 11"/>
          <p:cNvSpPr/>
          <p:nvPr/>
        </p:nvSpPr>
        <p:spPr>
          <a:xfrm>
            <a:off x="3840480" y="2084832"/>
            <a:ext cx="228600" cy="228600"/>
          </a:xfrm>
          <a:prstGeom prst="ellipse">
            <a:avLst/>
          </a:prstGeom>
          <a:solidFill>
            <a:srgbClr val="F5C518"/>
          </a:solidFill>
          <a:ln w="12700">
            <a:solidFill>
              <a:srgbClr val="F5C518"/>
            </a:solidFill>
            <a:prstDash val="solid"/>
          </a:ln>
        </p:spPr>
        <p:txBody>
          <a:bodyPr/>
          <a:lstStyle/>
          <a:p>
            <a:endParaRPr lang="en-AU"/>
          </a:p>
        </p:txBody>
      </p:sp>
      <p:sp>
        <p:nvSpPr>
          <p:cNvPr id="15" name="Text 12"/>
          <p:cNvSpPr/>
          <p:nvPr/>
        </p:nvSpPr>
        <p:spPr>
          <a:xfrm>
            <a:off x="4160520" y="208483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SEO-ready HTML structure &amp; meta tags</a:t>
            </a:r>
            <a:endParaRPr lang="en-US" sz="1200" dirty="0"/>
          </a:p>
        </p:txBody>
      </p:sp>
      <p:sp>
        <p:nvSpPr>
          <p:cNvPr id="16" name="Shape 13"/>
          <p:cNvSpPr/>
          <p:nvPr/>
        </p:nvSpPr>
        <p:spPr>
          <a:xfrm>
            <a:off x="3840480" y="2633472"/>
            <a:ext cx="228600" cy="228600"/>
          </a:xfrm>
          <a:prstGeom prst="ellipse">
            <a:avLst/>
          </a:prstGeom>
          <a:solidFill>
            <a:srgbClr val="F5C518"/>
          </a:solidFill>
          <a:ln w="12700">
            <a:solidFill>
              <a:srgbClr val="F5C518"/>
            </a:solidFill>
            <a:prstDash val="solid"/>
          </a:ln>
        </p:spPr>
        <p:txBody>
          <a:bodyPr/>
          <a:lstStyle/>
          <a:p>
            <a:endParaRPr lang="en-AU"/>
          </a:p>
        </p:txBody>
      </p:sp>
      <p:sp>
        <p:nvSpPr>
          <p:cNvPr id="17" name="Text 14"/>
          <p:cNvSpPr/>
          <p:nvPr/>
        </p:nvSpPr>
        <p:spPr>
          <a:xfrm>
            <a:off x="4160520" y="263347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Contact forms and CTA integration</a:t>
            </a:r>
            <a:endParaRPr lang="en-US" sz="1200" dirty="0"/>
          </a:p>
        </p:txBody>
      </p:sp>
      <p:sp>
        <p:nvSpPr>
          <p:cNvPr id="18" name="Shape 15"/>
          <p:cNvSpPr/>
          <p:nvPr/>
        </p:nvSpPr>
        <p:spPr>
          <a:xfrm>
            <a:off x="3840480" y="3182112"/>
            <a:ext cx="228600" cy="228600"/>
          </a:xfrm>
          <a:prstGeom prst="ellipse">
            <a:avLst/>
          </a:prstGeom>
          <a:solidFill>
            <a:srgbClr val="F5C518"/>
          </a:solidFill>
          <a:ln w="12700">
            <a:solidFill>
              <a:srgbClr val="F5C518"/>
            </a:solidFill>
            <a:prstDash val="solid"/>
          </a:ln>
        </p:spPr>
        <p:txBody>
          <a:bodyPr/>
          <a:lstStyle/>
          <a:p>
            <a:endParaRPr lang="en-AU"/>
          </a:p>
        </p:txBody>
      </p:sp>
      <p:sp>
        <p:nvSpPr>
          <p:cNvPr id="19" name="Text 16"/>
          <p:cNvSpPr/>
          <p:nvPr/>
        </p:nvSpPr>
        <p:spPr>
          <a:xfrm>
            <a:off x="4160520" y="318211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Google Analytics setup &amp; tracking</a:t>
            </a:r>
            <a:endParaRPr lang="en-US" sz="1200" dirty="0"/>
          </a:p>
        </p:txBody>
      </p:sp>
      <p:sp>
        <p:nvSpPr>
          <p:cNvPr id="20" name="Shape 17"/>
          <p:cNvSpPr/>
          <p:nvPr/>
        </p:nvSpPr>
        <p:spPr>
          <a:xfrm>
            <a:off x="3840480" y="3730752"/>
            <a:ext cx="228600" cy="228600"/>
          </a:xfrm>
          <a:prstGeom prst="ellipse">
            <a:avLst/>
          </a:prstGeom>
          <a:solidFill>
            <a:srgbClr val="F5C518"/>
          </a:solidFill>
          <a:ln w="12700">
            <a:solidFill>
              <a:srgbClr val="F5C518"/>
            </a:solidFill>
            <a:prstDash val="solid"/>
          </a:ln>
        </p:spPr>
        <p:txBody>
          <a:bodyPr/>
          <a:lstStyle/>
          <a:p>
            <a:endParaRPr lang="en-AU"/>
          </a:p>
        </p:txBody>
      </p:sp>
      <p:sp>
        <p:nvSpPr>
          <p:cNvPr id="21" name="Text 18"/>
          <p:cNvSpPr/>
          <p:nvPr/>
        </p:nvSpPr>
        <p:spPr>
          <a:xfrm>
            <a:off x="4160520" y="3730752"/>
            <a:ext cx="4572000" cy="274320"/>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30-day post-launch support included</a:t>
            </a:r>
            <a:endParaRPr lang="en-US" sz="1200" dirty="0"/>
          </a:p>
        </p:txBody>
      </p:sp>
      <p:sp>
        <p:nvSpPr>
          <p:cNvPr id="22" name="Shape 19"/>
          <p:cNvSpPr/>
          <p:nvPr/>
        </p:nvSpPr>
        <p:spPr>
          <a:xfrm>
            <a:off x="3840480" y="4343400"/>
            <a:ext cx="2011680" cy="457200"/>
          </a:xfrm>
          <a:prstGeom prst="rect">
            <a:avLst/>
          </a:prstGeom>
          <a:solidFill>
            <a:srgbClr val="F5C518"/>
          </a:solidFill>
          <a:ln w="12700">
            <a:solidFill>
              <a:srgbClr val="F5C518"/>
            </a:solidFill>
            <a:prstDash val="solid"/>
          </a:ln>
          <a:effectLst>
            <a:outerShdw blurRad="76200" dist="25400" dir="8100000" algn="bl" rotWithShape="0">
              <a:srgbClr val="000000">
                <a:alpha val="15000"/>
              </a:srgbClr>
            </a:outerShdw>
          </a:effectLst>
        </p:spPr>
        <p:txBody>
          <a:bodyPr/>
          <a:lstStyle/>
          <a:p>
            <a:endParaRPr lang="en-AU"/>
          </a:p>
        </p:txBody>
      </p:sp>
      <p:sp>
        <p:nvSpPr>
          <p:cNvPr id="23" name="Text 20"/>
          <p:cNvSpPr/>
          <p:nvPr/>
        </p:nvSpPr>
        <p:spPr>
          <a:xfrm>
            <a:off x="3840480" y="4343400"/>
            <a:ext cx="2011680" cy="457200"/>
          </a:xfrm>
          <a:prstGeom prst="rect">
            <a:avLst/>
          </a:prstGeom>
          <a:noFill/>
          <a:ln/>
        </p:spPr>
        <p:txBody>
          <a:bodyPr wrap="square" lIns="0" tIns="0" rIns="0" bIns="0" rtlCol="0" anchor="ctr"/>
          <a:lstStyle/>
          <a:p>
            <a:pPr marL="0" indent="0" algn="ctr">
              <a:buNone/>
            </a:pPr>
            <a:r>
              <a:rPr lang="en-US" sz="1300" b="1" dirty="0">
                <a:solidFill>
                  <a:srgbClr val="1B3A6B"/>
                </a:solidFill>
                <a:latin typeface="Calibri" pitchFamily="34" charset="0"/>
                <a:ea typeface="Calibri" pitchFamily="34" charset="-122"/>
                <a:cs typeface="Calibri" pitchFamily="34" charset="-120"/>
              </a:rPr>
              <a:t>Get a Quote →</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0" y="868680"/>
            <a:ext cx="9144000" cy="91440"/>
          </a:xfrm>
          <a:prstGeom prst="rect">
            <a:avLst/>
          </a:prstGeom>
          <a:solidFill>
            <a:srgbClr val="F5C518"/>
          </a:solidFill>
          <a:ln w="12700">
            <a:solidFill>
              <a:srgbClr val="F5C518"/>
            </a:solidFill>
            <a:prstDash val="solid"/>
          </a:ln>
        </p:spPr>
        <p:txBody>
          <a:bodyPr/>
          <a:lstStyle/>
          <a:p>
            <a:endParaRPr lang="en-AU"/>
          </a:p>
        </p:txBody>
      </p:sp>
      <p:sp>
        <p:nvSpPr>
          <p:cNvPr id="4" name="Text 2"/>
          <p:cNvSpPr/>
          <p:nvPr/>
        </p:nvSpPr>
        <p:spPr>
          <a:xfrm>
            <a:off x="457200" y="109728"/>
            <a:ext cx="8229600" cy="658368"/>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SEO &amp; </a:t>
            </a:r>
            <a:r>
              <a:rPr lang="en-US" sz="2800" b="1" dirty="0">
                <a:solidFill>
                  <a:srgbClr val="F5C518"/>
                </a:solidFill>
                <a:latin typeface="Calibri" pitchFamily="34" charset="0"/>
                <a:ea typeface="Calibri" pitchFamily="34" charset="-122"/>
                <a:cs typeface="Calibri" pitchFamily="34" charset="-120"/>
              </a:rPr>
              <a:t>Digital Marketing</a:t>
            </a:r>
            <a:endParaRPr lang="en-US" sz="2800" dirty="0"/>
          </a:p>
        </p:txBody>
      </p:sp>
      <p:graphicFrame>
        <p:nvGraphicFramePr>
          <p:cNvPr id="5" name="Chart 0"/>
          <p:cNvGraphicFramePr/>
          <p:nvPr/>
        </p:nvGraphicFramePr>
        <p:xfrm>
          <a:off x="365760" y="1143000"/>
          <a:ext cx="530352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5943600" y="1188720"/>
            <a:ext cx="2926080" cy="365760"/>
          </a:xfrm>
          <a:prstGeom prst="rect">
            <a:avLst/>
          </a:prstGeom>
          <a:noFill/>
          <a:ln/>
        </p:spPr>
        <p:txBody>
          <a:bodyPr wrap="square" rtlCol="0" anchor="ctr"/>
          <a:lstStyle/>
          <a:p>
            <a:pPr marL="0" indent="0">
              <a:buNone/>
            </a:pPr>
            <a:r>
              <a:rPr lang="en-US" sz="1600" b="1" dirty="0">
                <a:solidFill>
                  <a:srgbClr val="1B3A6B"/>
                </a:solidFill>
                <a:latin typeface="Calibri" pitchFamily="34" charset="0"/>
                <a:ea typeface="Calibri" pitchFamily="34" charset="-122"/>
                <a:cs typeface="Calibri" pitchFamily="34" charset="-120"/>
              </a:rPr>
              <a:t>Our SEO Approach</a:t>
            </a:r>
            <a:endParaRPr lang="en-US" sz="1600" dirty="0"/>
          </a:p>
        </p:txBody>
      </p:sp>
      <p:sp>
        <p:nvSpPr>
          <p:cNvPr id="7" name="Shape 4"/>
          <p:cNvSpPr/>
          <p:nvPr/>
        </p:nvSpPr>
        <p:spPr>
          <a:xfrm>
            <a:off x="5943600" y="1691640"/>
            <a:ext cx="2926080" cy="493776"/>
          </a:xfrm>
          <a:prstGeom prst="rect">
            <a:avLst/>
          </a:prstGeom>
          <a:solidFill>
            <a:srgbClr val="FFFFFF"/>
          </a:solidFill>
          <a:ln w="12700">
            <a:solidFill>
              <a:srgbClr val="E8EDF5"/>
            </a:solidFill>
            <a:prstDash val="solid"/>
          </a:ln>
          <a:effectLst>
            <a:outerShdw blurRad="50800" dist="25400" dir="8100000" algn="bl" rotWithShape="0">
              <a:srgbClr val="000000">
                <a:alpha val="6000"/>
              </a:srgbClr>
            </a:outerShdw>
          </a:effectLst>
        </p:spPr>
        <p:txBody>
          <a:bodyPr/>
          <a:lstStyle/>
          <a:p>
            <a:endParaRPr lang="en-AU"/>
          </a:p>
        </p:txBody>
      </p:sp>
      <p:pic>
        <p:nvPicPr>
          <p:cNvPr id="8" name="Image 0" descr="preencoded.png"/>
          <p:cNvPicPr>
            <a:picLocks noChangeAspect="1"/>
          </p:cNvPicPr>
          <p:nvPr/>
        </p:nvPicPr>
        <p:blipFill>
          <a:blip r:embed="rId4"/>
          <a:stretch>
            <a:fillRect/>
          </a:stretch>
        </p:blipFill>
        <p:spPr>
          <a:xfrm>
            <a:off x="6053328" y="1801368"/>
            <a:ext cx="256032" cy="256032"/>
          </a:xfrm>
          <a:prstGeom prst="rect">
            <a:avLst/>
          </a:prstGeom>
        </p:spPr>
      </p:pic>
      <p:sp>
        <p:nvSpPr>
          <p:cNvPr id="9" name="Text 5"/>
          <p:cNvSpPr/>
          <p:nvPr/>
        </p:nvSpPr>
        <p:spPr>
          <a:xfrm>
            <a:off x="6400800" y="1783080"/>
            <a:ext cx="2286000" cy="274320"/>
          </a:xfrm>
          <a:prstGeom prst="rect">
            <a:avLst/>
          </a:prstGeom>
          <a:noFill/>
          <a:ln/>
        </p:spPr>
        <p:txBody>
          <a:bodyPr wrap="square" lIns="0" tIns="0" rIns="0" bIns="0" rtlCol="0" anchor="ctr"/>
          <a:lstStyle/>
          <a:p>
            <a:pPr marL="0" indent="0">
              <a:buNone/>
            </a:pPr>
            <a:r>
              <a:rPr lang="en-US" sz="1150" dirty="0">
                <a:solidFill>
                  <a:srgbClr val="1B2B4B"/>
                </a:solidFill>
                <a:latin typeface="Calibri" pitchFamily="34" charset="0"/>
                <a:ea typeface="Calibri" pitchFamily="34" charset="-122"/>
                <a:cs typeface="Calibri" pitchFamily="34" charset="-120"/>
              </a:rPr>
              <a:t>Keyword Research &amp; Audit</a:t>
            </a:r>
            <a:endParaRPr lang="en-US" sz="1150" dirty="0"/>
          </a:p>
        </p:txBody>
      </p:sp>
      <p:sp>
        <p:nvSpPr>
          <p:cNvPr id="10" name="Shape 6"/>
          <p:cNvSpPr/>
          <p:nvPr/>
        </p:nvSpPr>
        <p:spPr>
          <a:xfrm>
            <a:off x="5943600" y="2286000"/>
            <a:ext cx="2926080" cy="493776"/>
          </a:xfrm>
          <a:prstGeom prst="rect">
            <a:avLst/>
          </a:prstGeom>
          <a:solidFill>
            <a:srgbClr val="FFFFFF"/>
          </a:solidFill>
          <a:ln w="12700">
            <a:solidFill>
              <a:srgbClr val="E8EDF5"/>
            </a:solidFill>
            <a:prstDash val="solid"/>
          </a:ln>
          <a:effectLst>
            <a:outerShdw blurRad="50800" dist="25400" dir="8100000" algn="bl" rotWithShape="0">
              <a:srgbClr val="000000">
                <a:alpha val="6000"/>
              </a:srgbClr>
            </a:outerShdw>
          </a:effectLst>
        </p:spPr>
        <p:txBody>
          <a:bodyPr/>
          <a:lstStyle/>
          <a:p>
            <a:endParaRPr lang="en-AU"/>
          </a:p>
        </p:txBody>
      </p:sp>
      <p:pic>
        <p:nvPicPr>
          <p:cNvPr id="11" name="Image 1" descr="preencoded.png"/>
          <p:cNvPicPr>
            <a:picLocks noChangeAspect="1"/>
          </p:cNvPicPr>
          <p:nvPr/>
        </p:nvPicPr>
        <p:blipFill>
          <a:blip r:embed="rId5"/>
          <a:stretch>
            <a:fillRect/>
          </a:stretch>
        </p:blipFill>
        <p:spPr>
          <a:xfrm>
            <a:off x="6053328" y="2395728"/>
            <a:ext cx="256032" cy="256032"/>
          </a:xfrm>
          <a:prstGeom prst="rect">
            <a:avLst/>
          </a:prstGeom>
        </p:spPr>
      </p:pic>
      <p:sp>
        <p:nvSpPr>
          <p:cNvPr id="12" name="Text 7"/>
          <p:cNvSpPr/>
          <p:nvPr/>
        </p:nvSpPr>
        <p:spPr>
          <a:xfrm>
            <a:off x="6400800" y="2377440"/>
            <a:ext cx="2286000" cy="274320"/>
          </a:xfrm>
          <a:prstGeom prst="rect">
            <a:avLst/>
          </a:prstGeom>
          <a:noFill/>
          <a:ln/>
        </p:spPr>
        <p:txBody>
          <a:bodyPr wrap="square" lIns="0" tIns="0" rIns="0" bIns="0" rtlCol="0" anchor="ctr"/>
          <a:lstStyle/>
          <a:p>
            <a:pPr marL="0" indent="0">
              <a:buNone/>
            </a:pPr>
            <a:r>
              <a:rPr lang="en-US" sz="1150" dirty="0">
                <a:solidFill>
                  <a:srgbClr val="1B2B4B"/>
                </a:solidFill>
                <a:latin typeface="Calibri" pitchFamily="34" charset="0"/>
                <a:ea typeface="Calibri" pitchFamily="34" charset="-122"/>
                <a:cs typeface="Calibri" pitchFamily="34" charset="-120"/>
              </a:rPr>
              <a:t>On-Page Optimisation</a:t>
            </a:r>
            <a:endParaRPr lang="en-US" sz="1150" dirty="0"/>
          </a:p>
        </p:txBody>
      </p:sp>
      <p:sp>
        <p:nvSpPr>
          <p:cNvPr id="13" name="Shape 8"/>
          <p:cNvSpPr/>
          <p:nvPr/>
        </p:nvSpPr>
        <p:spPr>
          <a:xfrm>
            <a:off x="5943600" y="2880360"/>
            <a:ext cx="2926080" cy="493776"/>
          </a:xfrm>
          <a:prstGeom prst="rect">
            <a:avLst/>
          </a:prstGeom>
          <a:solidFill>
            <a:srgbClr val="FFFFFF"/>
          </a:solidFill>
          <a:ln w="12700">
            <a:solidFill>
              <a:srgbClr val="E8EDF5"/>
            </a:solidFill>
            <a:prstDash val="solid"/>
          </a:ln>
          <a:effectLst>
            <a:outerShdw blurRad="50800" dist="25400" dir="8100000" algn="bl" rotWithShape="0">
              <a:srgbClr val="000000">
                <a:alpha val="6000"/>
              </a:srgbClr>
            </a:outerShdw>
          </a:effectLst>
        </p:spPr>
        <p:txBody>
          <a:bodyPr/>
          <a:lstStyle/>
          <a:p>
            <a:endParaRPr lang="en-AU"/>
          </a:p>
        </p:txBody>
      </p:sp>
      <p:pic>
        <p:nvPicPr>
          <p:cNvPr id="14" name="Image 2" descr="preencoded.png"/>
          <p:cNvPicPr>
            <a:picLocks noChangeAspect="1"/>
          </p:cNvPicPr>
          <p:nvPr/>
        </p:nvPicPr>
        <p:blipFill>
          <a:blip r:embed="rId6"/>
          <a:stretch>
            <a:fillRect/>
          </a:stretch>
        </p:blipFill>
        <p:spPr>
          <a:xfrm>
            <a:off x="6053328" y="2990088"/>
            <a:ext cx="256032" cy="256032"/>
          </a:xfrm>
          <a:prstGeom prst="rect">
            <a:avLst/>
          </a:prstGeom>
        </p:spPr>
      </p:pic>
      <p:sp>
        <p:nvSpPr>
          <p:cNvPr id="15" name="Text 9"/>
          <p:cNvSpPr/>
          <p:nvPr/>
        </p:nvSpPr>
        <p:spPr>
          <a:xfrm>
            <a:off x="6400800" y="2971800"/>
            <a:ext cx="2286000" cy="274320"/>
          </a:xfrm>
          <a:prstGeom prst="rect">
            <a:avLst/>
          </a:prstGeom>
          <a:noFill/>
          <a:ln/>
        </p:spPr>
        <p:txBody>
          <a:bodyPr wrap="square" lIns="0" tIns="0" rIns="0" bIns="0" rtlCol="0" anchor="ctr"/>
          <a:lstStyle/>
          <a:p>
            <a:pPr marL="0" indent="0">
              <a:buNone/>
            </a:pPr>
            <a:r>
              <a:rPr lang="en-US" sz="1150" dirty="0">
                <a:solidFill>
                  <a:srgbClr val="1B2B4B"/>
                </a:solidFill>
                <a:latin typeface="Calibri" pitchFamily="34" charset="0"/>
                <a:ea typeface="Calibri" pitchFamily="34" charset="-122"/>
                <a:cs typeface="Calibri" pitchFamily="34" charset="-120"/>
              </a:rPr>
              <a:t>Analytics &amp; Reporting</a:t>
            </a:r>
            <a:endParaRPr lang="en-US" sz="1150" dirty="0"/>
          </a:p>
        </p:txBody>
      </p:sp>
      <p:sp>
        <p:nvSpPr>
          <p:cNvPr id="16" name="Shape 10"/>
          <p:cNvSpPr/>
          <p:nvPr/>
        </p:nvSpPr>
        <p:spPr>
          <a:xfrm>
            <a:off x="5943600" y="3474720"/>
            <a:ext cx="2926080" cy="493776"/>
          </a:xfrm>
          <a:prstGeom prst="rect">
            <a:avLst/>
          </a:prstGeom>
          <a:solidFill>
            <a:srgbClr val="FFFFFF"/>
          </a:solidFill>
          <a:ln w="12700">
            <a:solidFill>
              <a:srgbClr val="E8EDF5"/>
            </a:solidFill>
            <a:prstDash val="solid"/>
          </a:ln>
          <a:effectLst>
            <a:outerShdw blurRad="50800" dist="25400" dir="8100000" algn="bl" rotWithShape="0">
              <a:srgbClr val="000000">
                <a:alpha val="6000"/>
              </a:srgbClr>
            </a:outerShdw>
          </a:effectLst>
        </p:spPr>
        <p:txBody>
          <a:bodyPr/>
          <a:lstStyle/>
          <a:p>
            <a:endParaRPr lang="en-AU"/>
          </a:p>
        </p:txBody>
      </p:sp>
      <p:pic>
        <p:nvPicPr>
          <p:cNvPr id="17" name="Image 3" descr="preencoded.png"/>
          <p:cNvPicPr>
            <a:picLocks noChangeAspect="1"/>
          </p:cNvPicPr>
          <p:nvPr/>
        </p:nvPicPr>
        <p:blipFill>
          <a:blip r:embed="rId7"/>
          <a:stretch>
            <a:fillRect/>
          </a:stretch>
        </p:blipFill>
        <p:spPr>
          <a:xfrm>
            <a:off x="6053328" y="3584448"/>
            <a:ext cx="256032" cy="256032"/>
          </a:xfrm>
          <a:prstGeom prst="rect">
            <a:avLst/>
          </a:prstGeom>
        </p:spPr>
      </p:pic>
      <p:sp>
        <p:nvSpPr>
          <p:cNvPr id="18" name="Text 11"/>
          <p:cNvSpPr/>
          <p:nvPr/>
        </p:nvSpPr>
        <p:spPr>
          <a:xfrm>
            <a:off x="6400800" y="3566160"/>
            <a:ext cx="2286000" cy="274320"/>
          </a:xfrm>
          <a:prstGeom prst="rect">
            <a:avLst/>
          </a:prstGeom>
          <a:noFill/>
          <a:ln/>
        </p:spPr>
        <p:txBody>
          <a:bodyPr wrap="square" lIns="0" tIns="0" rIns="0" bIns="0" rtlCol="0" anchor="ctr"/>
          <a:lstStyle/>
          <a:p>
            <a:pPr marL="0" indent="0">
              <a:buNone/>
            </a:pPr>
            <a:r>
              <a:rPr lang="en-US" sz="1150" dirty="0">
                <a:solidFill>
                  <a:srgbClr val="1B2B4B"/>
                </a:solidFill>
                <a:latin typeface="Calibri" pitchFamily="34" charset="0"/>
                <a:ea typeface="Calibri" pitchFamily="34" charset="-122"/>
                <a:cs typeface="Calibri" pitchFamily="34" charset="-120"/>
              </a:rPr>
              <a:t>Link Building Strategy</a:t>
            </a:r>
            <a:endParaRPr lang="en-US" sz="1150" dirty="0"/>
          </a:p>
        </p:txBody>
      </p:sp>
      <p:sp>
        <p:nvSpPr>
          <p:cNvPr id="19" name="Shape 12"/>
          <p:cNvSpPr/>
          <p:nvPr/>
        </p:nvSpPr>
        <p:spPr>
          <a:xfrm>
            <a:off x="5943600" y="4069080"/>
            <a:ext cx="2926080" cy="493776"/>
          </a:xfrm>
          <a:prstGeom prst="rect">
            <a:avLst/>
          </a:prstGeom>
          <a:solidFill>
            <a:srgbClr val="FFFFFF"/>
          </a:solidFill>
          <a:ln w="12700">
            <a:solidFill>
              <a:srgbClr val="E8EDF5"/>
            </a:solidFill>
            <a:prstDash val="solid"/>
          </a:ln>
          <a:effectLst>
            <a:outerShdw blurRad="50800" dist="25400" dir="8100000" algn="bl" rotWithShape="0">
              <a:srgbClr val="000000">
                <a:alpha val="6000"/>
              </a:srgbClr>
            </a:outerShdw>
          </a:effectLst>
        </p:spPr>
        <p:txBody>
          <a:bodyPr/>
          <a:lstStyle/>
          <a:p>
            <a:endParaRPr lang="en-AU"/>
          </a:p>
        </p:txBody>
      </p:sp>
      <p:pic>
        <p:nvPicPr>
          <p:cNvPr id="20" name="Image 4" descr="preencoded.png"/>
          <p:cNvPicPr>
            <a:picLocks noChangeAspect="1"/>
          </p:cNvPicPr>
          <p:nvPr/>
        </p:nvPicPr>
        <p:blipFill>
          <a:blip r:embed="rId8"/>
          <a:stretch>
            <a:fillRect/>
          </a:stretch>
        </p:blipFill>
        <p:spPr>
          <a:xfrm>
            <a:off x="6053328" y="4178808"/>
            <a:ext cx="256032" cy="256032"/>
          </a:xfrm>
          <a:prstGeom prst="rect">
            <a:avLst/>
          </a:prstGeom>
        </p:spPr>
      </p:pic>
      <p:sp>
        <p:nvSpPr>
          <p:cNvPr id="21" name="Text 13"/>
          <p:cNvSpPr/>
          <p:nvPr/>
        </p:nvSpPr>
        <p:spPr>
          <a:xfrm>
            <a:off x="6400800" y="4160520"/>
            <a:ext cx="2286000" cy="274320"/>
          </a:xfrm>
          <a:prstGeom prst="rect">
            <a:avLst/>
          </a:prstGeom>
          <a:noFill/>
          <a:ln/>
        </p:spPr>
        <p:txBody>
          <a:bodyPr wrap="square" lIns="0" tIns="0" rIns="0" bIns="0" rtlCol="0" anchor="ctr"/>
          <a:lstStyle/>
          <a:p>
            <a:pPr marL="0" indent="0">
              <a:buNone/>
            </a:pPr>
            <a:r>
              <a:rPr lang="en-US" sz="1150" dirty="0">
                <a:solidFill>
                  <a:srgbClr val="1B2B4B"/>
                </a:solidFill>
                <a:latin typeface="Calibri" pitchFamily="34" charset="0"/>
                <a:ea typeface="Calibri" pitchFamily="34" charset="-122"/>
                <a:cs typeface="Calibri" pitchFamily="34" charset="-120"/>
              </a:rPr>
              <a:t>Content Marketing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669280" y="-914400"/>
            <a:ext cx="5029200" cy="5029200"/>
          </a:xfrm>
          <a:prstGeom prst="ellipse">
            <a:avLst/>
          </a:prstGeom>
          <a:solidFill>
            <a:srgbClr val="F5C518">
              <a:alpha val="12000"/>
            </a:srgbClr>
          </a:solidFill>
          <a:ln w="12700">
            <a:solidFill>
              <a:srgbClr val="F5C518"/>
            </a:solidFill>
            <a:prstDash val="solid"/>
          </a:ln>
        </p:spPr>
        <p:txBody>
          <a:bodyPr/>
          <a:lstStyle/>
          <a:p>
            <a:endParaRPr lang="en-AU"/>
          </a:p>
        </p:txBody>
      </p:sp>
      <p:sp>
        <p:nvSpPr>
          <p:cNvPr id="3" name="Text 1"/>
          <p:cNvSpPr/>
          <p:nvPr/>
        </p:nvSpPr>
        <p:spPr>
          <a:xfrm>
            <a:off x="457200" y="274320"/>
            <a:ext cx="5486400" cy="640080"/>
          </a:xfrm>
          <a:prstGeom prst="rect">
            <a:avLst/>
          </a:prstGeom>
          <a:noFill/>
          <a:ln/>
        </p:spPr>
        <p:txBody>
          <a:bodyPr wrap="square" rtlCol="0" anchor="ctr"/>
          <a:lstStyle/>
          <a:p>
            <a:pPr marL="0" indent="0">
              <a:buNone/>
            </a:pPr>
            <a:r>
              <a:rPr lang="en-US" sz="3400" b="1" dirty="0">
                <a:solidFill>
                  <a:srgbClr val="1B3A6B"/>
                </a:solidFill>
                <a:latin typeface="Calibri" pitchFamily="34" charset="0"/>
                <a:ea typeface="Calibri" pitchFamily="34" charset="-122"/>
                <a:cs typeface="Calibri" pitchFamily="34" charset="-120"/>
              </a:rPr>
              <a:t>Why Choose </a:t>
            </a:r>
            <a:r>
              <a:rPr lang="en-US" sz="3400" b="1" dirty="0">
                <a:solidFill>
                  <a:srgbClr val="F5C518"/>
                </a:solidFill>
                <a:latin typeface="Calibri" pitchFamily="34" charset="0"/>
                <a:ea typeface="Calibri" pitchFamily="34" charset="-122"/>
                <a:cs typeface="Calibri" pitchFamily="34" charset="-120"/>
              </a:rPr>
              <a:t>Us?</a:t>
            </a:r>
            <a:endParaRPr lang="en-US" sz="3400" dirty="0"/>
          </a:p>
        </p:txBody>
      </p:sp>
      <p:sp>
        <p:nvSpPr>
          <p:cNvPr id="4" name="Text 2"/>
          <p:cNvSpPr/>
          <p:nvPr/>
        </p:nvSpPr>
        <p:spPr>
          <a:xfrm>
            <a:off x="457200" y="914400"/>
            <a:ext cx="4572000" cy="320040"/>
          </a:xfrm>
          <a:prstGeom prst="rect">
            <a:avLst/>
          </a:prstGeom>
          <a:noFill/>
          <a:ln/>
        </p:spPr>
        <p:txBody>
          <a:bodyPr wrap="square" rtlCol="0" anchor="ctr"/>
          <a:lstStyle/>
          <a:p>
            <a:pPr marL="0" indent="0">
              <a:buNone/>
            </a:pPr>
            <a:r>
              <a:rPr lang="en-US" sz="1300" dirty="0">
                <a:solidFill>
                  <a:srgbClr val="4A5568"/>
                </a:solidFill>
                <a:latin typeface="Calibri" pitchFamily="34" charset="0"/>
                <a:ea typeface="Calibri" pitchFamily="34" charset="-122"/>
                <a:cs typeface="Calibri" pitchFamily="34" charset="-120"/>
              </a:rPr>
              <a:t>What sets NextGen Web Works apart</a:t>
            </a:r>
            <a:endParaRPr lang="en-US" sz="1300" dirty="0"/>
          </a:p>
        </p:txBody>
      </p:sp>
      <p:sp>
        <p:nvSpPr>
          <p:cNvPr id="5" name="Shape 3"/>
          <p:cNvSpPr/>
          <p:nvPr/>
        </p:nvSpPr>
        <p:spPr>
          <a:xfrm>
            <a:off x="365760" y="1417320"/>
            <a:ext cx="4114800" cy="1051560"/>
          </a:xfrm>
          <a:prstGeom prst="rect">
            <a:avLst/>
          </a:prstGeom>
          <a:solidFill>
            <a:srgbClr val="F5F7FA"/>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6" name="Image 0" descr="preencoded.png"/>
          <p:cNvPicPr>
            <a:picLocks noChangeAspect="1"/>
          </p:cNvPicPr>
          <p:nvPr/>
        </p:nvPicPr>
        <p:blipFill>
          <a:blip r:embed="rId3"/>
          <a:stretch>
            <a:fillRect/>
          </a:stretch>
        </p:blipFill>
        <p:spPr>
          <a:xfrm>
            <a:off x="530352" y="1618488"/>
            <a:ext cx="411480" cy="411480"/>
          </a:xfrm>
          <a:prstGeom prst="rect">
            <a:avLst/>
          </a:prstGeom>
        </p:spPr>
      </p:pic>
      <p:sp>
        <p:nvSpPr>
          <p:cNvPr id="7" name="Text 4"/>
          <p:cNvSpPr/>
          <p:nvPr/>
        </p:nvSpPr>
        <p:spPr>
          <a:xfrm>
            <a:off x="1051560" y="1508760"/>
            <a:ext cx="3246120" cy="347472"/>
          </a:xfrm>
          <a:prstGeom prst="rect">
            <a:avLst/>
          </a:prstGeom>
          <a:noFill/>
          <a:ln/>
        </p:spPr>
        <p:txBody>
          <a:bodyPr wrap="square" lIns="0" tIns="0" rIns="0" bIns="0" rtlCol="0" anchor="ctr"/>
          <a:lstStyle/>
          <a:p>
            <a:pPr marL="0" indent="0">
              <a:buNone/>
            </a:pPr>
            <a:r>
              <a:rPr lang="en-US" sz="1300" b="1" dirty="0">
                <a:solidFill>
                  <a:srgbClr val="1B3A6B"/>
                </a:solidFill>
                <a:latin typeface="Calibri" pitchFamily="34" charset="0"/>
                <a:ea typeface="Calibri" pitchFamily="34" charset="-122"/>
                <a:cs typeface="Calibri" pitchFamily="34" charset="-120"/>
              </a:rPr>
              <a:t>Award-Winning Design</a:t>
            </a:r>
            <a:endParaRPr lang="en-US" sz="1300" dirty="0"/>
          </a:p>
        </p:txBody>
      </p:sp>
      <p:sp>
        <p:nvSpPr>
          <p:cNvPr id="8" name="Text 5"/>
          <p:cNvSpPr/>
          <p:nvPr/>
        </p:nvSpPr>
        <p:spPr>
          <a:xfrm>
            <a:off x="1051560" y="1874520"/>
            <a:ext cx="3246120" cy="502920"/>
          </a:xfrm>
          <a:prstGeom prst="rect">
            <a:avLst/>
          </a:prstGeom>
          <a:noFill/>
          <a:ln/>
        </p:spPr>
        <p:txBody>
          <a:bodyPr wrap="square" rtlCol="0" anchor="ctr"/>
          <a:lstStyle/>
          <a:p>
            <a:pPr marL="0" indent="0">
              <a:buNone/>
            </a:pPr>
            <a:r>
              <a:rPr lang="en-US" sz="1050" dirty="0">
                <a:solidFill>
                  <a:srgbClr val="4A5568"/>
                </a:solidFill>
                <a:latin typeface="Calibri" pitchFamily="34" charset="0"/>
                <a:ea typeface="Calibri" pitchFamily="34" charset="-122"/>
                <a:cs typeface="Calibri" pitchFamily="34" charset="-120"/>
              </a:rPr>
              <a:t>Internationally recognised creative standards that elevate brands.</a:t>
            </a:r>
            <a:endParaRPr lang="en-US" sz="1050" dirty="0"/>
          </a:p>
        </p:txBody>
      </p:sp>
      <p:sp>
        <p:nvSpPr>
          <p:cNvPr id="9" name="Shape 6"/>
          <p:cNvSpPr/>
          <p:nvPr/>
        </p:nvSpPr>
        <p:spPr>
          <a:xfrm>
            <a:off x="4846320" y="1417320"/>
            <a:ext cx="4114800" cy="1051560"/>
          </a:xfrm>
          <a:prstGeom prst="rect">
            <a:avLst/>
          </a:prstGeom>
          <a:solidFill>
            <a:srgbClr val="F5F7FA"/>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10" name="Image 1" descr="preencoded.png"/>
          <p:cNvPicPr>
            <a:picLocks noChangeAspect="1"/>
          </p:cNvPicPr>
          <p:nvPr/>
        </p:nvPicPr>
        <p:blipFill>
          <a:blip r:embed="rId4"/>
          <a:stretch>
            <a:fillRect/>
          </a:stretch>
        </p:blipFill>
        <p:spPr>
          <a:xfrm>
            <a:off x="5010912" y="1618488"/>
            <a:ext cx="411480" cy="411480"/>
          </a:xfrm>
          <a:prstGeom prst="rect">
            <a:avLst/>
          </a:prstGeom>
        </p:spPr>
      </p:pic>
      <p:sp>
        <p:nvSpPr>
          <p:cNvPr id="11" name="Text 7"/>
          <p:cNvSpPr/>
          <p:nvPr/>
        </p:nvSpPr>
        <p:spPr>
          <a:xfrm>
            <a:off x="5532120" y="1508760"/>
            <a:ext cx="3246120" cy="347472"/>
          </a:xfrm>
          <a:prstGeom prst="rect">
            <a:avLst/>
          </a:prstGeom>
          <a:noFill/>
          <a:ln/>
        </p:spPr>
        <p:txBody>
          <a:bodyPr wrap="square" lIns="0" tIns="0" rIns="0" bIns="0" rtlCol="0" anchor="ctr"/>
          <a:lstStyle/>
          <a:p>
            <a:pPr marL="0" indent="0">
              <a:buNone/>
            </a:pPr>
            <a:r>
              <a:rPr lang="en-US" sz="1300" b="1" dirty="0">
                <a:solidFill>
                  <a:srgbClr val="1B3A6B"/>
                </a:solidFill>
                <a:latin typeface="Calibri" pitchFamily="34" charset="0"/>
                <a:ea typeface="Calibri" pitchFamily="34" charset="-122"/>
                <a:cs typeface="Calibri" pitchFamily="34" charset="-120"/>
              </a:rPr>
              <a:t>Fast Turnaround</a:t>
            </a:r>
            <a:endParaRPr lang="en-US" sz="1300" dirty="0"/>
          </a:p>
        </p:txBody>
      </p:sp>
      <p:sp>
        <p:nvSpPr>
          <p:cNvPr id="12" name="Text 8"/>
          <p:cNvSpPr/>
          <p:nvPr/>
        </p:nvSpPr>
        <p:spPr>
          <a:xfrm>
            <a:off x="5532120" y="1874520"/>
            <a:ext cx="3246120" cy="502920"/>
          </a:xfrm>
          <a:prstGeom prst="rect">
            <a:avLst/>
          </a:prstGeom>
          <a:noFill/>
          <a:ln/>
        </p:spPr>
        <p:txBody>
          <a:bodyPr wrap="square" rtlCol="0" anchor="ctr"/>
          <a:lstStyle/>
          <a:p>
            <a:pPr marL="0" indent="0">
              <a:buNone/>
            </a:pPr>
            <a:r>
              <a:rPr lang="en-US" sz="1050" dirty="0">
                <a:solidFill>
                  <a:srgbClr val="4A5568"/>
                </a:solidFill>
                <a:latin typeface="Calibri" pitchFamily="34" charset="0"/>
                <a:ea typeface="Calibri" pitchFamily="34" charset="-122"/>
                <a:cs typeface="Calibri" pitchFamily="34" charset="-120"/>
              </a:rPr>
              <a:t>Project delivery within agreed timelines, always.</a:t>
            </a:r>
            <a:endParaRPr lang="en-US" sz="1050" dirty="0"/>
          </a:p>
        </p:txBody>
      </p:sp>
      <p:sp>
        <p:nvSpPr>
          <p:cNvPr id="13" name="Shape 9"/>
          <p:cNvSpPr/>
          <p:nvPr/>
        </p:nvSpPr>
        <p:spPr>
          <a:xfrm>
            <a:off x="365760" y="2606040"/>
            <a:ext cx="4114800" cy="1051560"/>
          </a:xfrm>
          <a:prstGeom prst="rect">
            <a:avLst/>
          </a:prstGeom>
          <a:solidFill>
            <a:srgbClr val="1B3A6B"/>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14" name="Image 2" descr="preencoded.png"/>
          <p:cNvPicPr>
            <a:picLocks noChangeAspect="1"/>
          </p:cNvPicPr>
          <p:nvPr/>
        </p:nvPicPr>
        <p:blipFill>
          <a:blip r:embed="rId4"/>
          <a:stretch>
            <a:fillRect/>
          </a:stretch>
        </p:blipFill>
        <p:spPr>
          <a:xfrm>
            <a:off x="530352" y="2807208"/>
            <a:ext cx="411480" cy="411480"/>
          </a:xfrm>
          <a:prstGeom prst="rect">
            <a:avLst/>
          </a:prstGeom>
        </p:spPr>
      </p:pic>
      <p:sp>
        <p:nvSpPr>
          <p:cNvPr id="15" name="Text 10"/>
          <p:cNvSpPr/>
          <p:nvPr/>
        </p:nvSpPr>
        <p:spPr>
          <a:xfrm>
            <a:off x="1051560" y="2697480"/>
            <a:ext cx="3246120" cy="347472"/>
          </a:xfrm>
          <a:prstGeom prst="rect">
            <a:avLst/>
          </a:prstGeom>
          <a:noFill/>
          <a:ln/>
        </p:spPr>
        <p:txBody>
          <a:bodyPr wrap="square" lIns="0" tIns="0" rIns="0" bIns="0" rtlCol="0" anchor="ctr"/>
          <a:lstStyle/>
          <a:p>
            <a:pPr marL="0" indent="0">
              <a:buNone/>
            </a:pPr>
            <a:r>
              <a:rPr lang="en-US" sz="1300" b="1" dirty="0">
                <a:solidFill>
                  <a:srgbClr val="F5C518"/>
                </a:solidFill>
                <a:latin typeface="Calibri" pitchFamily="34" charset="0"/>
                <a:ea typeface="Calibri" pitchFamily="34" charset="-122"/>
                <a:cs typeface="Calibri" pitchFamily="34" charset="-120"/>
              </a:rPr>
              <a:t>Secure &amp; Reliable</a:t>
            </a:r>
            <a:endParaRPr lang="en-US" sz="1300" dirty="0"/>
          </a:p>
        </p:txBody>
      </p:sp>
      <p:sp>
        <p:nvSpPr>
          <p:cNvPr id="16" name="Text 11"/>
          <p:cNvSpPr/>
          <p:nvPr/>
        </p:nvSpPr>
        <p:spPr>
          <a:xfrm>
            <a:off x="1051560" y="3063240"/>
            <a:ext cx="3246120" cy="502920"/>
          </a:xfrm>
          <a:prstGeom prst="rect">
            <a:avLst/>
          </a:prstGeom>
          <a:noFill/>
          <a:ln/>
        </p:spPr>
        <p:txBody>
          <a:bodyPr wrap="square" rtlCol="0" anchor="ctr"/>
          <a:lstStyle/>
          <a:p>
            <a:pPr marL="0" indent="0">
              <a:buNone/>
            </a:pPr>
            <a:r>
              <a:rPr lang="en-US" sz="1050" dirty="0">
                <a:solidFill>
                  <a:srgbClr val="8C9DC0"/>
                </a:solidFill>
                <a:latin typeface="Calibri" pitchFamily="34" charset="0"/>
                <a:ea typeface="Calibri" pitchFamily="34" charset="-122"/>
                <a:cs typeface="Calibri" pitchFamily="34" charset="-120"/>
              </a:rPr>
              <a:t>SSL, hosting, and security best practices built in.</a:t>
            </a:r>
            <a:endParaRPr lang="en-US" sz="1050" dirty="0"/>
          </a:p>
        </p:txBody>
      </p:sp>
      <p:sp>
        <p:nvSpPr>
          <p:cNvPr id="17" name="Shape 12"/>
          <p:cNvSpPr/>
          <p:nvPr/>
        </p:nvSpPr>
        <p:spPr>
          <a:xfrm>
            <a:off x="4846320" y="2606040"/>
            <a:ext cx="4114800" cy="1051560"/>
          </a:xfrm>
          <a:prstGeom prst="rect">
            <a:avLst/>
          </a:prstGeom>
          <a:solidFill>
            <a:srgbClr val="F5F7FA"/>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18" name="Image 3" descr="preencoded.png"/>
          <p:cNvPicPr>
            <a:picLocks noChangeAspect="1"/>
          </p:cNvPicPr>
          <p:nvPr/>
        </p:nvPicPr>
        <p:blipFill>
          <a:blip r:embed="rId5"/>
          <a:stretch>
            <a:fillRect/>
          </a:stretch>
        </p:blipFill>
        <p:spPr>
          <a:xfrm>
            <a:off x="5010912" y="2807208"/>
            <a:ext cx="411480" cy="411480"/>
          </a:xfrm>
          <a:prstGeom prst="rect">
            <a:avLst/>
          </a:prstGeom>
        </p:spPr>
      </p:pic>
      <p:sp>
        <p:nvSpPr>
          <p:cNvPr id="19" name="Text 13"/>
          <p:cNvSpPr/>
          <p:nvPr/>
        </p:nvSpPr>
        <p:spPr>
          <a:xfrm>
            <a:off x="5532120" y="2697480"/>
            <a:ext cx="3246120" cy="347472"/>
          </a:xfrm>
          <a:prstGeom prst="rect">
            <a:avLst/>
          </a:prstGeom>
          <a:noFill/>
          <a:ln/>
        </p:spPr>
        <p:txBody>
          <a:bodyPr wrap="square" lIns="0" tIns="0" rIns="0" bIns="0" rtlCol="0" anchor="ctr"/>
          <a:lstStyle/>
          <a:p>
            <a:pPr marL="0" indent="0">
              <a:buNone/>
            </a:pPr>
            <a:r>
              <a:rPr lang="en-US" sz="1300" b="1" dirty="0">
                <a:solidFill>
                  <a:srgbClr val="1B3A6B"/>
                </a:solidFill>
                <a:latin typeface="Calibri" pitchFamily="34" charset="0"/>
                <a:ea typeface="Calibri" pitchFamily="34" charset="-122"/>
                <a:cs typeface="Calibri" pitchFamily="34" charset="-120"/>
              </a:rPr>
              <a:t>Dedicated Support</a:t>
            </a:r>
            <a:endParaRPr lang="en-US" sz="1300" dirty="0"/>
          </a:p>
        </p:txBody>
      </p:sp>
      <p:sp>
        <p:nvSpPr>
          <p:cNvPr id="20" name="Text 14"/>
          <p:cNvSpPr/>
          <p:nvPr/>
        </p:nvSpPr>
        <p:spPr>
          <a:xfrm>
            <a:off x="5532120" y="3063240"/>
            <a:ext cx="3246120" cy="502920"/>
          </a:xfrm>
          <a:prstGeom prst="rect">
            <a:avLst/>
          </a:prstGeom>
          <a:noFill/>
          <a:ln/>
        </p:spPr>
        <p:txBody>
          <a:bodyPr wrap="square" rtlCol="0" anchor="ctr"/>
          <a:lstStyle/>
          <a:p>
            <a:pPr marL="0" indent="0">
              <a:buNone/>
            </a:pPr>
            <a:r>
              <a:rPr lang="en-US" sz="1050" dirty="0">
                <a:solidFill>
                  <a:srgbClr val="4A5568"/>
                </a:solidFill>
                <a:latin typeface="Calibri" pitchFamily="34" charset="0"/>
                <a:ea typeface="Calibri" pitchFamily="34" charset="-122"/>
                <a:cs typeface="Calibri" pitchFamily="34" charset="-120"/>
              </a:rPr>
              <a:t>Personalised service from a real team that knows your business.</a:t>
            </a:r>
            <a:endParaRPr lang="en-US" sz="1050" dirty="0"/>
          </a:p>
        </p:txBody>
      </p:sp>
      <p:sp>
        <p:nvSpPr>
          <p:cNvPr id="21" name="Shape 15"/>
          <p:cNvSpPr/>
          <p:nvPr/>
        </p:nvSpPr>
        <p:spPr>
          <a:xfrm>
            <a:off x="365760" y="3794760"/>
            <a:ext cx="4114800" cy="1051560"/>
          </a:xfrm>
          <a:prstGeom prst="rect">
            <a:avLst/>
          </a:prstGeom>
          <a:solidFill>
            <a:srgbClr val="F5F7FA"/>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22" name="Image 4" descr="preencoded.png"/>
          <p:cNvPicPr>
            <a:picLocks noChangeAspect="1"/>
          </p:cNvPicPr>
          <p:nvPr/>
        </p:nvPicPr>
        <p:blipFill>
          <a:blip r:embed="rId6"/>
          <a:stretch>
            <a:fillRect/>
          </a:stretch>
        </p:blipFill>
        <p:spPr>
          <a:xfrm>
            <a:off x="530352" y="3995928"/>
            <a:ext cx="411480" cy="411480"/>
          </a:xfrm>
          <a:prstGeom prst="rect">
            <a:avLst/>
          </a:prstGeom>
        </p:spPr>
      </p:pic>
      <p:sp>
        <p:nvSpPr>
          <p:cNvPr id="23" name="Text 16"/>
          <p:cNvSpPr/>
          <p:nvPr/>
        </p:nvSpPr>
        <p:spPr>
          <a:xfrm>
            <a:off x="1051560" y="3886200"/>
            <a:ext cx="3246120" cy="347472"/>
          </a:xfrm>
          <a:prstGeom prst="rect">
            <a:avLst/>
          </a:prstGeom>
          <a:noFill/>
          <a:ln/>
        </p:spPr>
        <p:txBody>
          <a:bodyPr wrap="square" lIns="0" tIns="0" rIns="0" bIns="0" rtlCol="0" anchor="ctr"/>
          <a:lstStyle/>
          <a:p>
            <a:pPr marL="0" indent="0">
              <a:buNone/>
            </a:pPr>
            <a:r>
              <a:rPr lang="en-US" sz="1300" b="1" dirty="0">
                <a:solidFill>
                  <a:srgbClr val="1B3A6B"/>
                </a:solidFill>
                <a:latin typeface="Calibri" pitchFamily="34" charset="0"/>
                <a:ea typeface="Calibri" pitchFamily="34" charset="-122"/>
                <a:cs typeface="Calibri" pitchFamily="34" charset="-120"/>
              </a:rPr>
              <a:t>Data-Driven Results</a:t>
            </a:r>
            <a:endParaRPr lang="en-US" sz="1300" dirty="0"/>
          </a:p>
        </p:txBody>
      </p:sp>
      <p:sp>
        <p:nvSpPr>
          <p:cNvPr id="24" name="Text 17"/>
          <p:cNvSpPr/>
          <p:nvPr/>
        </p:nvSpPr>
        <p:spPr>
          <a:xfrm>
            <a:off x="1051560" y="4251960"/>
            <a:ext cx="3246120" cy="502920"/>
          </a:xfrm>
          <a:prstGeom prst="rect">
            <a:avLst/>
          </a:prstGeom>
          <a:noFill/>
          <a:ln/>
        </p:spPr>
        <p:txBody>
          <a:bodyPr wrap="square" rtlCol="0" anchor="ctr"/>
          <a:lstStyle/>
          <a:p>
            <a:pPr marL="0" indent="0">
              <a:buNone/>
            </a:pPr>
            <a:r>
              <a:rPr lang="en-US" sz="1050" dirty="0">
                <a:solidFill>
                  <a:srgbClr val="4A5568"/>
                </a:solidFill>
                <a:latin typeface="Calibri" pitchFamily="34" charset="0"/>
                <a:ea typeface="Calibri" pitchFamily="34" charset="-122"/>
                <a:cs typeface="Calibri" pitchFamily="34" charset="-120"/>
              </a:rPr>
              <a:t>Every decision backed by analytics and measurable outcomes.</a:t>
            </a:r>
            <a:endParaRPr lang="en-US" sz="1050" dirty="0"/>
          </a:p>
        </p:txBody>
      </p:sp>
      <p:sp>
        <p:nvSpPr>
          <p:cNvPr id="25" name="Shape 18"/>
          <p:cNvSpPr/>
          <p:nvPr/>
        </p:nvSpPr>
        <p:spPr>
          <a:xfrm>
            <a:off x="4846320" y="3794760"/>
            <a:ext cx="4114800" cy="1051560"/>
          </a:xfrm>
          <a:prstGeom prst="rect">
            <a:avLst/>
          </a:prstGeom>
          <a:solidFill>
            <a:srgbClr val="F5F7FA"/>
          </a:solidFill>
          <a:ln w="12700">
            <a:solidFill>
              <a:srgbClr val="E8EDF5"/>
            </a:solidFill>
            <a:prstDash val="solid"/>
          </a:ln>
          <a:effectLst>
            <a:outerShdw blurRad="63500" dist="25400" dir="8100000" algn="bl" rotWithShape="0">
              <a:srgbClr val="000000">
                <a:alpha val="8000"/>
              </a:srgbClr>
            </a:outerShdw>
          </a:effectLst>
        </p:spPr>
        <p:txBody>
          <a:bodyPr/>
          <a:lstStyle/>
          <a:p>
            <a:endParaRPr lang="en-AU"/>
          </a:p>
        </p:txBody>
      </p:sp>
      <p:pic>
        <p:nvPicPr>
          <p:cNvPr id="26" name="Image 5" descr="preencoded.png"/>
          <p:cNvPicPr>
            <a:picLocks noChangeAspect="1"/>
          </p:cNvPicPr>
          <p:nvPr/>
        </p:nvPicPr>
        <p:blipFill>
          <a:blip r:embed="rId7"/>
          <a:stretch>
            <a:fillRect/>
          </a:stretch>
        </p:blipFill>
        <p:spPr>
          <a:xfrm>
            <a:off x="5010912" y="3995928"/>
            <a:ext cx="411480" cy="411480"/>
          </a:xfrm>
          <a:prstGeom prst="rect">
            <a:avLst/>
          </a:prstGeom>
        </p:spPr>
      </p:pic>
      <p:sp>
        <p:nvSpPr>
          <p:cNvPr id="27" name="Text 19"/>
          <p:cNvSpPr/>
          <p:nvPr/>
        </p:nvSpPr>
        <p:spPr>
          <a:xfrm>
            <a:off x="5532120" y="3886200"/>
            <a:ext cx="3246120" cy="347472"/>
          </a:xfrm>
          <a:prstGeom prst="rect">
            <a:avLst/>
          </a:prstGeom>
          <a:noFill/>
          <a:ln/>
        </p:spPr>
        <p:txBody>
          <a:bodyPr wrap="square" lIns="0" tIns="0" rIns="0" bIns="0" rtlCol="0" anchor="ctr"/>
          <a:lstStyle/>
          <a:p>
            <a:pPr marL="0" indent="0">
              <a:buNone/>
            </a:pPr>
            <a:r>
              <a:rPr lang="en-US" sz="1300" b="1" dirty="0">
                <a:solidFill>
                  <a:srgbClr val="1B3A6B"/>
                </a:solidFill>
                <a:latin typeface="Calibri" pitchFamily="34" charset="0"/>
                <a:ea typeface="Calibri" pitchFamily="34" charset="-122"/>
                <a:cs typeface="Calibri" pitchFamily="34" charset="-120"/>
              </a:rPr>
              <a:t>Collaborative Process</a:t>
            </a:r>
            <a:endParaRPr lang="en-US" sz="1300" dirty="0"/>
          </a:p>
        </p:txBody>
      </p:sp>
      <p:sp>
        <p:nvSpPr>
          <p:cNvPr id="28" name="Text 20"/>
          <p:cNvSpPr/>
          <p:nvPr/>
        </p:nvSpPr>
        <p:spPr>
          <a:xfrm>
            <a:off x="5532120" y="4251960"/>
            <a:ext cx="3246120" cy="502920"/>
          </a:xfrm>
          <a:prstGeom prst="rect">
            <a:avLst/>
          </a:prstGeom>
          <a:noFill/>
          <a:ln/>
        </p:spPr>
        <p:txBody>
          <a:bodyPr wrap="square" rtlCol="0" anchor="ctr"/>
          <a:lstStyle/>
          <a:p>
            <a:pPr marL="0" indent="0">
              <a:buNone/>
            </a:pPr>
            <a:r>
              <a:rPr lang="en-US" sz="1050" dirty="0">
                <a:solidFill>
                  <a:srgbClr val="4A5568"/>
                </a:solidFill>
                <a:latin typeface="Calibri" pitchFamily="34" charset="0"/>
                <a:ea typeface="Calibri" pitchFamily="34" charset="-122"/>
                <a:cs typeface="Calibri" pitchFamily="34" charset="-120"/>
              </a:rPr>
              <a:t>You're involved at every stage, from concept to launch.</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548"/>
        </a:solidFill>
        <a:effectLst/>
      </p:bgPr>
    </p:bg>
    <p:spTree>
      <p:nvGrpSpPr>
        <p:cNvPr id="1" name=""/>
        <p:cNvGrpSpPr/>
        <p:nvPr/>
      </p:nvGrpSpPr>
      <p:grpSpPr>
        <a:xfrm>
          <a:off x="0" y="0"/>
          <a:ext cx="0" cy="0"/>
          <a:chOff x="0" y="0"/>
          <a:chExt cx="0" cy="0"/>
        </a:xfrm>
      </p:grpSpPr>
      <p:sp>
        <p:nvSpPr>
          <p:cNvPr id="2" name="Shape 0"/>
          <p:cNvSpPr/>
          <p:nvPr/>
        </p:nvSpPr>
        <p:spPr>
          <a:xfrm>
            <a:off x="-914400" y="3200400"/>
            <a:ext cx="3657600" cy="3657600"/>
          </a:xfrm>
          <a:prstGeom prst="ellipse">
            <a:avLst/>
          </a:prstGeom>
          <a:solidFill>
            <a:srgbClr val="2A5298">
              <a:alpha val="25000"/>
            </a:srgbClr>
          </a:solidFill>
          <a:ln w="12700">
            <a:solidFill>
              <a:srgbClr val="2A5298"/>
            </a:solidFill>
            <a:prstDash val="solid"/>
          </a:ln>
        </p:spPr>
        <p:txBody>
          <a:bodyPr/>
          <a:lstStyle/>
          <a:p>
            <a:endParaRPr lang="en-AU"/>
          </a:p>
        </p:txBody>
      </p:sp>
      <p:sp>
        <p:nvSpPr>
          <p:cNvPr id="3" name="Shape 1"/>
          <p:cNvSpPr/>
          <p:nvPr/>
        </p:nvSpPr>
        <p:spPr>
          <a:xfrm>
            <a:off x="6858000" y="-914400"/>
            <a:ext cx="3200400" cy="3200400"/>
          </a:xfrm>
          <a:prstGeom prst="ellipse">
            <a:avLst/>
          </a:prstGeom>
          <a:solidFill>
            <a:srgbClr val="F5C518">
              <a:alpha val="10000"/>
            </a:srgbClr>
          </a:solidFill>
          <a:ln w="12700">
            <a:solidFill>
              <a:srgbClr val="F5C518"/>
            </a:solidFill>
            <a:prstDash val="solid"/>
          </a:ln>
        </p:spPr>
        <p:txBody>
          <a:bodyPr/>
          <a:lstStyle/>
          <a:p>
            <a:endParaRPr lang="en-AU"/>
          </a:p>
        </p:txBody>
      </p:sp>
      <p:sp>
        <p:nvSpPr>
          <p:cNvPr id="4" name="Text 2"/>
          <p:cNvSpPr/>
          <p:nvPr/>
        </p:nvSpPr>
        <p:spPr>
          <a:xfrm>
            <a:off x="457200" y="228600"/>
            <a:ext cx="8229600" cy="59436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Our Process</a:t>
            </a:r>
            <a:endParaRPr lang="en-US" sz="3400" dirty="0"/>
          </a:p>
        </p:txBody>
      </p:sp>
      <p:sp>
        <p:nvSpPr>
          <p:cNvPr id="5" name="Text 3"/>
          <p:cNvSpPr/>
          <p:nvPr/>
        </p:nvSpPr>
        <p:spPr>
          <a:xfrm>
            <a:off x="914400" y="822960"/>
            <a:ext cx="7315200" cy="320040"/>
          </a:xfrm>
          <a:prstGeom prst="rect">
            <a:avLst/>
          </a:prstGeom>
          <a:noFill/>
          <a:ln/>
        </p:spPr>
        <p:txBody>
          <a:bodyPr wrap="square" rtlCol="0" anchor="ctr"/>
          <a:lstStyle/>
          <a:p>
            <a:pPr marL="0" indent="0" algn="ctr">
              <a:buNone/>
            </a:pPr>
            <a:r>
              <a:rPr lang="en-US" sz="1300" dirty="0">
                <a:solidFill>
                  <a:srgbClr val="8C9DC0"/>
                </a:solidFill>
                <a:latin typeface="Calibri" pitchFamily="34" charset="0"/>
                <a:ea typeface="Calibri" pitchFamily="34" charset="-122"/>
                <a:cs typeface="Calibri" pitchFamily="34" charset="-120"/>
              </a:rPr>
              <a:t>From brief to launch — a proven, transparent methodology</a:t>
            </a:r>
            <a:endParaRPr lang="en-US" sz="1300" dirty="0"/>
          </a:p>
        </p:txBody>
      </p:sp>
      <p:sp>
        <p:nvSpPr>
          <p:cNvPr id="6" name="Shape 4"/>
          <p:cNvSpPr/>
          <p:nvPr/>
        </p:nvSpPr>
        <p:spPr>
          <a:xfrm>
            <a:off x="1737360" y="1920240"/>
            <a:ext cx="475488" cy="64008"/>
          </a:xfrm>
          <a:prstGeom prst="rect">
            <a:avLst/>
          </a:prstGeom>
          <a:solidFill>
            <a:srgbClr val="F5C518"/>
          </a:solidFill>
          <a:ln w="12700">
            <a:solidFill>
              <a:srgbClr val="F5C518"/>
            </a:solidFill>
            <a:prstDash val="solid"/>
          </a:ln>
        </p:spPr>
        <p:txBody>
          <a:bodyPr/>
          <a:lstStyle/>
          <a:p>
            <a:endParaRPr lang="en-AU"/>
          </a:p>
        </p:txBody>
      </p:sp>
      <p:sp>
        <p:nvSpPr>
          <p:cNvPr id="7" name="Shape 5"/>
          <p:cNvSpPr/>
          <p:nvPr/>
        </p:nvSpPr>
        <p:spPr>
          <a:xfrm>
            <a:off x="502920" y="1417320"/>
            <a:ext cx="1188720" cy="1188720"/>
          </a:xfrm>
          <a:prstGeom prst="ellipse">
            <a:avLst/>
          </a:prstGeom>
          <a:solidFill>
            <a:srgbClr val="2A5298"/>
          </a:solidFill>
          <a:ln w="25400">
            <a:solidFill>
              <a:srgbClr val="8C9DC0"/>
            </a:solidFill>
            <a:prstDash val="solid"/>
          </a:ln>
        </p:spPr>
        <p:txBody>
          <a:bodyPr/>
          <a:lstStyle/>
          <a:p>
            <a:endParaRPr lang="en-AU"/>
          </a:p>
        </p:txBody>
      </p:sp>
      <p:sp>
        <p:nvSpPr>
          <p:cNvPr id="8" name="Text 6"/>
          <p:cNvSpPr/>
          <p:nvPr/>
        </p:nvSpPr>
        <p:spPr>
          <a:xfrm>
            <a:off x="502920" y="1600200"/>
            <a:ext cx="1188720" cy="594360"/>
          </a:xfrm>
          <a:prstGeom prst="rect">
            <a:avLst/>
          </a:prstGeom>
          <a:noFill/>
          <a:ln/>
        </p:spPr>
        <p:txBody>
          <a:bodyPr wrap="square" lIns="0" tIns="0" rIns="0" bIns="0" rtlCol="0" anchor="ctr"/>
          <a:lstStyle/>
          <a:p>
            <a:pPr marL="0" indent="0" algn="ctr">
              <a:buNone/>
            </a:pPr>
            <a:r>
              <a:rPr lang="en-US" sz="2400" b="1" dirty="0">
                <a:solidFill>
                  <a:srgbClr val="F5C518"/>
                </a:solidFill>
                <a:latin typeface="Calibri" pitchFamily="34" charset="0"/>
                <a:ea typeface="Calibri" pitchFamily="34" charset="-122"/>
                <a:cs typeface="Calibri" pitchFamily="34" charset="-120"/>
              </a:rPr>
              <a:t>01</a:t>
            </a:r>
            <a:endParaRPr lang="en-US" sz="2400" dirty="0"/>
          </a:p>
        </p:txBody>
      </p:sp>
      <p:sp>
        <p:nvSpPr>
          <p:cNvPr id="9" name="Text 7"/>
          <p:cNvSpPr/>
          <p:nvPr/>
        </p:nvSpPr>
        <p:spPr>
          <a:xfrm>
            <a:off x="411480" y="2788920"/>
            <a:ext cx="1371600" cy="3657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Discovery</a:t>
            </a:r>
            <a:endParaRPr lang="en-US" sz="1300" dirty="0"/>
          </a:p>
        </p:txBody>
      </p:sp>
      <p:sp>
        <p:nvSpPr>
          <p:cNvPr id="10" name="Text 8"/>
          <p:cNvSpPr/>
          <p:nvPr/>
        </p:nvSpPr>
        <p:spPr>
          <a:xfrm>
            <a:off x="411480" y="3200400"/>
            <a:ext cx="1371600" cy="594360"/>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Brief, goals</a:t>
            </a:r>
            <a:endParaRPr lang="en-US" sz="1000" dirty="0"/>
          </a:p>
          <a:p>
            <a:pPr marL="0" indent="0" algn="ctr">
              <a:buNone/>
            </a:pPr>
            <a:r>
              <a:rPr lang="en-US" sz="1000" dirty="0">
                <a:solidFill>
                  <a:srgbClr val="8C9DC0"/>
                </a:solidFill>
                <a:latin typeface="Calibri" pitchFamily="34" charset="0"/>
                <a:ea typeface="Calibri" pitchFamily="34" charset="-122"/>
                <a:cs typeface="Calibri" pitchFamily="34" charset="-120"/>
              </a:rPr>
              <a:t>&amp; research</a:t>
            </a:r>
            <a:endParaRPr lang="en-US" sz="1000" dirty="0"/>
          </a:p>
        </p:txBody>
      </p:sp>
      <p:sp>
        <p:nvSpPr>
          <p:cNvPr id="11" name="Shape 9"/>
          <p:cNvSpPr/>
          <p:nvPr/>
        </p:nvSpPr>
        <p:spPr>
          <a:xfrm>
            <a:off x="3429000" y="1920240"/>
            <a:ext cx="475488" cy="64008"/>
          </a:xfrm>
          <a:prstGeom prst="rect">
            <a:avLst/>
          </a:prstGeom>
          <a:solidFill>
            <a:srgbClr val="F5C518"/>
          </a:solidFill>
          <a:ln w="12700">
            <a:solidFill>
              <a:srgbClr val="F5C518"/>
            </a:solidFill>
            <a:prstDash val="solid"/>
          </a:ln>
        </p:spPr>
        <p:txBody>
          <a:bodyPr/>
          <a:lstStyle/>
          <a:p>
            <a:endParaRPr lang="en-AU"/>
          </a:p>
        </p:txBody>
      </p:sp>
      <p:sp>
        <p:nvSpPr>
          <p:cNvPr id="12" name="Shape 10"/>
          <p:cNvSpPr/>
          <p:nvPr/>
        </p:nvSpPr>
        <p:spPr>
          <a:xfrm>
            <a:off x="2194560" y="1417320"/>
            <a:ext cx="1188720" cy="1188720"/>
          </a:xfrm>
          <a:prstGeom prst="ellipse">
            <a:avLst/>
          </a:prstGeom>
          <a:solidFill>
            <a:srgbClr val="2A5298"/>
          </a:solidFill>
          <a:ln w="25400">
            <a:solidFill>
              <a:srgbClr val="8C9DC0"/>
            </a:solidFill>
            <a:prstDash val="solid"/>
          </a:ln>
        </p:spPr>
        <p:txBody>
          <a:bodyPr/>
          <a:lstStyle/>
          <a:p>
            <a:endParaRPr lang="en-AU"/>
          </a:p>
        </p:txBody>
      </p:sp>
      <p:sp>
        <p:nvSpPr>
          <p:cNvPr id="13" name="Text 11"/>
          <p:cNvSpPr/>
          <p:nvPr/>
        </p:nvSpPr>
        <p:spPr>
          <a:xfrm>
            <a:off x="2194560" y="1600200"/>
            <a:ext cx="1188720" cy="594360"/>
          </a:xfrm>
          <a:prstGeom prst="rect">
            <a:avLst/>
          </a:prstGeom>
          <a:noFill/>
          <a:ln/>
        </p:spPr>
        <p:txBody>
          <a:bodyPr wrap="square" lIns="0" tIns="0" rIns="0" bIns="0" rtlCol="0" anchor="ctr"/>
          <a:lstStyle/>
          <a:p>
            <a:pPr marL="0" indent="0" algn="ctr">
              <a:buNone/>
            </a:pPr>
            <a:r>
              <a:rPr lang="en-US" sz="2400" b="1" dirty="0">
                <a:solidFill>
                  <a:srgbClr val="F5C518"/>
                </a:solidFill>
                <a:latin typeface="Calibri" pitchFamily="34" charset="0"/>
                <a:ea typeface="Calibri" pitchFamily="34" charset="-122"/>
                <a:cs typeface="Calibri" pitchFamily="34" charset="-120"/>
              </a:rPr>
              <a:t>02</a:t>
            </a:r>
            <a:endParaRPr lang="en-US" sz="2400" dirty="0"/>
          </a:p>
        </p:txBody>
      </p:sp>
      <p:sp>
        <p:nvSpPr>
          <p:cNvPr id="14" name="Text 12"/>
          <p:cNvSpPr/>
          <p:nvPr/>
        </p:nvSpPr>
        <p:spPr>
          <a:xfrm>
            <a:off x="2103120" y="2788920"/>
            <a:ext cx="1371600" cy="3657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Strategy</a:t>
            </a:r>
            <a:endParaRPr lang="en-US" sz="1300" dirty="0"/>
          </a:p>
        </p:txBody>
      </p:sp>
      <p:sp>
        <p:nvSpPr>
          <p:cNvPr id="15" name="Text 13"/>
          <p:cNvSpPr/>
          <p:nvPr/>
        </p:nvSpPr>
        <p:spPr>
          <a:xfrm>
            <a:off x="2103120" y="3200400"/>
            <a:ext cx="1371600" cy="594360"/>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Sitemap, wireframes</a:t>
            </a:r>
            <a:endParaRPr lang="en-US" sz="1000" dirty="0"/>
          </a:p>
          <a:p>
            <a:pPr marL="0" indent="0" algn="ctr">
              <a:buNone/>
            </a:pPr>
            <a:r>
              <a:rPr lang="en-US" sz="1000" dirty="0">
                <a:solidFill>
                  <a:srgbClr val="8C9DC0"/>
                </a:solidFill>
                <a:latin typeface="Calibri" pitchFamily="34" charset="0"/>
                <a:ea typeface="Calibri" pitchFamily="34" charset="-122"/>
                <a:cs typeface="Calibri" pitchFamily="34" charset="-120"/>
              </a:rPr>
              <a:t>&amp; planning</a:t>
            </a:r>
            <a:endParaRPr lang="en-US" sz="1000" dirty="0"/>
          </a:p>
        </p:txBody>
      </p:sp>
      <p:sp>
        <p:nvSpPr>
          <p:cNvPr id="16" name="Shape 14"/>
          <p:cNvSpPr/>
          <p:nvPr/>
        </p:nvSpPr>
        <p:spPr>
          <a:xfrm>
            <a:off x="5120640" y="1920240"/>
            <a:ext cx="475488" cy="64008"/>
          </a:xfrm>
          <a:prstGeom prst="rect">
            <a:avLst/>
          </a:prstGeom>
          <a:solidFill>
            <a:srgbClr val="F5C518"/>
          </a:solidFill>
          <a:ln w="12700">
            <a:solidFill>
              <a:srgbClr val="F5C518"/>
            </a:solidFill>
            <a:prstDash val="solid"/>
          </a:ln>
        </p:spPr>
        <p:txBody>
          <a:bodyPr/>
          <a:lstStyle/>
          <a:p>
            <a:endParaRPr lang="en-AU"/>
          </a:p>
        </p:txBody>
      </p:sp>
      <p:sp>
        <p:nvSpPr>
          <p:cNvPr id="17" name="Shape 15"/>
          <p:cNvSpPr/>
          <p:nvPr/>
        </p:nvSpPr>
        <p:spPr>
          <a:xfrm>
            <a:off x="3886200" y="1417320"/>
            <a:ext cx="1188720" cy="1188720"/>
          </a:xfrm>
          <a:prstGeom prst="ellipse">
            <a:avLst/>
          </a:prstGeom>
          <a:solidFill>
            <a:srgbClr val="F5C518"/>
          </a:solidFill>
          <a:ln w="25400">
            <a:solidFill>
              <a:srgbClr val="8C9DC0"/>
            </a:solidFill>
            <a:prstDash val="solid"/>
          </a:ln>
        </p:spPr>
        <p:txBody>
          <a:bodyPr/>
          <a:lstStyle/>
          <a:p>
            <a:endParaRPr lang="en-AU"/>
          </a:p>
        </p:txBody>
      </p:sp>
      <p:sp>
        <p:nvSpPr>
          <p:cNvPr id="18" name="Text 16"/>
          <p:cNvSpPr/>
          <p:nvPr/>
        </p:nvSpPr>
        <p:spPr>
          <a:xfrm>
            <a:off x="3886200" y="1600200"/>
            <a:ext cx="1188720" cy="594360"/>
          </a:xfrm>
          <a:prstGeom prst="rect">
            <a:avLst/>
          </a:prstGeom>
          <a:noFill/>
          <a:ln/>
        </p:spPr>
        <p:txBody>
          <a:bodyPr wrap="square" lIns="0" tIns="0" rIns="0" bIns="0" rtlCol="0" anchor="ctr"/>
          <a:lstStyle/>
          <a:p>
            <a:pPr marL="0" indent="0" algn="ctr">
              <a:buNone/>
            </a:pPr>
            <a:r>
              <a:rPr lang="en-US" sz="2400" b="1" dirty="0">
                <a:solidFill>
                  <a:srgbClr val="1B3A6B"/>
                </a:solidFill>
                <a:latin typeface="Calibri" pitchFamily="34" charset="0"/>
                <a:ea typeface="Calibri" pitchFamily="34" charset="-122"/>
                <a:cs typeface="Calibri" pitchFamily="34" charset="-120"/>
              </a:rPr>
              <a:t>03</a:t>
            </a:r>
            <a:endParaRPr lang="en-US" sz="2400" dirty="0"/>
          </a:p>
        </p:txBody>
      </p:sp>
      <p:sp>
        <p:nvSpPr>
          <p:cNvPr id="19" name="Text 17"/>
          <p:cNvSpPr/>
          <p:nvPr/>
        </p:nvSpPr>
        <p:spPr>
          <a:xfrm>
            <a:off x="3794760" y="2788920"/>
            <a:ext cx="1371600" cy="3657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p>
        </p:txBody>
      </p:sp>
      <p:sp>
        <p:nvSpPr>
          <p:cNvPr id="20" name="Text 18"/>
          <p:cNvSpPr/>
          <p:nvPr/>
        </p:nvSpPr>
        <p:spPr>
          <a:xfrm>
            <a:off x="3794760" y="3200400"/>
            <a:ext cx="1371600" cy="594360"/>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Visual design</a:t>
            </a:r>
            <a:endParaRPr lang="en-US" sz="1000" dirty="0"/>
          </a:p>
          <a:p>
            <a:pPr marL="0" indent="0" algn="ctr">
              <a:buNone/>
            </a:pPr>
            <a:r>
              <a:rPr lang="en-US" sz="1000" dirty="0">
                <a:solidFill>
                  <a:srgbClr val="8C9DC0"/>
                </a:solidFill>
                <a:latin typeface="Calibri" pitchFamily="34" charset="0"/>
                <a:ea typeface="Calibri" pitchFamily="34" charset="-122"/>
                <a:cs typeface="Calibri" pitchFamily="34" charset="-120"/>
              </a:rPr>
              <a:t>&amp; prototyping</a:t>
            </a:r>
            <a:endParaRPr lang="en-US" sz="1000" dirty="0"/>
          </a:p>
        </p:txBody>
      </p:sp>
      <p:sp>
        <p:nvSpPr>
          <p:cNvPr id="21" name="Shape 19"/>
          <p:cNvSpPr/>
          <p:nvPr/>
        </p:nvSpPr>
        <p:spPr>
          <a:xfrm>
            <a:off x="6812280" y="1920240"/>
            <a:ext cx="475488" cy="64008"/>
          </a:xfrm>
          <a:prstGeom prst="rect">
            <a:avLst/>
          </a:prstGeom>
          <a:solidFill>
            <a:srgbClr val="F5C518"/>
          </a:solidFill>
          <a:ln w="12700">
            <a:solidFill>
              <a:srgbClr val="F5C518"/>
            </a:solidFill>
            <a:prstDash val="solid"/>
          </a:ln>
        </p:spPr>
        <p:txBody>
          <a:bodyPr/>
          <a:lstStyle/>
          <a:p>
            <a:endParaRPr lang="en-AU"/>
          </a:p>
        </p:txBody>
      </p:sp>
      <p:sp>
        <p:nvSpPr>
          <p:cNvPr id="22" name="Shape 20"/>
          <p:cNvSpPr/>
          <p:nvPr/>
        </p:nvSpPr>
        <p:spPr>
          <a:xfrm>
            <a:off x="5577840" y="1417320"/>
            <a:ext cx="1188720" cy="1188720"/>
          </a:xfrm>
          <a:prstGeom prst="ellipse">
            <a:avLst/>
          </a:prstGeom>
          <a:solidFill>
            <a:srgbClr val="2A5298"/>
          </a:solidFill>
          <a:ln w="25400">
            <a:solidFill>
              <a:srgbClr val="8C9DC0"/>
            </a:solidFill>
            <a:prstDash val="solid"/>
          </a:ln>
        </p:spPr>
        <p:txBody>
          <a:bodyPr/>
          <a:lstStyle/>
          <a:p>
            <a:endParaRPr lang="en-AU"/>
          </a:p>
        </p:txBody>
      </p:sp>
      <p:sp>
        <p:nvSpPr>
          <p:cNvPr id="23" name="Text 21"/>
          <p:cNvSpPr/>
          <p:nvPr/>
        </p:nvSpPr>
        <p:spPr>
          <a:xfrm>
            <a:off x="5577840" y="1600200"/>
            <a:ext cx="1188720" cy="594360"/>
          </a:xfrm>
          <a:prstGeom prst="rect">
            <a:avLst/>
          </a:prstGeom>
          <a:noFill/>
          <a:ln/>
        </p:spPr>
        <p:txBody>
          <a:bodyPr wrap="square" lIns="0" tIns="0" rIns="0" bIns="0" rtlCol="0" anchor="ctr"/>
          <a:lstStyle/>
          <a:p>
            <a:pPr marL="0" indent="0" algn="ctr">
              <a:buNone/>
            </a:pPr>
            <a:r>
              <a:rPr lang="en-US" sz="2400" b="1" dirty="0">
                <a:solidFill>
                  <a:srgbClr val="F5C518"/>
                </a:solidFill>
                <a:latin typeface="Calibri" pitchFamily="34" charset="0"/>
                <a:ea typeface="Calibri" pitchFamily="34" charset="-122"/>
                <a:cs typeface="Calibri" pitchFamily="34" charset="-120"/>
              </a:rPr>
              <a:t>04</a:t>
            </a:r>
            <a:endParaRPr lang="en-US" sz="2400" dirty="0"/>
          </a:p>
        </p:txBody>
      </p:sp>
      <p:sp>
        <p:nvSpPr>
          <p:cNvPr id="24" name="Text 22"/>
          <p:cNvSpPr/>
          <p:nvPr/>
        </p:nvSpPr>
        <p:spPr>
          <a:xfrm>
            <a:off x="5486400" y="2788920"/>
            <a:ext cx="1371600" cy="3657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Development</a:t>
            </a:r>
            <a:endParaRPr lang="en-US" sz="1300" dirty="0"/>
          </a:p>
        </p:txBody>
      </p:sp>
      <p:sp>
        <p:nvSpPr>
          <p:cNvPr id="25" name="Text 23"/>
          <p:cNvSpPr/>
          <p:nvPr/>
        </p:nvSpPr>
        <p:spPr>
          <a:xfrm>
            <a:off x="5486400" y="3200400"/>
            <a:ext cx="1371600" cy="594360"/>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Build, test</a:t>
            </a:r>
            <a:endParaRPr lang="en-US" sz="1000" dirty="0"/>
          </a:p>
          <a:p>
            <a:pPr marL="0" indent="0" algn="ctr">
              <a:buNone/>
            </a:pPr>
            <a:r>
              <a:rPr lang="en-US" sz="1000" dirty="0">
                <a:solidFill>
                  <a:srgbClr val="8C9DC0"/>
                </a:solidFill>
                <a:latin typeface="Calibri" pitchFamily="34" charset="0"/>
                <a:ea typeface="Calibri" pitchFamily="34" charset="-122"/>
                <a:cs typeface="Calibri" pitchFamily="34" charset="-120"/>
              </a:rPr>
              <a:t>&amp; optimise</a:t>
            </a:r>
            <a:endParaRPr lang="en-US" sz="1000" dirty="0"/>
          </a:p>
        </p:txBody>
      </p:sp>
      <p:sp>
        <p:nvSpPr>
          <p:cNvPr id="26" name="Shape 24"/>
          <p:cNvSpPr/>
          <p:nvPr/>
        </p:nvSpPr>
        <p:spPr>
          <a:xfrm>
            <a:off x="7269480" y="1417320"/>
            <a:ext cx="1188720" cy="1188720"/>
          </a:xfrm>
          <a:prstGeom prst="ellipse">
            <a:avLst/>
          </a:prstGeom>
          <a:solidFill>
            <a:srgbClr val="2A5298"/>
          </a:solidFill>
          <a:ln w="25400">
            <a:solidFill>
              <a:srgbClr val="8C9DC0"/>
            </a:solidFill>
            <a:prstDash val="solid"/>
          </a:ln>
        </p:spPr>
        <p:txBody>
          <a:bodyPr/>
          <a:lstStyle/>
          <a:p>
            <a:endParaRPr lang="en-AU"/>
          </a:p>
        </p:txBody>
      </p:sp>
      <p:sp>
        <p:nvSpPr>
          <p:cNvPr id="27" name="Text 25"/>
          <p:cNvSpPr/>
          <p:nvPr/>
        </p:nvSpPr>
        <p:spPr>
          <a:xfrm>
            <a:off x="7269480" y="1600200"/>
            <a:ext cx="1188720" cy="594360"/>
          </a:xfrm>
          <a:prstGeom prst="rect">
            <a:avLst/>
          </a:prstGeom>
          <a:noFill/>
          <a:ln/>
        </p:spPr>
        <p:txBody>
          <a:bodyPr wrap="square" lIns="0" tIns="0" rIns="0" bIns="0" rtlCol="0" anchor="ctr"/>
          <a:lstStyle/>
          <a:p>
            <a:pPr marL="0" indent="0" algn="ctr">
              <a:buNone/>
            </a:pPr>
            <a:r>
              <a:rPr lang="en-US" sz="2400" b="1" dirty="0">
                <a:solidFill>
                  <a:srgbClr val="F5C518"/>
                </a:solidFill>
                <a:latin typeface="Calibri" pitchFamily="34" charset="0"/>
                <a:ea typeface="Calibri" pitchFamily="34" charset="-122"/>
                <a:cs typeface="Calibri" pitchFamily="34" charset="-120"/>
              </a:rPr>
              <a:t>05</a:t>
            </a:r>
            <a:endParaRPr lang="en-US" sz="2400" dirty="0"/>
          </a:p>
        </p:txBody>
      </p:sp>
      <p:sp>
        <p:nvSpPr>
          <p:cNvPr id="28" name="Text 26"/>
          <p:cNvSpPr/>
          <p:nvPr/>
        </p:nvSpPr>
        <p:spPr>
          <a:xfrm>
            <a:off x="7178040" y="2788920"/>
            <a:ext cx="1371600" cy="36576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p>
        </p:txBody>
      </p:sp>
      <p:sp>
        <p:nvSpPr>
          <p:cNvPr id="29" name="Text 27"/>
          <p:cNvSpPr/>
          <p:nvPr/>
        </p:nvSpPr>
        <p:spPr>
          <a:xfrm>
            <a:off x="7178040" y="3200400"/>
            <a:ext cx="1371600" cy="594360"/>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Deploy, review</a:t>
            </a:r>
            <a:endParaRPr lang="en-US" sz="1000" dirty="0"/>
          </a:p>
          <a:p>
            <a:pPr marL="0" indent="0" algn="ctr">
              <a:buNone/>
            </a:pPr>
            <a:r>
              <a:rPr lang="en-US" sz="1000" dirty="0">
                <a:solidFill>
                  <a:srgbClr val="8C9DC0"/>
                </a:solidFill>
                <a:latin typeface="Calibri" pitchFamily="34" charset="0"/>
                <a:ea typeface="Calibri" pitchFamily="34" charset="-122"/>
                <a:cs typeface="Calibri" pitchFamily="34" charset="-120"/>
              </a:rPr>
              <a:t>&amp; go live</a:t>
            </a:r>
            <a:endParaRPr lang="en-US" sz="1000" dirty="0"/>
          </a:p>
        </p:txBody>
      </p:sp>
      <p:sp>
        <p:nvSpPr>
          <p:cNvPr id="30" name="Shape 28"/>
          <p:cNvSpPr/>
          <p:nvPr/>
        </p:nvSpPr>
        <p:spPr>
          <a:xfrm>
            <a:off x="1828800" y="4389120"/>
            <a:ext cx="5486400" cy="411480"/>
          </a:xfrm>
          <a:prstGeom prst="rect">
            <a:avLst/>
          </a:prstGeom>
          <a:solidFill>
            <a:srgbClr val="F5C518">
              <a:alpha val="85000"/>
            </a:srgbClr>
          </a:solidFill>
          <a:ln w="12700">
            <a:solidFill>
              <a:srgbClr val="F5C518"/>
            </a:solidFill>
            <a:prstDash val="solid"/>
          </a:ln>
        </p:spPr>
        <p:txBody>
          <a:bodyPr/>
          <a:lstStyle/>
          <a:p>
            <a:endParaRPr lang="en-AU"/>
          </a:p>
        </p:txBody>
      </p:sp>
      <p:sp>
        <p:nvSpPr>
          <p:cNvPr id="31" name="Text 29"/>
          <p:cNvSpPr/>
          <p:nvPr/>
        </p:nvSpPr>
        <p:spPr>
          <a:xfrm>
            <a:off x="1828800" y="4389120"/>
            <a:ext cx="5486400" cy="411480"/>
          </a:xfrm>
          <a:prstGeom prst="rect">
            <a:avLst/>
          </a:prstGeom>
          <a:noFill/>
          <a:ln/>
        </p:spPr>
        <p:txBody>
          <a:bodyPr wrap="square" lIns="0" tIns="0" rIns="0" bIns="0"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Typical project duration: 3–8 weeks depending on scope and complexity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0" y="868680"/>
            <a:ext cx="9144000" cy="91440"/>
          </a:xfrm>
          <a:prstGeom prst="rect">
            <a:avLst/>
          </a:prstGeom>
          <a:solidFill>
            <a:srgbClr val="F5C518"/>
          </a:solidFill>
          <a:ln w="12700">
            <a:solidFill>
              <a:srgbClr val="F5C518"/>
            </a:solidFill>
            <a:prstDash val="solid"/>
          </a:ln>
        </p:spPr>
        <p:txBody>
          <a:bodyPr/>
          <a:lstStyle/>
          <a:p>
            <a:endParaRPr lang="en-AU"/>
          </a:p>
        </p:txBody>
      </p:sp>
      <p:sp>
        <p:nvSpPr>
          <p:cNvPr id="4" name="Text 2"/>
          <p:cNvSpPr/>
          <p:nvPr/>
        </p:nvSpPr>
        <p:spPr>
          <a:xfrm>
            <a:off x="457200" y="118872"/>
            <a:ext cx="8229600" cy="640080"/>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Portfolio &amp; </a:t>
            </a:r>
            <a:r>
              <a:rPr lang="en-US" sz="2800" b="1" dirty="0">
                <a:solidFill>
                  <a:srgbClr val="F5C518"/>
                </a:solidFill>
                <a:latin typeface="Calibri" pitchFamily="34" charset="0"/>
                <a:ea typeface="Calibri" pitchFamily="34" charset="-122"/>
                <a:cs typeface="Calibri" pitchFamily="34" charset="-120"/>
              </a:rPr>
              <a:t>Case Studies</a:t>
            </a:r>
            <a:endParaRPr lang="en-US" sz="2800" dirty="0"/>
          </a:p>
        </p:txBody>
      </p:sp>
      <p:sp>
        <p:nvSpPr>
          <p:cNvPr id="5" name="Shape 3"/>
          <p:cNvSpPr/>
          <p:nvPr/>
        </p:nvSpPr>
        <p:spPr>
          <a:xfrm>
            <a:off x="320040" y="1188720"/>
            <a:ext cx="4023360" cy="1600200"/>
          </a:xfrm>
          <a:prstGeom prst="rect">
            <a:avLst/>
          </a:prstGeom>
          <a:solidFill>
            <a:srgbClr val="1B3A6B"/>
          </a:solidFill>
          <a:ln w="12700">
            <a:solidFill>
              <a:srgbClr val="1B3A6B"/>
            </a:solidFill>
            <a:prstDash val="solid"/>
          </a:ln>
          <a:effectLst>
            <a:outerShdw blurRad="101600" dist="38100" dir="8100000" algn="bl" rotWithShape="0">
              <a:srgbClr val="000000">
                <a:alpha val="15000"/>
              </a:srgbClr>
            </a:outerShdw>
          </a:effectLst>
        </p:spPr>
        <p:txBody>
          <a:bodyPr/>
          <a:lstStyle/>
          <a:p>
            <a:endParaRPr lang="en-AU"/>
          </a:p>
        </p:txBody>
      </p:sp>
      <p:sp>
        <p:nvSpPr>
          <p:cNvPr id="6" name="Shape 4"/>
          <p:cNvSpPr/>
          <p:nvPr/>
        </p:nvSpPr>
        <p:spPr>
          <a:xfrm>
            <a:off x="3520440" y="1188720"/>
            <a:ext cx="822960" cy="320040"/>
          </a:xfrm>
          <a:prstGeom prst="rect">
            <a:avLst/>
          </a:prstGeom>
          <a:solidFill>
            <a:srgbClr val="F5C518"/>
          </a:solidFill>
          <a:ln w="12700">
            <a:solidFill>
              <a:srgbClr val="F5C518"/>
            </a:solidFill>
            <a:prstDash val="solid"/>
          </a:ln>
        </p:spPr>
        <p:txBody>
          <a:bodyPr/>
          <a:lstStyle/>
          <a:p>
            <a:endParaRPr lang="en-AU"/>
          </a:p>
        </p:txBody>
      </p:sp>
      <p:sp>
        <p:nvSpPr>
          <p:cNvPr id="7" name="Text 5"/>
          <p:cNvSpPr/>
          <p:nvPr/>
        </p:nvSpPr>
        <p:spPr>
          <a:xfrm>
            <a:off x="3520440" y="1188720"/>
            <a:ext cx="822960" cy="320040"/>
          </a:xfrm>
          <a:prstGeom prst="rect">
            <a:avLst/>
          </a:prstGeom>
          <a:noFill/>
          <a:ln/>
        </p:spPr>
        <p:txBody>
          <a:bodyPr wrap="square" lIns="0" tIns="0" rIns="0" bIns="0" rtlCol="0" anchor="ctr"/>
          <a:lstStyle/>
          <a:p>
            <a:pPr marL="0" indent="0" algn="ctr">
              <a:buNone/>
            </a:pPr>
            <a:r>
              <a:rPr lang="en-US" sz="900" b="1" dirty="0">
                <a:solidFill>
                  <a:srgbClr val="1B3A6B"/>
                </a:solidFill>
                <a:latin typeface="Calibri" pitchFamily="34" charset="0"/>
                <a:ea typeface="Calibri" pitchFamily="34" charset="-122"/>
                <a:cs typeface="Calibri" pitchFamily="34" charset="-120"/>
              </a:rPr>
              <a:t>E-Commerce</a:t>
            </a:r>
            <a:endParaRPr lang="en-US" sz="900" dirty="0"/>
          </a:p>
        </p:txBody>
      </p:sp>
      <p:sp>
        <p:nvSpPr>
          <p:cNvPr id="8" name="Text 6"/>
          <p:cNvSpPr/>
          <p:nvPr/>
        </p:nvSpPr>
        <p:spPr>
          <a:xfrm>
            <a:off x="502920" y="1417320"/>
            <a:ext cx="3657600" cy="45720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Artisan Co.</a:t>
            </a:r>
            <a:endParaRPr lang="en-US" sz="2000" dirty="0"/>
          </a:p>
        </p:txBody>
      </p:sp>
      <p:sp>
        <p:nvSpPr>
          <p:cNvPr id="9" name="Shape 7"/>
          <p:cNvSpPr/>
          <p:nvPr/>
        </p:nvSpPr>
        <p:spPr>
          <a:xfrm>
            <a:off x="502920" y="1938528"/>
            <a:ext cx="3657600" cy="54864"/>
          </a:xfrm>
          <a:prstGeom prst="rect">
            <a:avLst/>
          </a:prstGeom>
          <a:solidFill>
            <a:srgbClr val="F5C518">
              <a:alpha val="60000"/>
            </a:srgbClr>
          </a:solidFill>
          <a:ln w="12700">
            <a:solidFill>
              <a:srgbClr val="F5C518"/>
            </a:solidFill>
            <a:prstDash val="solid"/>
          </a:ln>
        </p:spPr>
        <p:txBody>
          <a:bodyPr/>
          <a:lstStyle/>
          <a:p>
            <a:endParaRPr lang="en-AU"/>
          </a:p>
        </p:txBody>
      </p:sp>
      <p:pic>
        <p:nvPicPr>
          <p:cNvPr id="10" name="Image 0" descr="preencoded.png"/>
          <p:cNvPicPr>
            <a:picLocks noChangeAspect="1"/>
          </p:cNvPicPr>
          <p:nvPr/>
        </p:nvPicPr>
        <p:blipFill>
          <a:blip r:embed="rId3"/>
          <a:stretch>
            <a:fillRect/>
          </a:stretch>
        </p:blipFill>
        <p:spPr>
          <a:xfrm>
            <a:off x="502920" y="2103120"/>
            <a:ext cx="320040" cy="320040"/>
          </a:xfrm>
          <a:prstGeom prst="rect">
            <a:avLst/>
          </a:prstGeom>
        </p:spPr>
      </p:pic>
      <p:sp>
        <p:nvSpPr>
          <p:cNvPr id="11" name="Text 8"/>
          <p:cNvSpPr/>
          <p:nvPr/>
        </p:nvSpPr>
        <p:spPr>
          <a:xfrm>
            <a:off x="914400" y="2148840"/>
            <a:ext cx="3246120" cy="320040"/>
          </a:xfrm>
          <a:prstGeom prst="rect">
            <a:avLst/>
          </a:prstGeom>
          <a:noFill/>
          <a:ln/>
        </p:spPr>
        <p:txBody>
          <a:bodyPr wrap="square" lIns="0" tIns="0" rIns="0" bIns="0" rtlCol="0" anchor="ctr"/>
          <a:lstStyle/>
          <a:p>
            <a:pPr marL="0" indent="0">
              <a:buNone/>
            </a:pPr>
            <a:r>
              <a:rPr lang="en-US" sz="1100" dirty="0">
                <a:solidFill>
                  <a:srgbClr val="8C9DC0"/>
                </a:solidFill>
                <a:latin typeface="Calibri" pitchFamily="34" charset="0"/>
                <a:ea typeface="Calibri" pitchFamily="34" charset="-122"/>
                <a:cs typeface="Calibri" pitchFamily="34" charset="-120"/>
              </a:rPr>
              <a:t>+340% online sales in 6 months</a:t>
            </a:r>
            <a:endParaRPr lang="en-US" sz="1100" dirty="0"/>
          </a:p>
        </p:txBody>
      </p:sp>
      <p:sp>
        <p:nvSpPr>
          <p:cNvPr id="12" name="Shape 9"/>
          <p:cNvSpPr/>
          <p:nvPr/>
        </p:nvSpPr>
        <p:spPr>
          <a:xfrm>
            <a:off x="4709160" y="1188720"/>
            <a:ext cx="4023360" cy="1600200"/>
          </a:xfrm>
          <a:prstGeom prst="rect">
            <a:avLst/>
          </a:prstGeom>
          <a:solidFill>
            <a:srgbClr val="8C9DC0"/>
          </a:solidFill>
          <a:ln w="12700">
            <a:solidFill>
              <a:srgbClr val="8C9DC0"/>
            </a:solidFill>
            <a:prstDash val="solid"/>
          </a:ln>
          <a:effectLst>
            <a:outerShdw blurRad="101600" dist="38100" dir="8100000" algn="bl" rotWithShape="0">
              <a:srgbClr val="000000">
                <a:alpha val="15000"/>
              </a:srgbClr>
            </a:outerShdw>
          </a:effectLst>
        </p:spPr>
        <p:txBody>
          <a:bodyPr/>
          <a:lstStyle/>
          <a:p>
            <a:endParaRPr lang="en-AU"/>
          </a:p>
        </p:txBody>
      </p:sp>
      <p:sp>
        <p:nvSpPr>
          <p:cNvPr id="13" name="Shape 10"/>
          <p:cNvSpPr/>
          <p:nvPr/>
        </p:nvSpPr>
        <p:spPr>
          <a:xfrm>
            <a:off x="7909560" y="1188720"/>
            <a:ext cx="822960" cy="320040"/>
          </a:xfrm>
          <a:prstGeom prst="rect">
            <a:avLst/>
          </a:prstGeom>
          <a:solidFill>
            <a:srgbClr val="F5C518"/>
          </a:solidFill>
          <a:ln w="12700">
            <a:solidFill>
              <a:srgbClr val="F5C518"/>
            </a:solidFill>
            <a:prstDash val="solid"/>
          </a:ln>
        </p:spPr>
        <p:txBody>
          <a:bodyPr/>
          <a:lstStyle/>
          <a:p>
            <a:endParaRPr lang="en-AU"/>
          </a:p>
        </p:txBody>
      </p:sp>
      <p:sp>
        <p:nvSpPr>
          <p:cNvPr id="14" name="Text 11"/>
          <p:cNvSpPr/>
          <p:nvPr/>
        </p:nvSpPr>
        <p:spPr>
          <a:xfrm>
            <a:off x="7909560" y="1188720"/>
            <a:ext cx="822960" cy="320040"/>
          </a:xfrm>
          <a:prstGeom prst="rect">
            <a:avLst/>
          </a:prstGeom>
          <a:noFill/>
          <a:ln/>
        </p:spPr>
        <p:txBody>
          <a:bodyPr wrap="square" lIns="0" tIns="0" rIns="0" bIns="0" rtlCol="0" anchor="ctr"/>
          <a:lstStyle/>
          <a:p>
            <a:pPr marL="0" indent="0" algn="ctr">
              <a:buNone/>
            </a:pPr>
            <a:r>
              <a:rPr lang="en-US" sz="900" b="1" dirty="0">
                <a:solidFill>
                  <a:srgbClr val="1B3A6B"/>
                </a:solidFill>
                <a:latin typeface="Calibri" pitchFamily="34" charset="0"/>
                <a:ea typeface="Calibri" pitchFamily="34" charset="-122"/>
                <a:cs typeface="Calibri" pitchFamily="34" charset="-120"/>
              </a:rPr>
              <a:t>Local Business</a:t>
            </a:r>
            <a:endParaRPr lang="en-US" sz="900" dirty="0"/>
          </a:p>
        </p:txBody>
      </p:sp>
      <p:sp>
        <p:nvSpPr>
          <p:cNvPr id="15" name="Text 12"/>
          <p:cNvSpPr/>
          <p:nvPr/>
        </p:nvSpPr>
        <p:spPr>
          <a:xfrm>
            <a:off x="4892040" y="1417320"/>
            <a:ext cx="3657600" cy="45720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Melbourne Eats</a:t>
            </a:r>
            <a:endParaRPr lang="en-US" sz="2000" dirty="0"/>
          </a:p>
        </p:txBody>
      </p:sp>
      <p:sp>
        <p:nvSpPr>
          <p:cNvPr id="16" name="Shape 13"/>
          <p:cNvSpPr/>
          <p:nvPr/>
        </p:nvSpPr>
        <p:spPr>
          <a:xfrm>
            <a:off x="4892040" y="1938528"/>
            <a:ext cx="3657600" cy="54864"/>
          </a:xfrm>
          <a:prstGeom prst="rect">
            <a:avLst/>
          </a:prstGeom>
          <a:solidFill>
            <a:srgbClr val="F5C518">
              <a:alpha val="60000"/>
            </a:srgbClr>
          </a:solidFill>
          <a:ln w="12700">
            <a:solidFill>
              <a:srgbClr val="F5C518"/>
            </a:solidFill>
            <a:prstDash val="solid"/>
          </a:ln>
        </p:spPr>
        <p:txBody>
          <a:bodyPr/>
          <a:lstStyle/>
          <a:p>
            <a:endParaRPr lang="en-AU"/>
          </a:p>
        </p:txBody>
      </p:sp>
      <p:pic>
        <p:nvPicPr>
          <p:cNvPr id="17" name="Image 1" descr="preencoded.png"/>
          <p:cNvPicPr>
            <a:picLocks noChangeAspect="1"/>
          </p:cNvPicPr>
          <p:nvPr/>
        </p:nvPicPr>
        <p:blipFill>
          <a:blip r:embed="rId3"/>
          <a:stretch>
            <a:fillRect/>
          </a:stretch>
        </p:blipFill>
        <p:spPr>
          <a:xfrm>
            <a:off x="4892040" y="2103120"/>
            <a:ext cx="320040" cy="320040"/>
          </a:xfrm>
          <a:prstGeom prst="rect">
            <a:avLst/>
          </a:prstGeom>
        </p:spPr>
      </p:pic>
      <p:sp>
        <p:nvSpPr>
          <p:cNvPr id="18" name="Text 14"/>
          <p:cNvSpPr/>
          <p:nvPr/>
        </p:nvSpPr>
        <p:spPr>
          <a:xfrm>
            <a:off x="5303520" y="2148840"/>
            <a:ext cx="3246120" cy="320040"/>
          </a:xfrm>
          <a:prstGeom prst="rect">
            <a:avLst/>
          </a:prstGeom>
          <a:noFill/>
          <a:ln/>
        </p:spPr>
        <p:txBody>
          <a:bodyPr wrap="square" lIns="0" tIns="0" rIns="0" bIns="0" rtlCol="0" anchor="ctr"/>
          <a:lstStyle/>
          <a:p>
            <a:pPr marL="0" indent="0">
              <a:buNone/>
            </a:pPr>
            <a:r>
              <a:rPr lang="en-US" sz="1100" dirty="0">
                <a:solidFill>
                  <a:srgbClr val="8C9DC0"/>
                </a:solidFill>
                <a:latin typeface="Calibri" pitchFamily="34" charset="0"/>
                <a:ea typeface="Calibri" pitchFamily="34" charset="-122"/>
                <a:cs typeface="Calibri" pitchFamily="34" charset="-120"/>
              </a:rPr>
              <a:t>+220% local search visibility</a:t>
            </a:r>
            <a:endParaRPr lang="en-US" sz="1100" dirty="0"/>
          </a:p>
        </p:txBody>
      </p:sp>
      <p:sp>
        <p:nvSpPr>
          <p:cNvPr id="19" name="Shape 15"/>
          <p:cNvSpPr/>
          <p:nvPr/>
        </p:nvSpPr>
        <p:spPr>
          <a:xfrm>
            <a:off x="320040" y="3017520"/>
            <a:ext cx="4023360" cy="1600200"/>
          </a:xfrm>
          <a:prstGeom prst="rect">
            <a:avLst/>
          </a:prstGeom>
          <a:solidFill>
            <a:srgbClr val="2A5298"/>
          </a:solidFill>
          <a:ln w="12700">
            <a:solidFill>
              <a:srgbClr val="2A5298"/>
            </a:solidFill>
            <a:prstDash val="solid"/>
          </a:ln>
          <a:effectLst>
            <a:outerShdw blurRad="101600" dist="38100" dir="8100000" algn="bl" rotWithShape="0">
              <a:srgbClr val="000000">
                <a:alpha val="15000"/>
              </a:srgbClr>
            </a:outerShdw>
          </a:effectLst>
        </p:spPr>
        <p:txBody>
          <a:bodyPr/>
          <a:lstStyle/>
          <a:p>
            <a:endParaRPr lang="en-AU"/>
          </a:p>
        </p:txBody>
      </p:sp>
      <p:sp>
        <p:nvSpPr>
          <p:cNvPr id="20" name="Shape 16"/>
          <p:cNvSpPr/>
          <p:nvPr/>
        </p:nvSpPr>
        <p:spPr>
          <a:xfrm>
            <a:off x="3520440" y="3017520"/>
            <a:ext cx="822960" cy="320040"/>
          </a:xfrm>
          <a:prstGeom prst="rect">
            <a:avLst/>
          </a:prstGeom>
          <a:solidFill>
            <a:srgbClr val="F5C518"/>
          </a:solidFill>
          <a:ln w="12700">
            <a:solidFill>
              <a:srgbClr val="F5C518"/>
            </a:solidFill>
            <a:prstDash val="solid"/>
          </a:ln>
        </p:spPr>
        <p:txBody>
          <a:bodyPr/>
          <a:lstStyle/>
          <a:p>
            <a:endParaRPr lang="en-AU"/>
          </a:p>
        </p:txBody>
      </p:sp>
      <p:sp>
        <p:nvSpPr>
          <p:cNvPr id="21" name="Text 17"/>
          <p:cNvSpPr/>
          <p:nvPr/>
        </p:nvSpPr>
        <p:spPr>
          <a:xfrm>
            <a:off x="3520440" y="3017520"/>
            <a:ext cx="822960" cy="320040"/>
          </a:xfrm>
          <a:prstGeom prst="rect">
            <a:avLst/>
          </a:prstGeom>
          <a:noFill/>
          <a:ln/>
        </p:spPr>
        <p:txBody>
          <a:bodyPr wrap="square" lIns="0" tIns="0" rIns="0" bIns="0" rtlCol="0" anchor="ctr"/>
          <a:lstStyle/>
          <a:p>
            <a:pPr marL="0" indent="0" algn="ctr">
              <a:buNone/>
            </a:pPr>
            <a:r>
              <a:rPr lang="en-US" sz="900" b="1" dirty="0">
                <a:solidFill>
                  <a:srgbClr val="1B3A6B"/>
                </a:solidFill>
                <a:latin typeface="Calibri" pitchFamily="34" charset="0"/>
                <a:ea typeface="Calibri" pitchFamily="34" charset="-122"/>
                <a:cs typeface="Calibri" pitchFamily="34" charset="-120"/>
              </a:rPr>
              <a:t>Corporate</a:t>
            </a:r>
            <a:endParaRPr lang="en-US" sz="900" dirty="0"/>
          </a:p>
        </p:txBody>
      </p:sp>
      <p:sp>
        <p:nvSpPr>
          <p:cNvPr id="22" name="Text 18"/>
          <p:cNvSpPr/>
          <p:nvPr/>
        </p:nvSpPr>
        <p:spPr>
          <a:xfrm>
            <a:off x="502920" y="3246120"/>
            <a:ext cx="3657600" cy="45720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TechBridge Group</a:t>
            </a:r>
            <a:endParaRPr lang="en-US" sz="2000" dirty="0"/>
          </a:p>
        </p:txBody>
      </p:sp>
      <p:sp>
        <p:nvSpPr>
          <p:cNvPr id="23" name="Shape 19"/>
          <p:cNvSpPr/>
          <p:nvPr/>
        </p:nvSpPr>
        <p:spPr>
          <a:xfrm>
            <a:off x="502920" y="3767328"/>
            <a:ext cx="3657600" cy="54864"/>
          </a:xfrm>
          <a:prstGeom prst="rect">
            <a:avLst/>
          </a:prstGeom>
          <a:solidFill>
            <a:srgbClr val="F5C518">
              <a:alpha val="60000"/>
            </a:srgbClr>
          </a:solidFill>
          <a:ln w="12700">
            <a:solidFill>
              <a:srgbClr val="F5C518"/>
            </a:solidFill>
            <a:prstDash val="solid"/>
          </a:ln>
        </p:spPr>
        <p:txBody>
          <a:bodyPr/>
          <a:lstStyle/>
          <a:p>
            <a:endParaRPr lang="en-AU"/>
          </a:p>
        </p:txBody>
      </p:sp>
      <p:pic>
        <p:nvPicPr>
          <p:cNvPr id="24" name="Image 2" descr="preencoded.png"/>
          <p:cNvPicPr>
            <a:picLocks noChangeAspect="1"/>
          </p:cNvPicPr>
          <p:nvPr/>
        </p:nvPicPr>
        <p:blipFill>
          <a:blip r:embed="rId3"/>
          <a:stretch>
            <a:fillRect/>
          </a:stretch>
        </p:blipFill>
        <p:spPr>
          <a:xfrm>
            <a:off x="502920" y="3931920"/>
            <a:ext cx="320040" cy="320040"/>
          </a:xfrm>
          <a:prstGeom prst="rect">
            <a:avLst/>
          </a:prstGeom>
        </p:spPr>
      </p:pic>
      <p:sp>
        <p:nvSpPr>
          <p:cNvPr id="25" name="Text 20"/>
          <p:cNvSpPr/>
          <p:nvPr/>
        </p:nvSpPr>
        <p:spPr>
          <a:xfrm>
            <a:off x="914400" y="3977640"/>
            <a:ext cx="3246120" cy="320040"/>
          </a:xfrm>
          <a:prstGeom prst="rect">
            <a:avLst/>
          </a:prstGeom>
          <a:noFill/>
          <a:ln/>
        </p:spPr>
        <p:txBody>
          <a:bodyPr wrap="square" lIns="0" tIns="0" rIns="0" bIns="0" rtlCol="0" anchor="ctr"/>
          <a:lstStyle/>
          <a:p>
            <a:pPr marL="0" indent="0">
              <a:buNone/>
            </a:pPr>
            <a:r>
              <a:rPr lang="en-US" sz="1100" dirty="0">
                <a:solidFill>
                  <a:srgbClr val="8C9DC0"/>
                </a:solidFill>
                <a:latin typeface="Calibri" pitchFamily="34" charset="0"/>
                <a:ea typeface="Calibri" pitchFamily="34" charset="-122"/>
                <a:cs typeface="Calibri" pitchFamily="34" charset="-120"/>
              </a:rPr>
              <a:t>Redesign cut bounce rate by 58%</a:t>
            </a:r>
            <a:endParaRPr lang="en-US" sz="1100" dirty="0"/>
          </a:p>
        </p:txBody>
      </p:sp>
      <p:sp>
        <p:nvSpPr>
          <p:cNvPr id="26" name="Shape 21"/>
          <p:cNvSpPr/>
          <p:nvPr/>
        </p:nvSpPr>
        <p:spPr>
          <a:xfrm>
            <a:off x="4709160" y="3017520"/>
            <a:ext cx="4023360" cy="1600200"/>
          </a:xfrm>
          <a:prstGeom prst="rect">
            <a:avLst/>
          </a:prstGeom>
          <a:solidFill>
            <a:srgbClr val="1B3A6B"/>
          </a:solidFill>
          <a:ln w="12700">
            <a:solidFill>
              <a:srgbClr val="1B3A6B"/>
            </a:solidFill>
            <a:prstDash val="solid"/>
          </a:ln>
          <a:effectLst>
            <a:outerShdw blurRad="101600" dist="38100" dir="8100000" algn="bl" rotWithShape="0">
              <a:srgbClr val="000000">
                <a:alpha val="15000"/>
              </a:srgbClr>
            </a:outerShdw>
          </a:effectLst>
        </p:spPr>
        <p:txBody>
          <a:bodyPr/>
          <a:lstStyle/>
          <a:p>
            <a:endParaRPr lang="en-AU"/>
          </a:p>
        </p:txBody>
      </p:sp>
      <p:sp>
        <p:nvSpPr>
          <p:cNvPr id="27" name="Shape 22"/>
          <p:cNvSpPr/>
          <p:nvPr/>
        </p:nvSpPr>
        <p:spPr>
          <a:xfrm>
            <a:off x="7909560" y="3017520"/>
            <a:ext cx="822960" cy="320040"/>
          </a:xfrm>
          <a:prstGeom prst="rect">
            <a:avLst/>
          </a:prstGeom>
          <a:solidFill>
            <a:srgbClr val="F5C518"/>
          </a:solidFill>
          <a:ln w="12700">
            <a:solidFill>
              <a:srgbClr val="F5C518"/>
            </a:solidFill>
            <a:prstDash val="solid"/>
          </a:ln>
        </p:spPr>
        <p:txBody>
          <a:bodyPr/>
          <a:lstStyle/>
          <a:p>
            <a:endParaRPr lang="en-AU"/>
          </a:p>
        </p:txBody>
      </p:sp>
      <p:sp>
        <p:nvSpPr>
          <p:cNvPr id="28" name="Text 23"/>
          <p:cNvSpPr/>
          <p:nvPr/>
        </p:nvSpPr>
        <p:spPr>
          <a:xfrm>
            <a:off x="7909560" y="3017520"/>
            <a:ext cx="822960" cy="320040"/>
          </a:xfrm>
          <a:prstGeom prst="rect">
            <a:avLst/>
          </a:prstGeom>
          <a:noFill/>
          <a:ln/>
        </p:spPr>
        <p:txBody>
          <a:bodyPr wrap="square" lIns="0" tIns="0" rIns="0" bIns="0" rtlCol="0" anchor="ctr"/>
          <a:lstStyle/>
          <a:p>
            <a:pPr marL="0" indent="0" algn="ctr">
              <a:buNone/>
            </a:pPr>
            <a:r>
              <a:rPr lang="en-US" sz="900" b="1" dirty="0">
                <a:solidFill>
                  <a:srgbClr val="1B3A6B"/>
                </a:solidFill>
                <a:latin typeface="Calibri" pitchFamily="34" charset="0"/>
                <a:ea typeface="Calibri" pitchFamily="34" charset="-122"/>
                <a:cs typeface="Calibri" pitchFamily="34" charset="-120"/>
              </a:rPr>
              <a:t>Non-Profit</a:t>
            </a:r>
            <a:endParaRPr lang="en-US" sz="900" dirty="0"/>
          </a:p>
        </p:txBody>
      </p:sp>
      <p:sp>
        <p:nvSpPr>
          <p:cNvPr id="29" name="Text 24"/>
          <p:cNvSpPr/>
          <p:nvPr/>
        </p:nvSpPr>
        <p:spPr>
          <a:xfrm>
            <a:off x="4892040" y="3246120"/>
            <a:ext cx="3657600" cy="457200"/>
          </a:xfrm>
          <a:prstGeom prst="rect">
            <a:avLst/>
          </a:prstGeom>
          <a:noFill/>
          <a:ln/>
        </p:spPr>
        <p:txBody>
          <a:bodyPr wrap="square"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Green Future AU</a:t>
            </a:r>
            <a:endParaRPr lang="en-US" sz="2000" dirty="0"/>
          </a:p>
        </p:txBody>
      </p:sp>
      <p:sp>
        <p:nvSpPr>
          <p:cNvPr id="30" name="Shape 25"/>
          <p:cNvSpPr/>
          <p:nvPr/>
        </p:nvSpPr>
        <p:spPr>
          <a:xfrm>
            <a:off x="4892040" y="3767328"/>
            <a:ext cx="3657600" cy="54864"/>
          </a:xfrm>
          <a:prstGeom prst="rect">
            <a:avLst/>
          </a:prstGeom>
          <a:solidFill>
            <a:srgbClr val="F5C518">
              <a:alpha val="60000"/>
            </a:srgbClr>
          </a:solidFill>
          <a:ln w="12700">
            <a:solidFill>
              <a:srgbClr val="F5C518"/>
            </a:solidFill>
            <a:prstDash val="solid"/>
          </a:ln>
        </p:spPr>
        <p:txBody>
          <a:bodyPr/>
          <a:lstStyle/>
          <a:p>
            <a:endParaRPr lang="en-AU"/>
          </a:p>
        </p:txBody>
      </p:sp>
      <p:pic>
        <p:nvPicPr>
          <p:cNvPr id="31" name="Image 3" descr="preencoded.png"/>
          <p:cNvPicPr>
            <a:picLocks noChangeAspect="1"/>
          </p:cNvPicPr>
          <p:nvPr/>
        </p:nvPicPr>
        <p:blipFill>
          <a:blip r:embed="rId3"/>
          <a:stretch>
            <a:fillRect/>
          </a:stretch>
        </p:blipFill>
        <p:spPr>
          <a:xfrm>
            <a:off x="4892040" y="3931920"/>
            <a:ext cx="320040" cy="320040"/>
          </a:xfrm>
          <a:prstGeom prst="rect">
            <a:avLst/>
          </a:prstGeom>
        </p:spPr>
      </p:pic>
      <p:sp>
        <p:nvSpPr>
          <p:cNvPr id="32" name="Text 26"/>
          <p:cNvSpPr/>
          <p:nvPr/>
        </p:nvSpPr>
        <p:spPr>
          <a:xfrm>
            <a:off x="5303520" y="3977640"/>
            <a:ext cx="3246120" cy="320040"/>
          </a:xfrm>
          <a:prstGeom prst="rect">
            <a:avLst/>
          </a:prstGeom>
          <a:noFill/>
          <a:ln/>
        </p:spPr>
        <p:txBody>
          <a:bodyPr wrap="square" lIns="0" tIns="0" rIns="0" bIns="0" rtlCol="0" anchor="ctr"/>
          <a:lstStyle/>
          <a:p>
            <a:pPr marL="0" indent="0">
              <a:buNone/>
            </a:pPr>
            <a:r>
              <a:rPr lang="en-US" sz="1100" dirty="0">
                <a:solidFill>
                  <a:srgbClr val="8C9DC0"/>
                </a:solidFill>
                <a:latin typeface="Calibri" pitchFamily="34" charset="0"/>
                <a:ea typeface="Calibri" pitchFamily="34" charset="-122"/>
                <a:cs typeface="Calibri" pitchFamily="34" charset="-120"/>
              </a:rPr>
              <a:t>3× donation conversions post-launch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594360"/>
          </a:xfrm>
          <a:prstGeom prst="rect">
            <a:avLst/>
          </a:prstGeom>
          <a:noFill/>
          <a:ln/>
        </p:spPr>
        <p:txBody>
          <a:bodyPr wrap="square" rtlCol="0" anchor="ctr"/>
          <a:lstStyle/>
          <a:p>
            <a:pPr marL="0" indent="0" algn="ctr">
              <a:buNone/>
            </a:pPr>
            <a:r>
              <a:rPr lang="en-US" sz="3400" b="1" dirty="0">
                <a:solidFill>
                  <a:srgbClr val="1B3A6B"/>
                </a:solidFill>
                <a:latin typeface="Calibri" pitchFamily="34" charset="0"/>
                <a:ea typeface="Calibri" pitchFamily="34" charset="-122"/>
                <a:cs typeface="Calibri" pitchFamily="34" charset="-120"/>
              </a:rPr>
              <a:t>Pricing </a:t>
            </a:r>
            <a:r>
              <a:rPr lang="en-US" sz="3400" b="1" dirty="0">
                <a:solidFill>
                  <a:srgbClr val="F5C518"/>
                </a:solidFill>
                <a:latin typeface="Calibri" pitchFamily="34" charset="0"/>
                <a:ea typeface="Calibri" pitchFamily="34" charset="-122"/>
                <a:cs typeface="Calibri" pitchFamily="34" charset="-120"/>
              </a:rPr>
              <a:t>Packages</a:t>
            </a:r>
            <a:endParaRPr lang="en-US" sz="3400" dirty="0"/>
          </a:p>
        </p:txBody>
      </p:sp>
      <p:sp>
        <p:nvSpPr>
          <p:cNvPr id="3" name="Text 1"/>
          <p:cNvSpPr/>
          <p:nvPr/>
        </p:nvSpPr>
        <p:spPr>
          <a:xfrm>
            <a:off x="914400" y="777240"/>
            <a:ext cx="7315200" cy="320040"/>
          </a:xfrm>
          <a:prstGeom prst="rect">
            <a:avLst/>
          </a:prstGeom>
          <a:noFill/>
          <a:ln/>
        </p:spPr>
        <p:txBody>
          <a:bodyPr wrap="square" rtlCol="0" anchor="ctr"/>
          <a:lstStyle/>
          <a:p>
            <a:pPr marL="0" indent="0" algn="ctr">
              <a:buNone/>
            </a:pPr>
            <a:r>
              <a:rPr lang="en-US" sz="1300" dirty="0">
                <a:solidFill>
                  <a:srgbClr val="4A5568"/>
                </a:solidFill>
                <a:latin typeface="Calibri" pitchFamily="34" charset="0"/>
                <a:ea typeface="Calibri" pitchFamily="34" charset="-122"/>
                <a:cs typeface="Calibri" pitchFamily="34" charset="-120"/>
              </a:rPr>
              <a:t>Transparent, all-inclusive pricing — no hidden fees</a:t>
            </a:r>
            <a:endParaRPr lang="en-US" sz="1300" dirty="0"/>
          </a:p>
        </p:txBody>
      </p:sp>
      <p:sp>
        <p:nvSpPr>
          <p:cNvPr id="4" name="Shape 2"/>
          <p:cNvSpPr/>
          <p:nvPr/>
        </p:nvSpPr>
        <p:spPr>
          <a:xfrm>
            <a:off x="502920" y="1280160"/>
            <a:ext cx="2606040" cy="3474720"/>
          </a:xfrm>
          <a:prstGeom prst="rect">
            <a:avLst/>
          </a:prstGeom>
          <a:solidFill>
            <a:srgbClr val="FFFFFF"/>
          </a:solidFill>
          <a:ln w="12700">
            <a:solidFill>
              <a:srgbClr val="E8EDF5"/>
            </a:solidFill>
            <a:prstDash val="solid"/>
          </a:ln>
          <a:effectLst>
            <a:outerShdw blurRad="127000" dist="50800" dir="8100000" algn="bl" rotWithShape="0">
              <a:srgbClr val="000000">
                <a:alpha val="8000"/>
              </a:srgbClr>
            </a:outerShdw>
          </a:effectLst>
        </p:spPr>
        <p:txBody>
          <a:bodyPr/>
          <a:lstStyle/>
          <a:p>
            <a:endParaRPr lang="en-AU"/>
          </a:p>
        </p:txBody>
      </p:sp>
      <p:sp>
        <p:nvSpPr>
          <p:cNvPr id="5" name="Text 3"/>
          <p:cNvSpPr/>
          <p:nvPr/>
        </p:nvSpPr>
        <p:spPr>
          <a:xfrm>
            <a:off x="502920" y="1371600"/>
            <a:ext cx="2606040" cy="411480"/>
          </a:xfrm>
          <a:prstGeom prst="rect">
            <a:avLst/>
          </a:prstGeom>
          <a:noFill/>
          <a:ln/>
        </p:spPr>
        <p:txBody>
          <a:bodyPr wrap="square" rtlCol="0" anchor="ctr"/>
          <a:lstStyle/>
          <a:p>
            <a:pPr marL="0" indent="0" algn="ctr">
              <a:buNone/>
            </a:pPr>
            <a:r>
              <a:rPr lang="en-US" sz="1700" b="1" dirty="0">
                <a:solidFill>
                  <a:srgbClr val="1B3A6B"/>
                </a:solidFill>
                <a:latin typeface="Calibri" pitchFamily="34" charset="0"/>
                <a:ea typeface="Calibri" pitchFamily="34" charset="-122"/>
                <a:cs typeface="Calibri" pitchFamily="34" charset="-120"/>
              </a:rPr>
              <a:t>Starter</a:t>
            </a:r>
            <a:endParaRPr lang="en-US" sz="1700" dirty="0"/>
          </a:p>
        </p:txBody>
      </p:sp>
      <p:sp>
        <p:nvSpPr>
          <p:cNvPr id="6" name="Text 4"/>
          <p:cNvSpPr/>
          <p:nvPr/>
        </p:nvSpPr>
        <p:spPr>
          <a:xfrm>
            <a:off x="502920" y="1737360"/>
            <a:ext cx="2606040" cy="594360"/>
          </a:xfrm>
          <a:prstGeom prst="rect">
            <a:avLst/>
          </a:prstGeom>
          <a:noFill/>
          <a:ln/>
        </p:spPr>
        <p:txBody>
          <a:bodyPr wrap="square" rtlCol="0" anchor="ctr"/>
          <a:lstStyle/>
          <a:p>
            <a:pPr marL="0" indent="0" algn="ctr">
              <a:buNone/>
            </a:pPr>
            <a:r>
              <a:rPr lang="en-US" sz="3000" b="1" dirty="0">
                <a:solidFill>
                  <a:srgbClr val="1B3A6B"/>
                </a:solidFill>
                <a:latin typeface="Calibri" pitchFamily="34" charset="0"/>
                <a:ea typeface="Calibri" pitchFamily="34" charset="-122"/>
                <a:cs typeface="Calibri" pitchFamily="34" charset="-120"/>
              </a:rPr>
              <a:t>$800</a:t>
            </a:r>
            <a:endParaRPr lang="en-US" sz="3000" dirty="0"/>
          </a:p>
        </p:txBody>
      </p:sp>
      <p:sp>
        <p:nvSpPr>
          <p:cNvPr id="7" name="Text 5"/>
          <p:cNvSpPr/>
          <p:nvPr/>
        </p:nvSpPr>
        <p:spPr>
          <a:xfrm>
            <a:off x="502920" y="2286000"/>
            <a:ext cx="2606040" cy="228600"/>
          </a:xfrm>
          <a:prstGeom prst="rect">
            <a:avLst/>
          </a:prstGeom>
          <a:noFill/>
          <a:ln/>
        </p:spPr>
        <p:txBody>
          <a:bodyPr wrap="square" rtlCol="0" anchor="ctr"/>
          <a:lstStyle/>
          <a:p>
            <a:pPr marL="0" indent="0" algn="ctr">
              <a:buNone/>
            </a:pPr>
            <a:r>
              <a:rPr lang="en-US" sz="1100" dirty="0">
                <a:solidFill>
                  <a:srgbClr val="4A5568"/>
                </a:solidFill>
                <a:latin typeface="Calibri" pitchFamily="34" charset="0"/>
                <a:ea typeface="Calibri" pitchFamily="34" charset="-122"/>
                <a:cs typeface="Calibri" pitchFamily="34" charset="-120"/>
              </a:rPr>
              <a:t>/project</a:t>
            </a:r>
            <a:endParaRPr lang="en-US" sz="1100" dirty="0"/>
          </a:p>
        </p:txBody>
      </p:sp>
      <p:pic>
        <p:nvPicPr>
          <p:cNvPr id="8" name="Image 0" descr="preencoded.png"/>
          <p:cNvPicPr>
            <a:picLocks noChangeAspect="1"/>
          </p:cNvPicPr>
          <p:nvPr/>
        </p:nvPicPr>
        <p:blipFill>
          <a:blip r:embed="rId3"/>
          <a:stretch>
            <a:fillRect/>
          </a:stretch>
        </p:blipFill>
        <p:spPr>
          <a:xfrm>
            <a:off x="704088" y="2651760"/>
            <a:ext cx="182880" cy="182880"/>
          </a:xfrm>
          <a:prstGeom prst="rect">
            <a:avLst/>
          </a:prstGeom>
        </p:spPr>
      </p:pic>
      <p:sp>
        <p:nvSpPr>
          <p:cNvPr id="9" name="Text 6"/>
          <p:cNvSpPr/>
          <p:nvPr/>
        </p:nvSpPr>
        <p:spPr>
          <a:xfrm>
            <a:off x="960120" y="265176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Up to 5 pages</a:t>
            </a:r>
            <a:endParaRPr lang="en-US" sz="950" dirty="0"/>
          </a:p>
        </p:txBody>
      </p:sp>
      <p:pic>
        <p:nvPicPr>
          <p:cNvPr id="10" name="Image 1" descr="preencoded.png"/>
          <p:cNvPicPr>
            <a:picLocks noChangeAspect="1"/>
          </p:cNvPicPr>
          <p:nvPr/>
        </p:nvPicPr>
        <p:blipFill>
          <a:blip r:embed="rId3"/>
          <a:stretch>
            <a:fillRect/>
          </a:stretch>
        </p:blipFill>
        <p:spPr>
          <a:xfrm>
            <a:off x="704088" y="2926080"/>
            <a:ext cx="182880" cy="182880"/>
          </a:xfrm>
          <a:prstGeom prst="rect">
            <a:avLst/>
          </a:prstGeom>
        </p:spPr>
      </p:pic>
      <p:sp>
        <p:nvSpPr>
          <p:cNvPr id="11" name="Text 7"/>
          <p:cNvSpPr/>
          <p:nvPr/>
        </p:nvSpPr>
        <p:spPr>
          <a:xfrm>
            <a:off x="960120" y="292608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Mobile responsive</a:t>
            </a:r>
            <a:endParaRPr lang="en-US" sz="950" dirty="0"/>
          </a:p>
        </p:txBody>
      </p:sp>
      <p:pic>
        <p:nvPicPr>
          <p:cNvPr id="12" name="Image 2" descr="preencoded.png"/>
          <p:cNvPicPr>
            <a:picLocks noChangeAspect="1"/>
          </p:cNvPicPr>
          <p:nvPr/>
        </p:nvPicPr>
        <p:blipFill>
          <a:blip r:embed="rId3"/>
          <a:stretch>
            <a:fillRect/>
          </a:stretch>
        </p:blipFill>
        <p:spPr>
          <a:xfrm>
            <a:off x="704088" y="3200400"/>
            <a:ext cx="182880" cy="182880"/>
          </a:xfrm>
          <a:prstGeom prst="rect">
            <a:avLst/>
          </a:prstGeom>
        </p:spPr>
      </p:pic>
      <p:sp>
        <p:nvSpPr>
          <p:cNvPr id="13" name="Text 8"/>
          <p:cNvSpPr/>
          <p:nvPr/>
        </p:nvSpPr>
        <p:spPr>
          <a:xfrm>
            <a:off x="960120" y="320040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Basic SEO</a:t>
            </a:r>
            <a:endParaRPr lang="en-US" sz="950" dirty="0"/>
          </a:p>
        </p:txBody>
      </p:sp>
      <p:pic>
        <p:nvPicPr>
          <p:cNvPr id="14" name="Image 3" descr="preencoded.png"/>
          <p:cNvPicPr>
            <a:picLocks noChangeAspect="1"/>
          </p:cNvPicPr>
          <p:nvPr/>
        </p:nvPicPr>
        <p:blipFill>
          <a:blip r:embed="rId3"/>
          <a:stretch>
            <a:fillRect/>
          </a:stretch>
        </p:blipFill>
        <p:spPr>
          <a:xfrm>
            <a:off x="704088" y="3474720"/>
            <a:ext cx="182880" cy="182880"/>
          </a:xfrm>
          <a:prstGeom prst="rect">
            <a:avLst/>
          </a:prstGeom>
        </p:spPr>
      </p:pic>
      <p:sp>
        <p:nvSpPr>
          <p:cNvPr id="15" name="Text 9"/>
          <p:cNvSpPr/>
          <p:nvPr/>
        </p:nvSpPr>
        <p:spPr>
          <a:xfrm>
            <a:off x="960120" y="347472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Contact form</a:t>
            </a:r>
            <a:endParaRPr lang="en-US" sz="950" dirty="0"/>
          </a:p>
        </p:txBody>
      </p:sp>
      <p:pic>
        <p:nvPicPr>
          <p:cNvPr id="16" name="Image 4" descr="preencoded.png"/>
          <p:cNvPicPr>
            <a:picLocks noChangeAspect="1"/>
          </p:cNvPicPr>
          <p:nvPr/>
        </p:nvPicPr>
        <p:blipFill>
          <a:blip r:embed="rId3"/>
          <a:stretch>
            <a:fillRect/>
          </a:stretch>
        </p:blipFill>
        <p:spPr>
          <a:xfrm>
            <a:off x="704088" y="3749040"/>
            <a:ext cx="182880" cy="182880"/>
          </a:xfrm>
          <a:prstGeom prst="rect">
            <a:avLst/>
          </a:prstGeom>
        </p:spPr>
      </p:pic>
      <p:sp>
        <p:nvSpPr>
          <p:cNvPr id="17" name="Text 10"/>
          <p:cNvSpPr/>
          <p:nvPr/>
        </p:nvSpPr>
        <p:spPr>
          <a:xfrm>
            <a:off x="960120" y="374904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3 revisions</a:t>
            </a:r>
            <a:endParaRPr lang="en-US" sz="950" dirty="0"/>
          </a:p>
        </p:txBody>
      </p:sp>
      <p:sp>
        <p:nvSpPr>
          <p:cNvPr id="18" name="Shape 11"/>
          <p:cNvSpPr/>
          <p:nvPr/>
        </p:nvSpPr>
        <p:spPr>
          <a:xfrm>
            <a:off x="3337560" y="1280160"/>
            <a:ext cx="2606040" cy="3474720"/>
          </a:xfrm>
          <a:prstGeom prst="rect">
            <a:avLst/>
          </a:prstGeom>
          <a:solidFill>
            <a:srgbClr val="1B3A6B"/>
          </a:solidFill>
          <a:ln w="25400">
            <a:solidFill>
              <a:srgbClr val="F5C518"/>
            </a:solidFill>
            <a:prstDash val="solid"/>
          </a:ln>
          <a:effectLst>
            <a:outerShdw blurRad="127000" dist="50800" dir="8100000" algn="bl" rotWithShape="0">
              <a:srgbClr val="000000">
                <a:alpha val="20000"/>
              </a:srgbClr>
            </a:outerShdw>
          </a:effectLst>
        </p:spPr>
        <p:txBody>
          <a:bodyPr/>
          <a:lstStyle/>
          <a:p>
            <a:endParaRPr lang="en-AU"/>
          </a:p>
        </p:txBody>
      </p:sp>
      <p:sp>
        <p:nvSpPr>
          <p:cNvPr id="19" name="Shape 12"/>
          <p:cNvSpPr/>
          <p:nvPr/>
        </p:nvSpPr>
        <p:spPr>
          <a:xfrm>
            <a:off x="3337560" y="1280160"/>
            <a:ext cx="2606040" cy="320040"/>
          </a:xfrm>
          <a:prstGeom prst="rect">
            <a:avLst/>
          </a:prstGeom>
          <a:solidFill>
            <a:srgbClr val="F5C518"/>
          </a:solidFill>
          <a:ln w="12700">
            <a:solidFill>
              <a:srgbClr val="F5C518"/>
            </a:solidFill>
            <a:prstDash val="solid"/>
          </a:ln>
        </p:spPr>
        <p:txBody>
          <a:bodyPr/>
          <a:lstStyle/>
          <a:p>
            <a:endParaRPr lang="en-AU"/>
          </a:p>
        </p:txBody>
      </p:sp>
      <p:sp>
        <p:nvSpPr>
          <p:cNvPr id="20" name="Text 13"/>
          <p:cNvSpPr/>
          <p:nvPr/>
        </p:nvSpPr>
        <p:spPr>
          <a:xfrm>
            <a:off x="3337560" y="1280160"/>
            <a:ext cx="2606040" cy="320040"/>
          </a:xfrm>
          <a:prstGeom prst="rect">
            <a:avLst/>
          </a:prstGeom>
          <a:noFill/>
          <a:ln/>
        </p:spPr>
        <p:txBody>
          <a:bodyPr wrap="square" lIns="0" tIns="0" rIns="0" bIns="0" rtlCol="0" anchor="ctr"/>
          <a:lstStyle/>
          <a:p>
            <a:pPr marL="0" indent="0" algn="ctr">
              <a:buNone/>
            </a:pPr>
            <a:r>
              <a:rPr lang="en-US" sz="900" b="1" dirty="0">
                <a:solidFill>
                  <a:srgbClr val="1B3A6B"/>
                </a:solidFill>
                <a:latin typeface="Calibri" pitchFamily="34" charset="0"/>
                <a:ea typeface="Calibri" pitchFamily="34" charset="-122"/>
                <a:cs typeface="Calibri" pitchFamily="34" charset="-120"/>
              </a:rPr>
              <a:t>MOST POPULAR</a:t>
            </a:r>
            <a:endParaRPr lang="en-US" sz="900" dirty="0"/>
          </a:p>
        </p:txBody>
      </p:sp>
      <p:sp>
        <p:nvSpPr>
          <p:cNvPr id="21" name="Text 14"/>
          <p:cNvSpPr/>
          <p:nvPr/>
        </p:nvSpPr>
        <p:spPr>
          <a:xfrm>
            <a:off x="3337560" y="1719072"/>
            <a:ext cx="2606040" cy="411480"/>
          </a:xfrm>
          <a:prstGeom prst="rect">
            <a:avLst/>
          </a:prstGeom>
          <a:noFill/>
          <a:ln/>
        </p:spPr>
        <p:txBody>
          <a:bodyPr wrap="square" rtlCol="0" anchor="ctr"/>
          <a:lstStyle/>
          <a:p>
            <a:pPr marL="0" indent="0" algn="ctr">
              <a:buNone/>
            </a:pPr>
            <a:r>
              <a:rPr lang="en-US" sz="1700" b="1" dirty="0">
                <a:solidFill>
                  <a:srgbClr val="F5C518"/>
                </a:solidFill>
                <a:latin typeface="Calibri" pitchFamily="34" charset="0"/>
                <a:ea typeface="Calibri" pitchFamily="34" charset="-122"/>
                <a:cs typeface="Calibri" pitchFamily="34" charset="-120"/>
              </a:rPr>
              <a:t>Growth</a:t>
            </a:r>
            <a:endParaRPr lang="en-US" sz="1700" dirty="0"/>
          </a:p>
        </p:txBody>
      </p:sp>
      <p:sp>
        <p:nvSpPr>
          <p:cNvPr id="22" name="Text 15"/>
          <p:cNvSpPr/>
          <p:nvPr/>
        </p:nvSpPr>
        <p:spPr>
          <a:xfrm>
            <a:off x="3337560" y="2084832"/>
            <a:ext cx="2606040" cy="594360"/>
          </a:xfrm>
          <a:prstGeom prst="rect">
            <a:avLst/>
          </a:prstGeom>
          <a:noFill/>
          <a:ln/>
        </p:spPr>
        <p:txBody>
          <a:bodyPr wrap="square"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$1,500</a:t>
            </a:r>
            <a:endParaRPr lang="en-US" sz="3000" dirty="0"/>
          </a:p>
        </p:txBody>
      </p:sp>
      <p:sp>
        <p:nvSpPr>
          <p:cNvPr id="23" name="Text 16"/>
          <p:cNvSpPr/>
          <p:nvPr/>
        </p:nvSpPr>
        <p:spPr>
          <a:xfrm>
            <a:off x="3337560" y="2633472"/>
            <a:ext cx="2606040" cy="228600"/>
          </a:xfrm>
          <a:prstGeom prst="rect">
            <a:avLst/>
          </a:prstGeom>
          <a:noFill/>
          <a:ln/>
        </p:spPr>
        <p:txBody>
          <a:bodyPr wrap="square" rtlCol="0" anchor="ctr"/>
          <a:lstStyle/>
          <a:p>
            <a:pPr marL="0" indent="0" algn="ctr">
              <a:buNone/>
            </a:pPr>
            <a:r>
              <a:rPr lang="en-US" sz="1100" dirty="0">
                <a:solidFill>
                  <a:srgbClr val="8C9DC0"/>
                </a:solidFill>
                <a:latin typeface="Calibri" pitchFamily="34" charset="0"/>
                <a:ea typeface="Calibri" pitchFamily="34" charset="-122"/>
                <a:cs typeface="Calibri" pitchFamily="34" charset="-120"/>
              </a:rPr>
              <a:t>/project</a:t>
            </a:r>
            <a:endParaRPr lang="en-US" sz="1100" dirty="0"/>
          </a:p>
        </p:txBody>
      </p:sp>
      <p:pic>
        <p:nvPicPr>
          <p:cNvPr id="24" name="Image 5" descr="preencoded.png"/>
          <p:cNvPicPr>
            <a:picLocks noChangeAspect="1"/>
          </p:cNvPicPr>
          <p:nvPr/>
        </p:nvPicPr>
        <p:blipFill>
          <a:blip r:embed="rId4"/>
          <a:stretch>
            <a:fillRect/>
          </a:stretch>
        </p:blipFill>
        <p:spPr>
          <a:xfrm>
            <a:off x="3538728" y="2999232"/>
            <a:ext cx="182880" cy="182880"/>
          </a:xfrm>
          <a:prstGeom prst="rect">
            <a:avLst/>
          </a:prstGeom>
        </p:spPr>
      </p:pic>
      <p:sp>
        <p:nvSpPr>
          <p:cNvPr id="25" name="Text 17"/>
          <p:cNvSpPr/>
          <p:nvPr/>
        </p:nvSpPr>
        <p:spPr>
          <a:xfrm>
            <a:off x="3794760" y="299923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Up to 10 pages</a:t>
            </a:r>
            <a:endParaRPr lang="en-US" sz="950" dirty="0"/>
          </a:p>
        </p:txBody>
      </p:sp>
      <p:pic>
        <p:nvPicPr>
          <p:cNvPr id="26" name="Image 6" descr="preencoded.png"/>
          <p:cNvPicPr>
            <a:picLocks noChangeAspect="1"/>
          </p:cNvPicPr>
          <p:nvPr/>
        </p:nvPicPr>
        <p:blipFill>
          <a:blip r:embed="rId4"/>
          <a:stretch>
            <a:fillRect/>
          </a:stretch>
        </p:blipFill>
        <p:spPr>
          <a:xfrm>
            <a:off x="3538728" y="3273552"/>
            <a:ext cx="182880" cy="182880"/>
          </a:xfrm>
          <a:prstGeom prst="rect">
            <a:avLst/>
          </a:prstGeom>
        </p:spPr>
      </p:pic>
      <p:sp>
        <p:nvSpPr>
          <p:cNvPr id="27" name="Text 18"/>
          <p:cNvSpPr/>
          <p:nvPr/>
        </p:nvSpPr>
        <p:spPr>
          <a:xfrm>
            <a:off x="3794760" y="327355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Advanced SEO</a:t>
            </a:r>
            <a:endParaRPr lang="en-US" sz="950" dirty="0"/>
          </a:p>
        </p:txBody>
      </p:sp>
      <p:pic>
        <p:nvPicPr>
          <p:cNvPr id="28" name="Image 7" descr="preencoded.png"/>
          <p:cNvPicPr>
            <a:picLocks noChangeAspect="1"/>
          </p:cNvPicPr>
          <p:nvPr/>
        </p:nvPicPr>
        <p:blipFill>
          <a:blip r:embed="rId4"/>
          <a:stretch>
            <a:fillRect/>
          </a:stretch>
        </p:blipFill>
        <p:spPr>
          <a:xfrm>
            <a:off x="3538728" y="3547872"/>
            <a:ext cx="182880" cy="182880"/>
          </a:xfrm>
          <a:prstGeom prst="rect">
            <a:avLst/>
          </a:prstGeom>
        </p:spPr>
      </p:pic>
      <p:sp>
        <p:nvSpPr>
          <p:cNvPr id="29" name="Text 19"/>
          <p:cNvSpPr/>
          <p:nvPr/>
        </p:nvSpPr>
        <p:spPr>
          <a:xfrm>
            <a:off x="3794760" y="354787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CMS integration</a:t>
            </a:r>
            <a:endParaRPr lang="en-US" sz="950" dirty="0"/>
          </a:p>
        </p:txBody>
      </p:sp>
      <p:pic>
        <p:nvPicPr>
          <p:cNvPr id="30" name="Image 8" descr="preencoded.png"/>
          <p:cNvPicPr>
            <a:picLocks noChangeAspect="1"/>
          </p:cNvPicPr>
          <p:nvPr/>
        </p:nvPicPr>
        <p:blipFill>
          <a:blip r:embed="rId4"/>
          <a:stretch>
            <a:fillRect/>
          </a:stretch>
        </p:blipFill>
        <p:spPr>
          <a:xfrm>
            <a:off x="3538728" y="3822192"/>
            <a:ext cx="182880" cy="182880"/>
          </a:xfrm>
          <a:prstGeom prst="rect">
            <a:avLst/>
          </a:prstGeom>
        </p:spPr>
      </p:pic>
      <p:sp>
        <p:nvSpPr>
          <p:cNvPr id="31" name="Text 20"/>
          <p:cNvSpPr/>
          <p:nvPr/>
        </p:nvSpPr>
        <p:spPr>
          <a:xfrm>
            <a:off x="3794760" y="382219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Analytics setup</a:t>
            </a:r>
            <a:endParaRPr lang="en-US" sz="950" dirty="0"/>
          </a:p>
        </p:txBody>
      </p:sp>
      <p:pic>
        <p:nvPicPr>
          <p:cNvPr id="32" name="Image 9" descr="preencoded.png"/>
          <p:cNvPicPr>
            <a:picLocks noChangeAspect="1"/>
          </p:cNvPicPr>
          <p:nvPr/>
        </p:nvPicPr>
        <p:blipFill>
          <a:blip r:embed="rId4"/>
          <a:stretch>
            <a:fillRect/>
          </a:stretch>
        </p:blipFill>
        <p:spPr>
          <a:xfrm>
            <a:off x="3538728" y="4096512"/>
            <a:ext cx="182880" cy="182880"/>
          </a:xfrm>
          <a:prstGeom prst="rect">
            <a:avLst/>
          </a:prstGeom>
        </p:spPr>
      </p:pic>
      <p:sp>
        <p:nvSpPr>
          <p:cNvPr id="33" name="Text 21"/>
          <p:cNvSpPr/>
          <p:nvPr/>
        </p:nvSpPr>
        <p:spPr>
          <a:xfrm>
            <a:off x="3794760" y="409651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Google Ads setup</a:t>
            </a:r>
            <a:endParaRPr lang="en-US" sz="950" dirty="0"/>
          </a:p>
        </p:txBody>
      </p:sp>
      <p:pic>
        <p:nvPicPr>
          <p:cNvPr id="34" name="Image 10" descr="preencoded.png"/>
          <p:cNvPicPr>
            <a:picLocks noChangeAspect="1"/>
          </p:cNvPicPr>
          <p:nvPr/>
        </p:nvPicPr>
        <p:blipFill>
          <a:blip r:embed="rId4"/>
          <a:stretch>
            <a:fillRect/>
          </a:stretch>
        </p:blipFill>
        <p:spPr>
          <a:xfrm>
            <a:off x="3538728" y="4370832"/>
            <a:ext cx="182880" cy="182880"/>
          </a:xfrm>
          <a:prstGeom prst="rect">
            <a:avLst/>
          </a:prstGeom>
        </p:spPr>
      </p:pic>
      <p:sp>
        <p:nvSpPr>
          <p:cNvPr id="35" name="Text 22"/>
          <p:cNvSpPr/>
          <p:nvPr/>
        </p:nvSpPr>
        <p:spPr>
          <a:xfrm>
            <a:off x="3794760" y="4370832"/>
            <a:ext cx="2011680" cy="237744"/>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6 revisions + 30-day support</a:t>
            </a:r>
            <a:endParaRPr lang="en-US" sz="950" dirty="0"/>
          </a:p>
        </p:txBody>
      </p:sp>
      <p:sp>
        <p:nvSpPr>
          <p:cNvPr id="36" name="Shape 23"/>
          <p:cNvSpPr/>
          <p:nvPr/>
        </p:nvSpPr>
        <p:spPr>
          <a:xfrm>
            <a:off x="6172200" y="1280160"/>
            <a:ext cx="2606040" cy="3474720"/>
          </a:xfrm>
          <a:prstGeom prst="rect">
            <a:avLst/>
          </a:prstGeom>
          <a:solidFill>
            <a:srgbClr val="FFFFFF"/>
          </a:solidFill>
          <a:ln w="12700">
            <a:solidFill>
              <a:srgbClr val="E8EDF5"/>
            </a:solidFill>
            <a:prstDash val="solid"/>
          </a:ln>
          <a:effectLst>
            <a:outerShdw blurRad="127000" dist="50800" dir="8100000" algn="bl" rotWithShape="0">
              <a:srgbClr val="000000">
                <a:alpha val="8000"/>
              </a:srgbClr>
            </a:outerShdw>
          </a:effectLst>
        </p:spPr>
        <p:txBody>
          <a:bodyPr/>
          <a:lstStyle/>
          <a:p>
            <a:endParaRPr lang="en-AU"/>
          </a:p>
        </p:txBody>
      </p:sp>
      <p:sp>
        <p:nvSpPr>
          <p:cNvPr id="37" name="Text 24"/>
          <p:cNvSpPr/>
          <p:nvPr/>
        </p:nvSpPr>
        <p:spPr>
          <a:xfrm>
            <a:off x="6172200" y="1371600"/>
            <a:ext cx="2606040" cy="411480"/>
          </a:xfrm>
          <a:prstGeom prst="rect">
            <a:avLst/>
          </a:prstGeom>
          <a:noFill/>
          <a:ln/>
        </p:spPr>
        <p:txBody>
          <a:bodyPr wrap="square" rtlCol="0" anchor="ctr"/>
          <a:lstStyle/>
          <a:p>
            <a:pPr marL="0" indent="0" algn="ctr">
              <a:buNone/>
            </a:pPr>
            <a:r>
              <a:rPr lang="en-US" sz="1700" b="1" dirty="0">
                <a:solidFill>
                  <a:srgbClr val="1B3A6B"/>
                </a:solidFill>
                <a:latin typeface="Calibri" pitchFamily="34" charset="0"/>
                <a:ea typeface="Calibri" pitchFamily="34" charset="-122"/>
                <a:cs typeface="Calibri" pitchFamily="34" charset="-120"/>
              </a:rPr>
              <a:t>Enterprise</a:t>
            </a:r>
            <a:endParaRPr lang="en-US" sz="1700" dirty="0"/>
          </a:p>
        </p:txBody>
      </p:sp>
      <p:sp>
        <p:nvSpPr>
          <p:cNvPr id="38" name="Text 25"/>
          <p:cNvSpPr/>
          <p:nvPr/>
        </p:nvSpPr>
        <p:spPr>
          <a:xfrm>
            <a:off x="6172200" y="1737360"/>
            <a:ext cx="2606040" cy="594360"/>
          </a:xfrm>
          <a:prstGeom prst="rect">
            <a:avLst/>
          </a:prstGeom>
          <a:noFill/>
          <a:ln/>
        </p:spPr>
        <p:txBody>
          <a:bodyPr wrap="square" rtlCol="0" anchor="ctr"/>
          <a:lstStyle/>
          <a:p>
            <a:pPr marL="0" indent="0" algn="ctr">
              <a:buNone/>
            </a:pPr>
            <a:r>
              <a:rPr lang="en-US" sz="3000" b="1" dirty="0">
                <a:solidFill>
                  <a:srgbClr val="1B3A6B"/>
                </a:solidFill>
                <a:latin typeface="Calibri" pitchFamily="34" charset="0"/>
                <a:ea typeface="Calibri" pitchFamily="34" charset="-122"/>
                <a:cs typeface="Calibri" pitchFamily="34" charset="-120"/>
              </a:rPr>
              <a:t>Custom</a:t>
            </a:r>
            <a:endParaRPr lang="en-US" sz="3000" dirty="0"/>
          </a:p>
        </p:txBody>
      </p:sp>
      <p:sp>
        <p:nvSpPr>
          <p:cNvPr id="39" name="Text 26"/>
          <p:cNvSpPr/>
          <p:nvPr/>
        </p:nvSpPr>
        <p:spPr>
          <a:xfrm>
            <a:off x="6172200" y="2286000"/>
            <a:ext cx="2606040" cy="228600"/>
          </a:xfrm>
          <a:prstGeom prst="rect">
            <a:avLst/>
          </a:prstGeom>
          <a:noFill/>
          <a:ln/>
        </p:spPr>
        <p:txBody>
          <a:bodyPr wrap="square" rtlCol="0" anchor="ctr"/>
          <a:lstStyle/>
          <a:p>
            <a:pPr marL="0" indent="0" algn="ctr">
              <a:buNone/>
            </a:pPr>
            <a:r>
              <a:rPr lang="en-US" sz="1100" dirty="0">
                <a:solidFill>
                  <a:srgbClr val="4A5568"/>
                </a:solidFill>
                <a:latin typeface="Calibri" pitchFamily="34" charset="0"/>
                <a:ea typeface="Calibri" pitchFamily="34" charset="-122"/>
                <a:cs typeface="Calibri" pitchFamily="34" charset="-120"/>
              </a:rPr>
              <a:t>/quote</a:t>
            </a:r>
            <a:endParaRPr lang="en-US" sz="1100" dirty="0"/>
          </a:p>
        </p:txBody>
      </p:sp>
      <p:pic>
        <p:nvPicPr>
          <p:cNvPr id="40" name="Image 11" descr="preencoded.png"/>
          <p:cNvPicPr>
            <a:picLocks noChangeAspect="1"/>
          </p:cNvPicPr>
          <p:nvPr/>
        </p:nvPicPr>
        <p:blipFill>
          <a:blip r:embed="rId3"/>
          <a:stretch>
            <a:fillRect/>
          </a:stretch>
        </p:blipFill>
        <p:spPr>
          <a:xfrm>
            <a:off x="6373368" y="2651760"/>
            <a:ext cx="182880" cy="182880"/>
          </a:xfrm>
          <a:prstGeom prst="rect">
            <a:avLst/>
          </a:prstGeom>
        </p:spPr>
      </p:pic>
      <p:sp>
        <p:nvSpPr>
          <p:cNvPr id="41" name="Text 27"/>
          <p:cNvSpPr/>
          <p:nvPr/>
        </p:nvSpPr>
        <p:spPr>
          <a:xfrm>
            <a:off x="6629400" y="265176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Unlimited pages</a:t>
            </a:r>
            <a:endParaRPr lang="en-US" sz="950" dirty="0"/>
          </a:p>
        </p:txBody>
      </p:sp>
      <p:pic>
        <p:nvPicPr>
          <p:cNvPr id="42" name="Image 12" descr="preencoded.png"/>
          <p:cNvPicPr>
            <a:picLocks noChangeAspect="1"/>
          </p:cNvPicPr>
          <p:nvPr/>
        </p:nvPicPr>
        <p:blipFill>
          <a:blip r:embed="rId3"/>
          <a:stretch>
            <a:fillRect/>
          </a:stretch>
        </p:blipFill>
        <p:spPr>
          <a:xfrm>
            <a:off x="6373368" y="2926080"/>
            <a:ext cx="182880" cy="182880"/>
          </a:xfrm>
          <a:prstGeom prst="rect">
            <a:avLst/>
          </a:prstGeom>
        </p:spPr>
      </p:pic>
      <p:sp>
        <p:nvSpPr>
          <p:cNvPr id="43" name="Text 28"/>
          <p:cNvSpPr/>
          <p:nvPr/>
        </p:nvSpPr>
        <p:spPr>
          <a:xfrm>
            <a:off x="6629400" y="292608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Full brand strategy</a:t>
            </a:r>
            <a:endParaRPr lang="en-US" sz="950" dirty="0"/>
          </a:p>
        </p:txBody>
      </p:sp>
      <p:pic>
        <p:nvPicPr>
          <p:cNvPr id="44" name="Image 13" descr="preencoded.png"/>
          <p:cNvPicPr>
            <a:picLocks noChangeAspect="1"/>
          </p:cNvPicPr>
          <p:nvPr/>
        </p:nvPicPr>
        <p:blipFill>
          <a:blip r:embed="rId3"/>
          <a:stretch>
            <a:fillRect/>
          </a:stretch>
        </p:blipFill>
        <p:spPr>
          <a:xfrm>
            <a:off x="6373368" y="3200400"/>
            <a:ext cx="182880" cy="182880"/>
          </a:xfrm>
          <a:prstGeom prst="rect">
            <a:avLst/>
          </a:prstGeom>
        </p:spPr>
      </p:pic>
      <p:sp>
        <p:nvSpPr>
          <p:cNvPr id="45" name="Text 29"/>
          <p:cNvSpPr/>
          <p:nvPr/>
        </p:nvSpPr>
        <p:spPr>
          <a:xfrm>
            <a:off x="6629400" y="320040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Custom integrations</a:t>
            </a:r>
            <a:endParaRPr lang="en-US" sz="950" dirty="0"/>
          </a:p>
        </p:txBody>
      </p:sp>
      <p:pic>
        <p:nvPicPr>
          <p:cNvPr id="46" name="Image 14" descr="preencoded.png"/>
          <p:cNvPicPr>
            <a:picLocks noChangeAspect="1"/>
          </p:cNvPicPr>
          <p:nvPr/>
        </p:nvPicPr>
        <p:blipFill>
          <a:blip r:embed="rId3"/>
          <a:stretch>
            <a:fillRect/>
          </a:stretch>
        </p:blipFill>
        <p:spPr>
          <a:xfrm>
            <a:off x="6373368" y="3474720"/>
            <a:ext cx="182880" cy="182880"/>
          </a:xfrm>
          <a:prstGeom prst="rect">
            <a:avLst/>
          </a:prstGeom>
        </p:spPr>
      </p:pic>
      <p:sp>
        <p:nvSpPr>
          <p:cNvPr id="47" name="Text 30"/>
          <p:cNvSpPr/>
          <p:nvPr/>
        </p:nvSpPr>
        <p:spPr>
          <a:xfrm>
            <a:off x="6629400" y="347472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Dedicated manager</a:t>
            </a:r>
            <a:endParaRPr lang="en-US" sz="950" dirty="0"/>
          </a:p>
        </p:txBody>
      </p:sp>
      <p:pic>
        <p:nvPicPr>
          <p:cNvPr id="48" name="Image 15" descr="preencoded.png"/>
          <p:cNvPicPr>
            <a:picLocks noChangeAspect="1"/>
          </p:cNvPicPr>
          <p:nvPr/>
        </p:nvPicPr>
        <p:blipFill>
          <a:blip r:embed="rId3"/>
          <a:stretch>
            <a:fillRect/>
          </a:stretch>
        </p:blipFill>
        <p:spPr>
          <a:xfrm>
            <a:off x="6373368" y="3749040"/>
            <a:ext cx="182880" cy="182880"/>
          </a:xfrm>
          <a:prstGeom prst="rect">
            <a:avLst/>
          </a:prstGeom>
        </p:spPr>
      </p:pic>
      <p:sp>
        <p:nvSpPr>
          <p:cNvPr id="49" name="Text 31"/>
          <p:cNvSpPr/>
          <p:nvPr/>
        </p:nvSpPr>
        <p:spPr>
          <a:xfrm>
            <a:off x="6629400" y="374904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Priority support</a:t>
            </a:r>
            <a:endParaRPr lang="en-US" sz="950" dirty="0"/>
          </a:p>
        </p:txBody>
      </p:sp>
      <p:pic>
        <p:nvPicPr>
          <p:cNvPr id="50" name="Image 16" descr="preencoded.png"/>
          <p:cNvPicPr>
            <a:picLocks noChangeAspect="1"/>
          </p:cNvPicPr>
          <p:nvPr/>
        </p:nvPicPr>
        <p:blipFill>
          <a:blip r:embed="rId3"/>
          <a:stretch>
            <a:fillRect/>
          </a:stretch>
        </p:blipFill>
        <p:spPr>
          <a:xfrm>
            <a:off x="6373368" y="4023360"/>
            <a:ext cx="182880" cy="182880"/>
          </a:xfrm>
          <a:prstGeom prst="rect">
            <a:avLst/>
          </a:prstGeom>
        </p:spPr>
      </p:pic>
      <p:sp>
        <p:nvSpPr>
          <p:cNvPr id="51" name="Text 32"/>
          <p:cNvSpPr/>
          <p:nvPr/>
        </p:nvSpPr>
        <p:spPr>
          <a:xfrm>
            <a:off x="6629400" y="4023360"/>
            <a:ext cx="2011680" cy="237744"/>
          </a:xfrm>
          <a:prstGeom prst="rect">
            <a:avLst/>
          </a:prstGeom>
          <a:noFill/>
          <a:ln/>
        </p:spPr>
        <p:txBody>
          <a:bodyPr wrap="square" lIns="0" tIns="0" rIns="0" bIns="0" rtlCol="0" anchor="ctr"/>
          <a:lstStyle/>
          <a:p>
            <a:pPr marL="0" indent="0">
              <a:buNone/>
            </a:pPr>
            <a:r>
              <a:rPr lang="en-US" sz="950" dirty="0">
                <a:solidFill>
                  <a:srgbClr val="1B2B4B"/>
                </a:solidFill>
                <a:latin typeface="Calibri" pitchFamily="34" charset="0"/>
                <a:ea typeface="Calibri" pitchFamily="34" charset="-122"/>
                <a:cs typeface="Calibri" pitchFamily="34" charset="-120"/>
              </a:rPr>
              <a:t>Ongoing retainer options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548"/>
        </a:solidFill>
        <a:effectLst/>
      </p:bgPr>
    </p:bg>
    <p:spTree>
      <p:nvGrpSpPr>
        <p:cNvPr id="1" name=""/>
        <p:cNvGrpSpPr/>
        <p:nvPr/>
      </p:nvGrpSpPr>
      <p:grpSpPr>
        <a:xfrm>
          <a:off x="0" y="0"/>
          <a:ext cx="0" cy="0"/>
          <a:chOff x="0" y="0"/>
          <a:chExt cx="0" cy="0"/>
        </a:xfrm>
      </p:grpSpPr>
      <p:sp>
        <p:nvSpPr>
          <p:cNvPr id="2" name="Shape 0"/>
          <p:cNvSpPr/>
          <p:nvPr/>
        </p:nvSpPr>
        <p:spPr>
          <a:xfrm>
            <a:off x="1129085" y="-675861"/>
            <a:ext cx="7315200" cy="7315200"/>
          </a:xfrm>
          <a:prstGeom prst="ellipse">
            <a:avLst/>
          </a:prstGeom>
          <a:solidFill>
            <a:srgbClr val="2A5298">
              <a:alpha val="18000"/>
            </a:srgbClr>
          </a:solidFill>
          <a:ln w="12700">
            <a:solidFill>
              <a:srgbClr val="2A5298"/>
            </a:solidFill>
            <a:prstDash val="solid"/>
          </a:ln>
        </p:spPr>
        <p:txBody>
          <a:bodyPr/>
          <a:lstStyle/>
          <a:p>
            <a:endParaRPr lang="en-AU"/>
          </a:p>
        </p:txBody>
      </p:sp>
      <p:sp>
        <p:nvSpPr>
          <p:cNvPr id="3" name="Text 1"/>
          <p:cNvSpPr/>
          <p:nvPr/>
        </p:nvSpPr>
        <p:spPr>
          <a:xfrm>
            <a:off x="457200" y="182880"/>
            <a:ext cx="8229600" cy="594360"/>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Client </a:t>
            </a:r>
            <a:r>
              <a:rPr lang="en-US" sz="3400" b="1" dirty="0">
                <a:solidFill>
                  <a:srgbClr val="F5C518"/>
                </a:solidFill>
                <a:latin typeface="Calibri" pitchFamily="34" charset="0"/>
                <a:ea typeface="Calibri" pitchFamily="34" charset="-122"/>
                <a:cs typeface="Calibri" pitchFamily="34" charset="-120"/>
              </a:rPr>
              <a:t>Testimonials</a:t>
            </a:r>
            <a:endParaRPr lang="en-US" sz="3400" dirty="0"/>
          </a:p>
        </p:txBody>
      </p:sp>
      <p:pic>
        <p:nvPicPr>
          <p:cNvPr id="4" name="Image 0" descr="preencoded.png"/>
          <p:cNvPicPr>
            <a:picLocks noChangeAspect="1"/>
          </p:cNvPicPr>
          <p:nvPr/>
        </p:nvPicPr>
        <p:blipFill>
          <a:blip r:embed="rId3"/>
          <a:stretch>
            <a:fillRect/>
          </a:stretch>
        </p:blipFill>
        <p:spPr>
          <a:xfrm>
            <a:off x="3474720" y="822960"/>
            <a:ext cx="320040" cy="320040"/>
          </a:xfrm>
          <a:prstGeom prst="rect">
            <a:avLst/>
          </a:prstGeom>
        </p:spPr>
      </p:pic>
      <p:pic>
        <p:nvPicPr>
          <p:cNvPr id="5" name="Image 1" descr="preencoded.png"/>
          <p:cNvPicPr>
            <a:picLocks noChangeAspect="1"/>
          </p:cNvPicPr>
          <p:nvPr/>
        </p:nvPicPr>
        <p:blipFill>
          <a:blip r:embed="rId3"/>
          <a:stretch>
            <a:fillRect/>
          </a:stretch>
        </p:blipFill>
        <p:spPr>
          <a:xfrm>
            <a:off x="3886200" y="822960"/>
            <a:ext cx="320040" cy="320040"/>
          </a:xfrm>
          <a:prstGeom prst="rect">
            <a:avLst/>
          </a:prstGeom>
        </p:spPr>
      </p:pic>
      <p:pic>
        <p:nvPicPr>
          <p:cNvPr id="6" name="Image 2" descr="preencoded.png"/>
          <p:cNvPicPr>
            <a:picLocks noChangeAspect="1"/>
          </p:cNvPicPr>
          <p:nvPr/>
        </p:nvPicPr>
        <p:blipFill>
          <a:blip r:embed="rId3"/>
          <a:stretch>
            <a:fillRect/>
          </a:stretch>
        </p:blipFill>
        <p:spPr>
          <a:xfrm>
            <a:off x="4297680" y="822960"/>
            <a:ext cx="320040" cy="320040"/>
          </a:xfrm>
          <a:prstGeom prst="rect">
            <a:avLst/>
          </a:prstGeom>
        </p:spPr>
      </p:pic>
      <p:pic>
        <p:nvPicPr>
          <p:cNvPr id="7" name="Image 3" descr="preencoded.png"/>
          <p:cNvPicPr>
            <a:picLocks noChangeAspect="1"/>
          </p:cNvPicPr>
          <p:nvPr/>
        </p:nvPicPr>
        <p:blipFill>
          <a:blip r:embed="rId3"/>
          <a:stretch>
            <a:fillRect/>
          </a:stretch>
        </p:blipFill>
        <p:spPr>
          <a:xfrm>
            <a:off x="4709160" y="822960"/>
            <a:ext cx="320040" cy="320040"/>
          </a:xfrm>
          <a:prstGeom prst="rect">
            <a:avLst/>
          </a:prstGeom>
        </p:spPr>
      </p:pic>
      <p:pic>
        <p:nvPicPr>
          <p:cNvPr id="8" name="Image 4" descr="preencoded.png"/>
          <p:cNvPicPr>
            <a:picLocks noChangeAspect="1"/>
          </p:cNvPicPr>
          <p:nvPr/>
        </p:nvPicPr>
        <p:blipFill>
          <a:blip r:embed="rId3"/>
          <a:stretch>
            <a:fillRect/>
          </a:stretch>
        </p:blipFill>
        <p:spPr>
          <a:xfrm>
            <a:off x="5120640" y="822960"/>
            <a:ext cx="320040" cy="320040"/>
          </a:xfrm>
          <a:prstGeom prst="rect">
            <a:avLst/>
          </a:prstGeom>
        </p:spPr>
      </p:pic>
      <p:sp>
        <p:nvSpPr>
          <p:cNvPr id="9" name="Text 2"/>
          <p:cNvSpPr/>
          <p:nvPr/>
        </p:nvSpPr>
        <p:spPr>
          <a:xfrm>
            <a:off x="1874520" y="4183380"/>
            <a:ext cx="5486400" cy="274320"/>
          </a:xfrm>
          <a:prstGeom prst="rect">
            <a:avLst/>
          </a:prstGeom>
          <a:noFill/>
          <a:ln/>
        </p:spPr>
        <p:txBody>
          <a:bodyPr wrap="square"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Average 4.9/5 across 150+ projects</a:t>
            </a:r>
            <a:endParaRPr lang="en-US" sz="1100" b="1" dirty="0">
              <a:solidFill>
                <a:schemeClr val="bg1"/>
              </a:solidFill>
            </a:endParaRPr>
          </a:p>
        </p:txBody>
      </p:sp>
      <p:sp>
        <p:nvSpPr>
          <p:cNvPr id="10" name="Shape 3"/>
          <p:cNvSpPr/>
          <p:nvPr/>
        </p:nvSpPr>
        <p:spPr>
          <a:xfrm>
            <a:off x="320040" y="1325880"/>
            <a:ext cx="2743200" cy="2743200"/>
          </a:xfrm>
          <a:prstGeom prst="rect">
            <a:avLst/>
          </a:prstGeom>
          <a:solidFill>
            <a:srgbClr val="2A5298">
              <a:alpha val="80000"/>
            </a:srgbClr>
          </a:solidFill>
          <a:ln w="12700">
            <a:solidFill>
              <a:srgbClr val="8C9DC0"/>
            </a:solidFill>
            <a:prstDash val="solid"/>
          </a:ln>
        </p:spPr>
        <p:txBody>
          <a:bodyPr/>
          <a:lstStyle/>
          <a:p>
            <a:endParaRPr lang="en-AU"/>
          </a:p>
        </p:txBody>
      </p:sp>
      <p:sp>
        <p:nvSpPr>
          <p:cNvPr id="11" name="Text 4"/>
          <p:cNvSpPr/>
          <p:nvPr/>
        </p:nvSpPr>
        <p:spPr>
          <a:xfrm>
            <a:off x="45720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12" name="Text 5"/>
          <p:cNvSpPr/>
          <p:nvPr/>
        </p:nvSpPr>
        <p:spPr>
          <a:xfrm>
            <a:off x="48463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NextGen completely transformed our online presence. Sales doubled within 3 months of the new site launching.</a:t>
            </a:r>
            <a:endParaRPr lang="en-US" sz="1100" dirty="0"/>
          </a:p>
        </p:txBody>
      </p:sp>
      <p:sp>
        <p:nvSpPr>
          <p:cNvPr id="13" name="Shape 6"/>
          <p:cNvSpPr/>
          <p:nvPr/>
        </p:nvSpPr>
        <p:spPr>
          <a:xfrm>
            <a:off x="48463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14" name="Text 7"/>
          <p:cNvSpPr/>
          <p:nvPr/>
        </p:nvSpPr>
        <p:spPr>
          <a:xfrm>
            <a:off x="48463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Sarah M.</a:t>
            </a:r>
            <a:endParaRPr lang="en-US" sz="1200" dirty="0"/>
          </a:p>
        </p:txBody>
      </p:sp>
      <p:sp>
        <p:nvSpPr>
          <p:cNvPr id="15" name="Text 8"/>
          <p:cNvSpPr/>
          <p:nvPr/>
        </p:nvSpPr>
        <p:spPr>
          <a:xfrm>
            <a:off x="48463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Artisan Co.</a:t>
            </a:r>
            <a:endParaRPr lang="en-US" sz="1000" dirty="0"/>
          </a:p>
        </p:txBody>
      </p:sp>
      <p:sp>
        <p:nvSpPr>
          <p:cNvPr id="16" name="Shape 9"/>
          <p:cNvSpPr/>
          <p:nvPr/>
        </p:nvSpPr>
        <p:spPr>
          <a:xfrm>
            <a:off x="3246120" y="1325880"/>
            <a:ext cx="2743200" cy="2743200"/>
          </a:xfrm>
          <a:prstGeom prst="rect">
            <a:avLst/>
          </a:prstGeom>
          <a:solidFill>
            <a:srgbClr val="2A5298">
              <a:alpha val="80000"/>
            </a:srgbClr>
          </a:solidFill>
          <a:ln w="12700">
            <a:solidFill>
              <a:srgbClr val="8C9DC0"/>
            </a:solidFill>
            <a:prstDash val="solid"/>
          </a:ln>
        </p:spPr>
        <p:txBody>
          <a:bodyPr/>
          <a:lstStyle/>
          <a:p>
            <a:endParaRPr lang="en-AU"/>
          </a:p>
        </p:txBody>
      </p:sp>
      <p:sp>
        <p:nvSpPr>
          <p:cNvPr id="17" name="Text 10"/>
          <p:cNvSpPr/>
          <p:nvPr/>
        </p:nvSpPr>
        <p:spPr>
          <a:xfrm>
            <a:off x="338328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18" name="Text 11"/>
          <p:cNvSpPr/>
          <p:nvPr/>
        </p:nvSpPr>
        <p:spPr>
          <a:xfrm>
            <a:off x="341071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The team was professional, creative, and always available. The best investment we made for our business.</a:t>
            </a:r>
            <a:endParaRPr lang="en-US" sz="1100" dirty="0"/>
          </a:p>
        </p:txBody>
      </p:sp>
      <p:sp>
        <p:nvSpPr>
          <p:cNvPr id="19" name="Shape 12"/>
          <p:cNvSpPr/>
          <p:nvPr/>
        </p:nvSpPr>
        <p:spPr>
          <a:xfrm>
            <a:off x="341071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20" name="Text 13"/>
          <p:cNvSpPr/>
          <p:nvPr/>
        </p:nvSpPr>
        <p:spPr>
          <a:xfrm>
            <a:off x="341071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James K.</a:t>
            </a:r>
            <a:endParaRPr lang="en-US" sz="1200" dirty="0"/>
          </a:p>
        </p:txBody>
      </p:sp>
      <p:sp>
        <p:nvSpPr>
          <p:cNvPr id="21" name="Text 14"/>
          <p:cNvSpPr/>
          <p:nvPr/>
        </p:nvSpPr>
        <p:spPr>
          <a:xfrm>
            <a:off x="341071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TechBridge Group</a:t>
            </a:r>
            <a:endParaRPr lang="en-US" sz="1000" dirty="0"/>
          </a:p>
        </p:txBody>
      </p:sp>
      <p:sp>
        <p:nvSpPr>
          <p:cNvPr id="22" name="Shape 15"/>
          <p:cNvSpPr/>
          <p:nvPr/>
        </p:nvSpPr>
        <p:spPr>
          <a:xfrm>
            <a:off x="6172200" y="1325880"/>
            <a:ext cx="2743200" cy="2743200"/>
          </a:xfrm>
          <a:prstGeom prst="rect">
            <a:avLst/>
          </a:prstGeom>
          <a:solidFill>
            <a:srgbClr val="2A5298">
              <a:alpha val="80000"/>
            </a:srgbClr>
          </a:solidFill>
          <a:ln w="12700">
            <a:solidFill>
              <a:srgbClr val="8C9DC0"/>
            </a:solidFill>
            <a:prstDash val="solid"/>
          </a:ln>
        </p:spPr>
        <p:txBody>
          <a:bodyPr/>
          <a:lstStyle/>
          <a:p>
            <a:endParaRPr lang="en-AU"/>
          </a:p>
        </p:txBody>
      </p:sp>
      <p:sp>
        <p:nvSpPr>
          <p:cNvPr id="23" name="Text 16"/>
          <p:cNvSpPr/>
          <p:nvPr/>
        </p:nvSpPr>
        <p:spPr>
          <a:xfrm>
            <a:off x="630936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24" name="Text 17"/>
          <p:cNvSpPr/>
          <p:nvPr/>
        </p:nvSpPr>
        <p:spPr>
          <a:xfrm>
            <a:off x="633679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Incredible attention to detail and SEO results that genuinely moved the needle for our local audience.</a:t>
            </a:r>
            <a:endParaRPr lang="en-US" sz="1100" dirty="0"/>
          </a:p>
        </p:txBody>
      </p:sp>
      <p:sp>
        <p:nvSpPr>
          <p:cNvPr id="25" name="Shape 18"/>
          <p:cNvSpPr/>
          <p:nvPr/>
        </p:nvSpPr>
        <p:spPr>
          <a:xfrm>
            <a:off x="633679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26" name="Text 19"/>
          <p:cNvSpPr/>
          <p:nvPr/>
        </p:nvSpPr>
        <p:spPr>
          <a:xfrm>
            <a:off x="633679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Priya L.</a:t>
            </a:r>
            <a:endParaRPr lang="en-US" sz="1200" dirty="0"/>
          </a:p>
        </p:txBody>
      </p:sp>
      <p:sp>
        <p:nvSpPr>
          <p:cNvPr id="27" name="Text 20"/>
          <p:cNvSpPr/>
          <p:nvPr/>
        </p:nvSpPr>
        <p:spPr>
          <a:xfrm>
            <a:off x="633679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Melbourne Eats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3E5E811F-74F1-2FCF-9088-228B9EFBEB65}"/>
              </a:ext>
            </a:extLst>
          </p:cNvPr>
          <p:cNvSpPr/>
          <p:nvPr/>
        </p:nvSpPr>
        <p:spPr>
          <a:xfrm>
            <a:off x="457200" y="182880"/>
            <a:ext cx="8229600" cy="594360"/>
          </a:xfrm>
          <a:prstGeom prst="rect">
            <a:avLst/>
          </a:prstGeom>
          <a:noFill/>
          <a:ln/>
        </p:spPr>
        <p:txBody>
          <a:bodyPr wrap="square" rtlCol="0" anchor="ctr"/>
          <a:lstStyle/>
          <a:p>
            <a:pPr marL="0" indent="0" algn="ctr">
              <a:buNone/>
            </a:pPr>
            <a:r>
              <a:rPr lang="en-US" sz="3400" b="1" dirty="0">
                <a:solidFill>
                  <a:srgbClr val="002060"/>
                </a:solidFill>
                <a:latin typeface="Calibri" pitchFamily="34" charset="0"/>
                <a:ea typeface="Calibri" pitchFamily="34" charset="-122"/>
                <a:cs typeface="Calibri" pitchFamily="34" charset="-120"/>
              </a:rPr>
              <a:t>Client</a:t>
            </a:r>
            <a:r>
              <a:rPr lang="en-US" sz="3400" b="1" dirty="0">
                <a:solidFill>
                  <a:srgbClr val="FFFFFF"/>
                </a:solidFill>
                <a:latin typeface="Calibri" pitchFamily="34" charset="0"/>
                <a:ea typeface="Calibri" pitchFamily="34" charset="-122"/>
                <a:cs typeface="Calibri" pitchFamily="34" charset="-120"/>
              </a:rPr>
              <a:t> </a:t>
            </a:r>
            <a:r>
              <a:rPr lang="en-US" sz="3400" b="1" dirty="0">
                <a:solidFill>
                  <a:srgbClr val="F5C518"/>
                </a:solidFill>
                <a:latin typeface="Calibri" pitchFamily="34" charset="0"/>
                <a:ea typeface="Calibri" pitchFamily="34" charset="-122"/>
                <a:cs typeface="Calibri" pitchFamily="34" charset="-120"/>
              </a:rPr>
              <a:t>Testimonials</a:t>
            </a:r>
            <a:endParaRPr lang="en-US" sz="3400" dirty="0"/>
          </a:p>
        </p:txBody>
      </p:sp>
      <p:pic>
        <p:nvPicPr>
          <p:cNvPr id="3" name="Image 0" descr="preencoded.png">
            <a:extLst>
              <a:ext uri="{FF2B5EF4-FFF2-40B4-BE49-F238E27FC236}">
                <a16:creationId xmlns:a16="http://schemas.microsoft.com/office/drawing/2014/main" id="{832F5E9F-65AB-B530-93F9-56E55B05BFE9}"/>
              </a:ext>
            </a:extLst>
          </p:cNvPr>
          <p:cNvPicPr>
            <a:picLocks noChangeAspect="1"/>
          </p:cNvPicPr>
          <p:nvPr/>
        </p:nvPicPr>
        <p:blipFill>
          <a:blip r:embed="rId2"/>
          <a:stretch>
            <a:fillRect/>
          </a:stretch>
        </p:blipFill>
        <p:spPr>
          <a:xfrm>
            <a:off x="3474720" y="822960"/>
            <a:ext cx="320040" cy="320040"/>
          </a:xfrm>
          <a:prstGeom prst="rect">
            <a:avLst/>
          </a:prstGeom>
        </p:spPr>
      </p:pic>
      <p:pic>
        <p:nvPicPr>
          <p:cNvPr id="4" name="Image 1" descr="preencoded.png">
            <a:extLst>
              <a:ext uri="{FF2B5EF4-FFF2-40B4-BE49-F238E27FC236}">
                <a16:creationId xmlns:a16="http://schemas.microsoft.com/office/drawing/2014/main" id="{5AEA0FEA-9104-B3C4-EA29-C7FCBADC5489}"/>
              </a:ext>
            </a:extLst>
          </p:cNvPr>
          <p:cNvPicPr>
            <a:picLocks noChangeAspect="1"/>
          </p:cNvPicPr>
          <p:nvPr/>
        </p:nvPicPr>
        <p:blipFill>
          <a:blip r:embed="rId2"/>
          <a:stretch>
            <a:fillRect/>
          </a:stretch>
        </p:blipFill>
        <p:spPr>
          <a:xfrm>
            <a:off x="3886200" y="822960"/>
            <a:ext cx="320040" cy="320040"/>
          </a:xfrm>
          <a:prstGeom prst="rect">
            <a:avLst/>
          </a:prstGeom>
        </p:spPr>
      </p:pic>
      <p:pic>
        <p:nvPicPr>
          <p:cNvPr id="5" name="Image 2" descr="preencoded.png">
            <a:extLst>
              <a:ext uri="{FF2B5EF4-FFF2-40B4-BE49-F238E27FC236}">
                <a16:creationId xmlns:a16="http://schemas.microsoft.com/office/drawing/2014/main" id="{D66E00E2-09F4-2B3F-ECCB-1F59B6B7ABA1}"/>
              </a:ext>
            </a:extLst>
          </p:cNvPr>
          <p:cNvPicPr>
            <a:picLocks noChangeAspect="1"/>
          </p:cNvPicPr>
          <p:nvPr/>
        </p:nvPicPr>
        <p:blipFill>
          <a:blip r:embed="rId2"/>
          <a:stretch>
            <a:fillRect/>
          </a:stretch>
        </p:blipFill>
        <p:spPr>
          <a:xfrm>
            <a:off x="4297680" y="822960"/>
            <a:ext cx="320040" cy="320040"/>
          </a:xfrm>
          <a:prstGeom prst="rect">
            <a:avLst/>
          </a:prstGeom>
        </p:spPr>
      </p:pic>
      <p:pic>
        <p:nvPicPr>
          <p:cNvPr id="6" name="Image 3" descr="preencoded.png">
            <a:extLst>
              <a:ext uri="{FF2B5EF4-FFF2-40B4-BE49-F238E27FC236}">
                <a16:creationId xmlns:a16="http://schemas.microsoft.com/office/drawing/2014/main" id="{6B336023-C07D-0BFC-EC46-CCF7305F7CBA}"/>
              </a:ext>
            </a:extLst>
          </p:cNvPr>
          <p:cNvPicPr>
            <a:picLocks noChangeAspect="1"/>
          </p:cNvPicPr>
          <p:nvPr/>
        </p:nvPicPr>
        <p:blipFill>
          <a:blip r:embed="rId2"/>
          <a:stretch>
            <a:fillRect/>
          </a:stretch>
        </p:blipFill>
        <p:spPr>
          <a:xfrm>
            <a:off x="4709160" y="822960"/>
            <a:ext cx="320040" cy="320040"/>
          </a:xfrm>
          <a:prstGeom prst="rect">
            <a:avLst/>
          </a:prstGeom>
        </p:spPr>
      </p:pic>
      <p:pic>
        <p:nvPicPr>
          <p:cNvPr id="7" name="Image 4" descr="preencoded.png">
            <a:extLst>
              <a:ext uri="{FF2B5EF4-FFF2-40B4-BE49-F238E27FC236}">
                <a16:creationId xmlns:a16="http://schemas.microsoft.com/office/drawing/2014/main" id="{463AA762-9E0C-B8C3-E6EB-1539654BCC59}"/>
              </a:ext>
            </a:extLst>
          </p:cNvPr>
          <p:cNvPicPr>
            <a:picLocks noChangeAspect="1"/>
          </p:cNvPicPr>
          <p:nvPr/>
        </p:nvPicPr>
        <p:blipFill>
          <a:blip r:embed="rId2"/>
          <a:stretch>
            <a:fillRect/>
          </a:stretch>
        </p:blipFill>
        <p:spPr>
          <a:xfrm>
            <a:off x="5120640" y="822960"/>
            <a:ext cx="320040" cy="320040"/>
          </a:xfrm>
          <a:prstGeom prst="rect">
            <a:avLst/>
          </a:prstGeom>
        </p:spPr>
      </p:pic>
      <p:sp>
        <p:nvSpPr>
          <p:cNvPr id="8" name="Text 2">
            <a:extLst>
              <a:ext uri="{FF2B5EF4-FFF2-40B4-BE49-F238E27FC236}">
                <a16:creationId xmlns:a16="http://schemas.microsoft.com/office/drawing/2014/main" id="{5A6FD3B8-B45E-6F0F-C046-F46699114D25}"/>
              </a:ext>
            </a:extLst>
          </p:cNvPr>
          <p:cNvSpPr/>
          <p:nvPr/>
        </p:nvSpPr>
        <p:spPr>
          <a:xfrm>
            <a:off x="1874520" y="4183380"/>
            <a:ext cx="5486400" cy="274320"/>
          </a:xfrm>
          <a:prstGeom prst="rect">
            <a:avLst/>
          </a:prstGeom>
          <a:noFill/>
          <a:ln/>
        </p:spPr>
        <p:txBody>
          <a:bodyPr wrap="square"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Average 4.9/5 across 150+ projects</a:t>
            </a:r>
            <a:endParaRPr lang="en-US" sz="1100" b="1" dirty="0">
              <a:solidFill>
                <a:schemeClr val="bg1"/>
              </a:solidFill>
            </a:endParaRPr>
          </a:p>
        </p:txBody>
      </p:sp>
      <p:sp>
        <p:nvSpPr>
          <p:cNvPr id="9" name="Shape 3">
            <a:extLst>
              <a:ext uri="{FF2B5EF4-FFF2-40B4-BE49-F238E27FC236}">
                <a16:creationId xmlns:a16="http://schemas.microsoft.com/office/drawing/2014/main" id="{9CA5CEB5-A268-3A8E-9469-94055CE6EE2C}"/>
              </a:ext>
            </a:extLst>
          </p:cNvPr>
          <p:cNvSpPr/>
          <p:nvPr/>
        </p:nvSpPr>
        <p:spPr>
          <a:xfrm>
            <a:off x="320040" y="1325880"/>
            <a:ext cx="2743200" cy="2743200"/>
          </a:xfrm>
          <a:prstGeom prst="rect">
            <a:avLst/>
          </a:prstGeom>
          <a:solidFill>
            <a:srgbClr val="2A5298">
              <a:alpha val="80000"/>
            </a:srgbClr>
          </a:solidFill>
          <a:ln w="12700">
            <a:solidFill>
              <a:srgbClr val="8C9DC0"/>
            </a:solidFill>
            <a:prstDash val="solid"/>
          </a:ln>
        </p:spPr>
        <p:txBody>
          <a:bodyPr/>
          <a:lstStyle/>
          <a:p>
            <a:endParaRPr lang="en-AU"/>
          </a:p>
        </p:txBody>
      </p:sp>
      <p:sp>
        <p:nvSpPr>
          <p:cNvPr id="10" name="Text 4">
            <a:extLst>
              <a:ext uri="{FF2B5EF4-FFF2-40B4-BE49-F238E27FC236}">
                <a16:creationId xmlns:a16="http://schemas.microsoft.com/office/drawing/2014/main" id="{AB42B41B-BF0D-1A6E-F81F-67C770AA195D}"/>
              </a:ext>
            </a:extLst>
          </p:cNvPr>
          <p:cNvSpPr/>
          <p:nvPr/>
        </p:nvSpPr>
        <p:spPr>
          <a:xfrm>
            <a:off x="45720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11" name="Text 5">
            <a:extLst>
              <a:ext uri="{FF2B5EF4-FFF2-40B4-BE49-F238E27FC236}">
                <a16:creationId xmlns:a16="http://schemas.microsoft.com/office/drawing/2014/main" id="{FFE84F32-5475-C294-B32D-3B545500B729}"/>
              </a:ext>
            </a:extLst>
          </p:cNvPr>
          <p:cNvSpPr/>
          <p:nvPr/>
        </p:nvSpPr>
        <p:spPr>
          <a:xfrm>
            <a:off x="48463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NextGen completely transformed our online presence. Sales doubled within 3 months of the new site launching.</a:t>
            </a:r>
            <a:endParaRPr lang="en-US" sz="1100" dirty="0"/>
          </a:p>
        </p:txBody>
      </p:sp>
      <p:sp>
        <p:nvSpPr>
          <p:cNvPr id="12" name="Shape 6">
            <a:extLst>
              <a:ext uri="{FF2B5EF4-FFF2-40B4-BE49-F238E27FC236}">
                <a16:creationId xmlns:a16="http://schemas.microsoft.com/office/drawing/2014/main" id="{F9519E0C-2F7F-531C-FF44-23BCA26B1CD6}"/>
              </a:ext>
            </a:extLst>
          </p:cNvPr>
          <p:cNvSpPr/>
          <p:nvPr/>
        </p:nvSpPr>
        <p:spPr>
          <a:xfrm>
            <a:off x="48463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13" name="Text 7">
            <a:extLst>
              <a:ext uri="{FF2B5EF4-FFF2-40B4-BE49-F238E27FC236}">
                <a16:creationId xmlns:a16="http://schemas.microsoft.com/office/drawing/2014/main" id="{1CC3AA24-F08F-1952-94FA-7ABBD71C6DD4}"/>
              </a:ext>
            </a:extLst>
          </p:cNvPr>
          <p:cNvSpPr/>
          <p:nvPr/>
        </p:nvSpPr>
        <p:spPr>
          <a:xfrm>
            <a:off x="48463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Sarah M.</a:t>
            </a:r>
            <a:endParaRPr lang="en-US" sz="1200" dirty="0"/>
          </a:p>
        </p:txBody>
      </p:sp>
      <p:sp>
        <p:nvSpPr>
          <p:cNvPr id="14" name="Text 8">
            <a:extLst>
              <a:ext uri="{FF2B5EF4-FFF2-40B4-BE49-F238E27FC236}">
                <a16:creationId xmlns:a16="http://schemas.microsoft.com/office/drawing/2014/main" id="{2A8DEDFF-30EB-828C-E21D-82C1A41E28ED}"/>
              </a:ext>
            </a:extLst>
          </p:cNvPr>
          <p:cNvSpPr/>
          <p:nvPr/>
        </p:nvSpPr>
        <p:spPr>
          <a:xfrm>
            <a:off x="48463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Artisan Co.</a:t>
            </a:r>
            <a:endParaRPr lang="en-US" sz="1000" dirty="0"/>
          </a:p>
        </p:txBody>
      </p:sp>
      <p:sp>
        <p:nvSpPr>
          <p:cNvPr id="15" name="Shape 9">
            <a:extLst>
              <a:ext uri="{FF2B5EF4-FFF2-40B4-BE49-F238E27FC236}">
                <a16:creationId xmlns:a16="http://schemas.microsoft.com/office/drawing/2014/main" id="{1A35A57E-B743-87DA-C9F3-34D9C821D143}"/>
              </a:ext>
            </a:extLst>
          </p:cNvPr>
          <p:cNvSpPr/>
          <p:nvPr/>
        </p:nvSpPr>
        <p:spPr>
          <a:xfrm>
            <a:off x="3246120" y="1325880"/>
            <a:ext cx="2743200" cy="2743200"/>
          </a:xfrm>
          <a:prstGeom prst="rect">
            <a:avLst/>
          </a:prstGeom>
          <a:solidFill>
            <a:srgbClr val="2A5298">
              <a:alpha val="80000"/>
            </a:srgbClr>
          </a:solidFill>
          <a:ln w="12700">
            <a:solidFill>
              <a:srgbClr val="8C9DC0"/>
            </a:solidFill>
            <a:prstDash val="solid"/>
          </a:ln>
        </p:spPr>
        <p:txBody>
          <a:bodyPr/>
          <a:lstStyle/>
          <a:p>
            <a:endParaRPr lang="en-AU" dirty="0"/>
          </a:p>
        </p:txBody>
      </p:sp>
      <p:sp>
        <p:nvSpPr>
          <p:cNvPr id="16" name="Text 10">
            <a:extLst>
              <a:ext uri="{FF2B5EF4-FFF2-40B4-BE49-F238E27FC236}">
                <a16:creationId xmlns:a16="http://schemas.microsoft.com/office/drawing/2014/main" id="{359215FB-BC9A-D640-F1BA-B59F8175FF28}"/>
              </a:ext>
            </a:extLst>
          </p:cNvPr>
          <p:cNvSpPr/>
          <p:nvPr/>
        </p:nvSpPr>
        <p:spPr>
          <a:xfrm>
            <a:off x="338328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17" name="Text 11">
            <a:extLst>
              <a:ext uri="{FF2B5EF4-FFF2-40B4-BE49-F238E27FC236}">
                <a16:creationId xmlns:a16="http://schemas.microsoft.com/office/drawing/2014/main" id="{94A2BF86-B2AA-8BE4-32F2-CA408D4BCF31}"/>
              </a:ext>
            </a:extLst>
          </p:cNvPr>
          <p:cNvSpPr/>
          <p:nvPr/>
        </p:nvSpPr>
        <p:spPr>
          <a:xfrm>
            <a:off x="341071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The team was professional, creative, and always available. The best investment we made for our business.</a:t>
            </a:r>
            <a:endParaRPr lang="en-US" sz="1100" dirty="0"/>
          </a:p>
        </p:txBody>
      </p:sp>
      <p:sp>
        <p:nvSpPr>
          <p:cNvPr id="18" name="Shape 12">
            <a:extLst>
              <a:ext uri="{FF2B5EF4-FFF2-40B4-BE49-F238E27FC236}">
                <a16:creationId xmlns:a16="http://schemas.microsoft.com/office/drawing/2014/main" id="{AF085B22-6DF7-57F1-4505-1A506295A9B7}"/>
              </a:ext>
            </a:extLst>
          </p:cNvPr>
          <p:cNvSpPr/>
          <p:nvPr/>
        </p:nvSpPr>
        <p:spPr>
          <a:xfrm>
            <a:off x="341071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19" name="Text 13">
            <a:extLst>
              <a:ext uri="{FF2B5EF4-FFF2-40B4-BE49-F238E27FC236}">
                <a16:creationId xmlns:a16="http://schemas.microsoft.com/office/drawing/2014/main" id="{10F8798E-61DD-3071-FBC3-0542C5B7FBCB}"/>
              </a:ext>
            </a:extLst>
          </p:cNvPr>
          <p:cNvSpPr/>
          <p:nvPr/>
        </p:nvSpPr>
        <p:spPr>
          <a:xfrm>
            <a:off x="341071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James K.</a:t>
            </a:r>
            <a:endParaRPr lang="en-US" sz="1200" dirty="0"/>
          </a:p>
        </p:txBody>
      </p:sp>
      <p:sp>
        <p:nvSpPr>
          <p:cNvPr id="20" name="Text 14">
            <a:extLst>
              <a:ext uri="{FF2B5EF4-FFF2-40B4-BE49-F238E27FC236}">
                <a16:creationId xmlns:a16="http://schemas.microsoft.com/office/drawing/2014/main" id="{570B822B-1CFD-5944-FF25-C098AD49AB6C}"/>
              </a:ext>
            </a:extLst>
          </p:cNvPr>
          <p:cNvSpPr/>
          <p:nvPr/>
        </p:nvSpPr>
        <p:spPr>
          <a:xfrm>
            <a:off x="341071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TechBridge Group</a:t>
            </a:r>
            <a:endParaRPr lang="en-US" sz="1000" dirty="0"/>
          </a:p>
        </p:txBody>
      </p:sp>
      <p:sp>
        <p:nvSpPr>
          <p:cNvPr id="21" name="Shape 15">
            <a:extLst>
              <a:ext uri="{FF2B5EF4-FFF2-40B4-BE49-F238E27FC236}">
                <a16:creationId xmlns:a16="http://schemas.microsoft.com/office/drawing/2014/main" id="{46DE1AE4-70AF-5DE8-91F1-DAE2619324BD}"/>
              </a:ext>
            </a:extLst>
          </p:cNvPr>
          <p:cNvSpPr/>
          <p:nvPr/>
        </p:nvSpPr>
        <p:spPr>
          <a:xfrm>
            <a:off x="6172200" y="1325880"/>
            <a:ext cx="2743200" cy="2743200"/>
          </a:xfrm>
          <a:prstGeom prst="rect">
            <a:avLst/>
          </a:prstGeom>
          <a:solidFill>
            <a:srgbClr val="2A5298">
              <a:alpha val="80000"/>
            </a:srgbClr>
          </a:solidFill>
          <a:ln w="12700">
            <a:solidFill>
              <a:srgbClr val="8C9DC0"/>
            </a:solidFill>
            <a:prstDash val="solid"/>
          </a:ln>
        </p:spPr>
        <p:txBody>
          <a:bodyPr/>
          <a:lstStyle/>
          <a:p>
            <a:endParaRPr lang="en-AU"/>
          </a:p>
        </p:txBody>
      </p:sp>
      <p:sp>
        <p:nvSpPr>
          <p:cNvPr id="22" name="Text 16">
            <a:extLst>
              <a:ext uri="{FF2B5EF4-FFF2-40B4-BE49-F238E27FC236}">
                <a16:creationId xmlns:a16="http://schemas.microsoft.com/office/drawing/2014/main" id="{5C08AD15-E611-E4EE-C8B3-580A6EB5F784}"/>
              </a:ext>
            </a:extLst>
          </p:cNvPr>
          <p:cNvSpPr/>
          <p:nvPr/>
        </p:nvSpPr>
        <p:spPr>
          <a:xfrm>
            <a:off x="6309360" y="1234440"/>
            <a:ext cx="548640" cy="731520"/>
          </a:xfrm>
          <a:prstGeom prst="rect">
            <a:avLst/>
          </a:prstGeom>
          <a:noFill/>
          <a:ln/>
        </p:spPr>
        <p:txBody>
          <a:bodyPr wrap="square" lIns="0" tIns="0" rIns="0" bIns="0" rtlCol="0" anchor="ctr"/>
          <a:lstStyle/>
          <a:p>
            <a:pPr marL="0" indent="0">
              <a:buNone/>
            </a:pPr>
            <a:r>
              <a:rPr lang="en-US" sz="6000" dirty="0">
                <a:solidFill>
                  <a:srgbClr val="F5C518"/>
                </a:solidFill>
                <a:latin typeface="Georgia" pitchFamily="34" charset="0"/>
                <a:ea typeface="Georgia" pitchFamily="34" charset="-122"/>
                <a:cs typeface="Georgia" pitchFamily="34" charset="-120"/>
              </a:rPr>
              <a:t>"</a:t>
            </a:r>
            <a:endParaRPr lang="en-US" sz="6000" dirty="0"/>
          </a:p>
        </p:txBody>
      </p:sp>
      <p:sp>
        <p:nvSpPr>
          <p:cNvPr id="23" name="Text 17">
            <a:extLst>
              <a:ext uri="{FF2B5EF4-FFF2-40B4-BE49-F238E27FC236}">
                <a16:creationId xmlns:a16="http://schemas.microsoft.com/office/drawing/2014/main" id="{B7E405A4-8BEC-C520-EDF1-B72CAAA43067}"/>
              </a:ext>
            </a:extLst>
          </p:cNvPr>
          <p:cNvSpPr/>
          <p:nvPr/>
        </p:nvSpPr>
        <p:spPr>
          <a:xfrm>
            <a:off x="6336792" y="1920240"/>
            <a:ext cx="2423160" cy="1371600"/>
          </a:xfrm>
          <a:prstGeom prst="rect">
            <a:avLst/>
          </a:prstGeom>
          <a:noFill/>
          <a:ln/>
        </p:spPr>
        <p:txBody>
          <a:bodyPr wrap="square"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Incredible attention to detail and SEO results that genuinely moved the needle for our local audience.</a:t>
            </a:r>
            <a:endParaRPr lang="en-US" sz="1100" dirty="0"/>
          </a:p>
        </p:txBody>
      </p:sp>
      <p:sp>
        <p:nvSpPr>
          <p:cNvPr id="24" name="Shape 18">
            <a:extLst>
              <a:ext uri="{FF2B5EF4-FFF2-40B4-BE49-F238E27FC236}">
                <a16:creationId xmlns:a16="http://schemas.microsoft.com/office/drawing/2014/main" id="{A297D773-AC99-7FB5-24D0-C0BFDF7403BA}"/>
              </a:ext>
            </a:extLst>
          </p:cNvPr>
          <p:cNvSpPr/>
          <p:nvPr/>
        </p:nvSpPr>
        <p:spPr>
          <a:xfrm>
            <a:off x="6336792" y="3383280"/>
            <a:ext cx="2423160" cy="36576"/>
          </a:xfrm>
          <a:prstGeom prst="rect">
            <a:avLst/>
          </a:prstGeom>
          <a:solidFill>
            <a:srgbClr val="F5C518">
              <a:alpha val="60000"/>
            </a:srgbClr>
          </a:solidFill>
          <a:ln w="12700">
            <a:solidFill>
              <a:srgbClr val="F5C518"/>
            </a:solidFill>
            <a:prstDash val="solid"/>
          </a:ln>
        </p:spPr>
        <p:txBody>
          <a:bodyPr/>
          <a:lstStyle/>
          <a:p>
            <a:endParaRPr lang="en-AU"/>
          </a:p>
        </p:txBody>
      </p:sp>
      <p:sp>
        <p:nvSpPr>
          <p:cNvPr id="25" name="Text 19">
            <a:extLst>
              <a:ext uri="{FF2B5EF4-FFF2-40B4-BE49-F238E27FC236}">
                <a16:creationId xmlns:a16="http://schemas.microsoft.com/office/drawing/2014/main" id="{5E46EBE4-F93E-5DC1-DA9C-2B51F1A9C1CC}"/>
              </a:ext>
            </a:extLst>
          </p:cNvPr>
          <p:cNvSpPr/>
          <p:nvPr/>
        </p:nvSpPr>
        <p:spPr>
          <a:xfrm>
            <a:off x="6336792" y="3493008"/>
            <a:ext cx="2423160" cy="274320"/>
          </a:xfrm>
          <a:prstGeom prst="rect">
            <a:avLst/>
          </a:prstGeom>
          <a:noFill/>
          <a:ln/>
        </p:spPr>
        <p:txBody>
          <a:bodyPr wrap="square" lIns="0" tIns="0" rIns="0" bIns="0" rtlCol="0" anchor="ctr"/>
          <a:lstStyle/>
          <a:p>
            <a:pPr marL="0" indent="0">
              <a:buNone/>
            </a:pPr>
            <a:r>
              <a:rPr lang="en-US" sz="1200" b="1" dirty="0">
                <a:solidFill>
                  <a:srgbClr val="F5C518"/>
                </a:solidFill>
                <a:latin typeface="Calibri" pitchFamily="34" charset="0"/>
                <a:ea typeface="Calibri" pitchFamily="34" charset="-122"/>
                <a:cs typeface="Calibri" pitchFamily="34" charset="-120"/>
              </a:rPr>
              <a:t>Priya L.</a:t>
            </a:r>
            <a:endParaRPr lang="en-US" sz="1200" dirty="0"/>
          </a:p>
        </p:txBody>
      </p:sp>
      <p:sp>
        <p:nvSpPr>
          <p:cNvPr id="26" name="Text 20">
            <a:extLst>
              <a:ext uri="{FF2B5EF4-FFF2-40B4-BE49-F238E27FC236}">
                <a16:creationId xmlns:a16="http://schemas.microsoft.com/office/drawing/2014/main" id="{0979A0EA-C3CC-2335-5C36-543C88D9ACFA}"/>
              </a:ext>
            </a:extLst>
          </p:cNvPr>
          <p:cNvSpPr/>
          <p:nvPr/>
        </p:nvSpPr>
        <p:spPr>
          <a:xfrm>
            <a:off x="6336792" y="3749040"/>
            <a:ext cx="2423160" cy="228600"/>
          </a:xfrm>
          <a:prstGeom prst="rect">
            <a:avLst/>
          </a:prstGeom>
          <a:noFill/>
          <a:ln/>
        </p:spPr>
        <p:txBody>
          <a:bodyPr wrap="square" lIns="0" tIns="0" rIns="0" bIns="0" rtlCol="0" anchor="ctr"/>
          <a:lstStyle/>
          <a:p>
            <a:pPr marL="0" indent="0">
              <a:buNone/>
            </a:pPr>
            <a:r>
              <a:rPr lang="en-US" sz="1000" dirty="0">
                <a:solidFill>
                  <a:srgbClr val="8C9DC0"/>
                </a:solidFill>
                <a:latin typeface="Calibri" pitchFamily="34" charset="0"/>
                <a:ea typeface="Calibri" pitchFamily="34" charset="-122"/>
                <a:cs typeface="Calibri" pitchFamily="34" charset="-120"/>
              </a:rPr>
              <a:t>Melbourne Eats</a:t>
            </a:r>
            <a:endParaRPr lang="en-US" sz="1000" dirty="0"/>
          </a:p>
        </p:txBody>
      </p:sp>
      <p:sp>
        <p:nvSpPr>
          <p:cNvPr id="28" name="TextBox 27">
            <a:extLst>
              <a:ext uri="{FF2B5EF4-FFF2-40B4-BE49-F238E27FC236}">
                <a16:creationId xmlns:a16="http://schemas.microsoft.com/office/drawing/2014/main" id="{1FC308E6-72C1-F302-2868-B2FB1BD718A9}"/>
              </a:ext>
            </a:extLst>
          </p:cNvPr>
          <p:cNvSpPr txBox="1"/>
          <p:nvPr/>
        </p:nvSpPr>
        <p:spPr>
          <a:xfrm>
            <a:off x="2127250" y="4320540"/>
            <a:ext cx="4572000" cy="369332"/>
          </a:xfrm>
          <a:prstGeom prst="rect">
            <a:avLst/>
          </a:prstGeom>
          <a:noFill/>
        </p:spPr>
        <p:txBody>
          <a:bodyPr wrap="square">
            <a:spAutoFit/>
          </a:bodyPr>
          <a:lstStyle/>
          <a:p>
            <a:pPr marL="0" indent="0" algn="ctr">
              <a:buNone/>
            </a:pPr>
            <a:r>
              <a:rPr lang="en-US" sz="1800" b="1" dirty="0">
                <a:solidFill>
                  <a:srgbClr val="002060"/>
                </a:solidFill>
                <a:latin typeface="Calibri" pitchFamily="34" charset="0"/>
                <a:ea typeface="Calibri" pitchFamily="34" charset="-122"/>
                <a:cs typeface="Calibri" pitchFamily="34" charset="-120"/>
              </a:rPr>
              <a:t>Average 4.9/5 across 150+ projects</a:t>
            </a:r>
            <a:endParaRPr lang="en-US" sz="1800" b="1" dirty="0">
              <a:solidFill>
                <a:srgbClr val="002060"/>
              </a:solidFill>
            </a:endParaRPr>
          </a:p>
        </p:txBody>
      </p:sp>
    </p:spTree>
    <p:extLst>
      <p:ext uri="{BB962C8B-B14F-4D97-AF65-F5344CB8AC3E}">
        <p14:creationId xmlns:p14="http://schemas.microsoft.com/office/powerpoint/2010/main" val="2650098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B3A6B"/>
          </a:solidFill>
          <a:ln w="12700">
            <a:solidFill>
              <a:srgbClr val="1B3A6B"/>
            </a:solidFill>
            <a:prstDash val="solid"/>
          </a:ln>
        </p:spPr>
        <p:txBody>
          <a:bodyPr/>
          <a:lstStyle/>
          <a:p>
            <a:endParaRPr lang="en-AU"/>
          </a:p>
        </p:txBody>
      </p:sp>
      <p:sp>
        <p:nvSpPr>
          <p:cNvPr id="3" name="Shape 1"/>
          <p:cNvSpPr/>
          <p:nvPr/>
        </p:nvSpPr>
        <p:spPr>
          <a:xfrm>
            <a:off x="0" y="868680"/>
            <a:ext cx="9144000" cy="91440"/>
          </a:xfrm>
          <a:prstGeom prst="rect">
            <a:avLst/>
          </a:prstGeom>
          <a:solidFill>
            <a:srgbClr val="F5C518"/>
          </a:solidFill>
          <a:ln w="12700">
            <a:solidFill>
              <a:srgbClr val="F5C518"/>
            </a:solidFill>
            <a:prstDash val="solid"/>
          </a:ln>
        </p:spPr>
        <p:txBody>
          <a:bodyPr/>
          <a:lstStyle/>
          <a:p>
            <a:endParaRPr lang="en-AU"/>
          </a:p>
        </p:txBody>
      </p:sp>
      <p:sp>
        <p:nvSpPr>
          <p:cNvPr id="4" name="Text 2"/>
          <p:cNvSpPr/>
          <p:nvPr/>
        </p:nvSpPr>
        <p:spPr>
          <a:xfrm>
            <a:off x="457200" y="118872"/>
            <a:ext cx="8229600" cy="640080"/>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Meet the </a:t>
            </a:r>
            <a:r>
              <a:rPr lang="en-US" sz="2800" b="1" dirty="0">
                <a:solidFill>
                  <a:srgbClr val="F5C518"/>
                </a:solidFill>
                <a:latin typeface="Calibri" pitchFamily="34" charset="0"/>
                <a:ea typeface="Calibri" pitchFamily="34" charset="-122"/>
                <a:cs typeface="Calibri" pitchFamily="34" charset="-120"/>
              </a:rPr>
              <a:t>Team</a:t>
            </a:r>
            <a:endParaRPr lang="en-US" sz="2800" dirty="0"/>
          </a:p>
        </p:txBody>
      </p:sp>
      <p:sp>
        <p:nvSpPr>
          <p:cNvPr id="5" name="Shape 3"/>
          <p:cNvSpPr/>
          <p:nvPr/>
        </p:nvSpPr>
        <p:spPr>
          <a:xfrm>
            <a:off x="685800" y="1143000"/>
            <a:ext cx="1188720" cy="1188720"/>
          </a:xfrm>
          <a:prstGeom prst="ellipse">
            <a:avLst/>
          </a:prstGeom>
          <a:solidFill>
            <a:srgbClr val="1B3A6B"/>
          </a:solidFill>
          <a:ln w="25400">
            <a:solidFill>
              <a:srgbClr val="F5C518"/>
            </a:solidFill>
            <a:prstDash val="solid"/>
          </a:ln>
        </p:spPr>
        <p:txBody>
          <a:bodyPr/>
          <a:lstStyle/>
          <a:p>
            <a:endParaRPr lang="en-AU"/>
          </a:p>
        </p:txBody>
      </p:sp>
      <p:pic>
        <p:nvPicPr>
          <p:cNvPr id="6" name="Image 0" descr="preencoded.png"/>
          <p:cNvPicPr>
            <a:picLocks noChangeAspect="1"/>
          </p:cNvPicPr>
          <p:nvPr/>
        </p:nvPicPr>
        <p:blipFill>
          <a:blip r:embed="rId3"/>
          <a:stretch>
            <a:fillRect/>
          </a:stretch>
        </p:blipFill>
        <p:spPr>
          <a:xfrm>
            <a:off x="960120" y="1417320"/>
            <a:ext cx="640080" cy="640080"/>
          </a:xfrm>
          <a:prstGeom prst="rect">
            <a:avLst/>
          </a:prstGeom>
        </p:spPr>
      </p:pic>
      <p:sp>
        <p:nvSpPr>
          <p:cNvPr id="7" name="Shape 4"/>
          <p:cNvSpPr/>
          <p:nvPr/>
        </p:nvSpPr>
        <p:spPr>
          <a:xfrm>
            <a:off x="457200" y="2487168"/>
            <a:ext cx="1645920" cy="1645920"/>
          </a:xfrm>
          <a:prstGeom prst="rect">
            <a:avLst/>
          </a:prstGeom>
          <a:solidFill>
            <a:srgbClr val="F5F7FA"/>
          </a:solidFill>
          <a:ln w="12700">
            <a:solidFill>
              <a:srgbClr val="E8EDF5"/>
            </a:solidFill>
            <a:prstDash val="solid"/>
          </a:ln>
        </p:spPr>
        <p:txBody>
          <a:bodyPr/>
          <a:lstStyle/>
          <a:p>
            <a:endParaRPr lang="en-AU"/>
          </a:p>
        </p:txBody>
      </p:sp>
      <p:sp>
        <p:nvSpPr>
          <p:cNvPr id="8" name="Text 5"/>
          <p:cNvSpPr/>
          <p:nvPr/>
        </p:nvSpPr>
        <p:spPr>
          <a:xfrm>
            <a:off x="457200" y="2578608"/>
            <a:ext cx="1645920" cy="411480"/>
          </a:xfrm>
          <a:prstGeom prst="rect">
            <a:avLst/>
          </a:prstGeom>
          <a:noFill/>
          <a:ln/>
        </p:spPr>
        <p:txBody>
          <a:bodyPr wrap="square"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Alex Chen</a:t>
            </a:r>
            <a:endParaRPr lang="en-US" sz="1100" dirty="0"/>
          </a:p>
        </p:txBody>
      </p:sp>
      <p:sp>
        <p:nvSpPr>
          <p:cNvPr id="9" name="Text 6"/>
          <p:cNvSpPr/>
          <p:nvPr/>
        </p:nvSpPr>
        <p:spPr>
          <a:xfrm>
            <a:off x="457200" y="2999232"/>
            <a:ext cx="1645920" cy="4572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Creative Director</a:t>
            </a:r>
            <a:endParaRPr lang="en-US" sz="1000" dirty="0"/>
          </a:p>
        </p:txBody>
      </p:sp>
      <p:sp>
        <p:nvSpPr>
          <p:cNvPr id="10" name="Shape 7"/>
          <p:cNvSpPr/>
          <p:nvPr/>
        </p:nvSpPr>
        <p:spPr>
          <a:xfrm>
            <a:off x="1188720" y="3767328"/>
            <a:ext cx="182880" cy="182880"/>
          </a:xfrm>
          <a:prstGeom prst="ellipse">
            <a:avLst/>
          </a:prstGeom>
          <a:solidFill>
            <a:srgbClr val="F5C518"/>
          </a:solidFill>
          <a:ln w="12700">
            <a:solidFill>
              <a:srgbClr val="F5C518"/>
            </a:solidFill>
            <a:prstDash val="solid"/>
          </a:ln>
        </p:spPr>
        <p:txBody>
          <a:bodyPr/>
          <a:lstStyle/>
          <a:p>
            <a:endParaRPr lang="en-AU"/>
          </a:p>
        </p:txBody>
      </p:sp>
      <p:sp>
        <p:nvSpPr>
          <p:cNvPr id="11" name="Shape 8"/>
          <p:cNvSpPr/>
          <p:nvPr/>
        </p:nvSpPr>
        <p:spPr>
          <a:xfrm>
            <a:off x="2377440" y="1143000"/>
            <a:ext cx="1188720" cy="1188720"/>
          </a:xfrm>
          <a:prstGeom prst="ellipse">
            <a:avLst/>
          </a:prstGeom>
          <a:solidFill>
            <a:srgbClr val="8C9DC0"/>
          </a:solidFill>
          <a:ln w="25400">
            <a:solidFill>
              <a:srgbClr val="F5C518"/>
            </a:solidFill>
            <a:prstDash val="solid"/>
          </a:ln>
        </p:spPr>
        <p:txBody>
          <a:bodyPr/>
          <a:lstStyle/>
          <a:p>
            <a:endParaRPr lang="en-AU"/>
          </a:p>
        </p:txBody>
      </p:sp>
      <p:pic>
        <p:nvPicPr>
          <p:cNvPr id="12" name="Image 1" descr="preencoded.png"/>
          <p:cNvPicPr>
            <a:picLocks noChangeAspect="1"/>
          </p:cNvPicPr>
          <p:nvPr/>
        </p:nvPicPr>
        <p:blipFill>
          <a:blip r:embed="rId4"/>
          <a:stretch>
            <a:fillRect/>
          </a:stretch>
        </p:blipFill>
        <p:spPr>
          <a:xfrm>
            <a:off x="2651760" y="1417320"/>
            <a:ext cx="640080" cy="640080"/>
          </a:xfrm>
          <a:prstGeom prst="rect">
            <a:avLst/>
          </a:prstGeom>
        </p:spPr>
      </p:pic>
      <p:sp>
        <p:nvSpPr>
          <p:cNvPr id="13" name="Shape 9"/>
          <p:cNvSpPr/>
          <p:nvPr/>
        </p:nvSpPr>
        <p:spPr>
          <a:xfrm>
            <a:off x="2148840" y="2487168"/>
            <a:ext cx="1645920" cy="1645920"/>
          </a:xfrm>
          <a:prstGeom prst="rect">
            <a:avLst/>
          </a:prstGeom>
          <a:solidFill>
            <a:srgbClr val="F5F7FA"/>
          </a:solidFill>
          <a:ln w="12700">
            <a:solidFill>
              <a:srgbClr val="E8EDF5"/>
            </a:solidFill>
            <a:prstDash val="solid"/>
          </a:ln>
        </p:spPr>
        <p:txBody>
          <a:bodyPr/>
          <a:lstStyle/>
          <a:p>
            <a:endParaRPr lang="en-AU"/>
          </a:p>
        </p:txBody>
      </p:sp>
      <p:sp>
        <p:nvSpPr>
          <p:cNvPr id="14" name="Text 10"/>
          <p:cNvSpPr/>
          <p:nvPr/>
        </p:nvSpPr>
        <p:spPr>
          <a:xfrm>
            <a:off x="2148840" y="2578608"/>
            <a:ext cx="1645920" cy="411480"/>
          </a:xfrm>
          <a:prstGeom prst="rect">
            <a:avLst/>
          </a:prstGeom>
          <a:noFill/>
          <a:ln/>
        </p:spPr>
        <p:txBody>
          <a:bodyPr wrap="square"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Maya Singh</a:t>
            </a:r>
            <a:endParaRPr lang="en-US" sz="1100" dirty="0"/>
          </a:p>
        </p:txBody>
      </p:sp>
      <p:sp>
        <p:nvSpPr>
          <p:cNvPr id="15" name="Text 11"/>
          <p:cNvSpPr/>
          <p:nvPr/>
        </p:nvSpPr>
        <p:spPr>
          <a:xfrm>
            <a:off x="2148840" y="2999232"/>
            <a:ext cx="1645920" cy="4572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Lead Developer</a:t>
            </a:r>
            <a:endParaRPr lang="en-US" sz="1000" dirty="0"/>
          </a:p>
        </p:txBody>
      </p:sp>
      <p:sp>
        <p:nvSpPr>
          <p:cNvPr id="16" name="Shape 12"/>
          <p:cNvSpPr/>
          <p:nvPr/>
        </p:nvSpPr>
        <p:spPr>
          <a:xfrm>
            <a:off x="2880360" y="3767328"/>
            <a:ext cx="182880" cy="182880"/>
          </a:xfrm>
          <a:prstGeom prst="ellipse">
            <a:avLst/>
          </a:prstGeom>
          <a:solidFill>
            <a:srgbClr val="F5C518"/>
          </a:solidFill>
          <a:ln w="12700">
            <a:solidFill>
              <a:srgbClr val="F5C518"/>
            </a:solidFill>
            <a:prstDash val="solid"/>
          </a:ln>
        </p:spPr>
        <p:txBody>
          <a:bodyPr/>
          <a:lstStyle/>
          <a:p>
            <a:endParaRPr lang="en-AU"/>
          </a:p>
        </p:txBody>
      </p:sp>
      <p:sp>
        <p:nvSpPr>
          <p:cNvPr id="17" name="Shape 13"/>
          <p:cNvSpPr/>
          <p:nvPr/>
        </p:nvSpPr>
        <p:spPr>
          <a:xfrm>
            <a:off x="4069080" y="1143000"/>
            <a:ext cx="1188720" cy="1188720"/>
          </a:xfrm>
          <a:prstGeom prst="ellipse">
            <a:avLst/>
          </a:prstGeom>
          <a:solidFill>
            <a:srgbClr val="1B3A6B"/>
          </a:solidFill>
          <a:ln w="25400">
            <a:solidFill>
              <a:srgbClr val="F5C518"/>
            </a:solidFill>
            <a:prstDash val="solid"/>
          </a:ln>
        </p:spPr>
        <p:txBody>
          <a:bodyPr/>
          <a:lstStyle/>
          <a:p>
            <a:endParaRPr lang="en-AU"/>
          </a:p>
        </p:txBody>
      </p:sp>
      <p:pic>
        <p:nvPicPr>
          <p:cNvPr id="18" name="Image 2" descr="preencoded.png"/>
          <p:cNvPicPr>
            <a:picLocks noChangeAspect="1"/>
          </p:cNvPicPr>
          <p:nvPr/>
        </p:nvPicPr>
        <p:blipFill>
          <a:blip r:embed="rId5"/>
          <a:stretch>
            <a:fillRect/>
          </a:stretch>
        </p:blipFill>
        <p:spPr>
          <a:xfrm>
            <a:off x="4343400" y="1417320"/>
            <a:ext cx="640080" cy="640080"/>
          </a:xfrm>
          <a:prstGeom prst="rect">
            <a:avLst/>
          </a:prstGeom>
        </p:spPr>
      </p:pic>
      <p:sp>
        <p:nvSpPr>
          <p:cNvPr id="19" name="Shape 14"/>
          <p:cNvSpPr/>
          <p:nvPr/>
        </p:nvSpPr>
        <p:spPr>
          <a:xfrm>
            <a:off x="3840480" y="2487168"/>
            <a:ext cx="1645920" cy="1645920"/>
          </a:xfrm>
          <a:prstGeom prst="rect">
            <a:avLst/>
          </a:prstGeom>
          <a:solidFill>
            <a:srgbClr val="F5F7FA"/>
          </a:solidFill>
          <a:ln w="12700">
            <a:solidFill>
              <a:srgbClr val="E8EDF5"/>
            </a:solidFill>
            <a:prstDash val="solid"/>
          </a:ln>
        </p:spPr>
        <p:txBody>
          <a:bodyPr/>
          <a:lstStyle/>
          <a:p>
            <a:endParaRPr lang="en-AU"/>
          </a:p>
        </p:txBody>
      </p:sp>
      <p:sp>
        <p:nvSpPr>
          <p:cNvPr id="20" name="Text 15"/>
          <p:cNvSpPr/>
          <p:nvPr/>
        </p:nvSpPr>
        <p:spPr>
          <a:xfrm>
            <a:off x="3840480" y="2578608"/>
            <a:ext cx="1645920" cy="411480"/>
          </a:xfrm>
          <a:prstGeom prst="rect">
            <a:avLst/>
          </a:prstGeom>
          <a:noFill/>
          <a:ln/>
        </p:spPr>
        <p:txBody>
          <a:bodyPr wrap="square"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Tom Williams</a:t>
            </a:r>
            <a:endParaRPr lang="en-US" sz="1100" dirty="0"/>
          </a:p>
        </p:txBody>
      </p:sp>
      <p:sp>
        <p:nvSpPr>
          <p:cNvPr id="21" name="Text 16"/>
          <p:cNvSpPr/>
          <p:nvPr/>
        </p:nvSpPr>
        <p:spPr>
          <a:xfrm>
            <a:off x="3840480" y="2999232"/>
            <a:ext cx="1645920" cy="4572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SEO Strategist</a:t>
            </a:r>
            <a:endParaRPr lang="en-US" sz="1000" dirty="0"/>
          </a:p>
        </p:txBody>
      </p:sp>
      <p:sp>
        <p:nvSpPr>
          <p:cNvPr id="22" name="Shape 17"/>
          <p:cNvSpPr/>
          <p:nvPr/>
        </p:nvSpPr>
        <p:spPr>
          <a:xfrm>
            <a:off x="4572000" y="3767328"/>
            <a:ext cx="182880" cy="182880"/>
          </a:xfrm>
          <a:prstGeom prst="ellipse">
            <a:avLst/>
          </a:prstGeom>
          <a:solidFill>
            <a:srgbClr val="F5C518"/>
          </a:solidFill>
          <a:ln w="12700">
            <a:solidFill>
              <a:srgbClr val="F5C518"/>
            </a:solidFill>
            <a:prstDash val="solid"/>
          </a:ln>
        </p:spPr>
        <p:txBody>
          <a:bodyPr/>
          <a:lstStyle/>
          <a:p>
            <a:endParaRPr lang="en-AU"/>
          </a:p>
        </p:txBody>
      </p:sp>
      <p:sp>
        <p:nvSpPr>
          <p:cNvPr id="23" name="Shape 18"/>
          <p:cNvSpPr/>
          <p:nvPr/>
        </p:nvSpPr>
        <p:spPr>
          <a:xfrm>
            <a:off x="5760720" y="1143000"/>
            <a:ext cx="1188720" cy="1188720"/>
          </a:xfrm>
          <a:prstGeom prst="ellipse">
            <a:avLst/>
          </a:prstGeom>
          <a:solidFill>
            <a:srgbClr val="8C9DC0"/>
          </a:solidFill>
          <a:ln w="25400">
            <a:solidFill>
              <a:srgbClr val="F5C518"/>
            </a:solidFill>
            <a:prstDash val="solid"/>
          </a:ln>
        </p:spPr>
        <p:txBody>
          <a:bodyPr/>
          <a:lstStyle/>
          <a:p>
            <a:endParaRPr lang="en-AU"/>
          </a:p>
        </p:txBody>
      </p:sp>
      <p:pic>
        <p:nvPicPr>
          <p:cNvPr id="24" name="Image 3" descr="preencoded.png"/>
          <p:cNvPicPr>
            <a:picLocks noChangeAspect="1"/>
          </p:cNvPicPr>
          <p:nvPr/>
        </p:nvPicPr>
        <p:blipFill>
          <a:blip r:embed="rId6"/>
          <a:stretch>
            <a:fillRect/>
          </a:stretch>
        </p:blipFill>
        <p:spPr>
          <a:xfrm>
            <a:off x="6035040" y="1417320"/>
            <a:ext cx="640080" cy="640080"/>
          </a:xfrm>
          <a:prstGeom prst="rect">
            <a:avLst/>
          </a:prstGeom>
        </p:spPr>
      </p:pic>
      <p:sp>
        <p:nvSpPr>
          <p:cNvPr id="25" name="Shape 19"/>
          <p:cNvSpPr/>
          <p:nvPr/>
        </p:nvSpPr>
        <p:spPr>
          <a:xfrm>
            <a:off x="5532120" y="2487168"/>
            <a:ext cx="1645920" cy="1645920"/>
          </a:xfrm>
          <a:prstGeom prst="rect">
            <a:avLst/>
          </a:prstGeom>
          <a:solidFill>
            <a:srgbClr val="F5F7FA"/>
          </a:solidFill>
          <a:ln w="12700">
            <a:solidFill>
              <a:srgbClr val="E8EDF5"/>
            </a:solidFill>
            <a:prstDash val="solid"/>
          </a:ln>
        </p:spPr>
        <p:txBody>
          <a:bodyPr/>
          <a:lstStyle/>
          <a:p>
            <a:endParaRPr lang="en-AU"/>
          </a:p>
        </p:txBody>
      </p:sp>
      <p:sp>
        <p:nvSpPr>
          <p:cNvPr id="26" name="Text 20"/>
          <p:cNvSpPr/>
          <p:nvPr/>
        </p:nvSpPr>
        <p:spPr>
          <a:xfrm>
            <a:off x="5532120" y="2578608"/>
            <a:ext cx="1645920" cy="411480"/>
          </a:xfrm>
          <a:prstGeom prst="rect">
            <a:avLst/>
          </a:prstGeom>
          <a:noFill/>
          <a:ln/>
        </p:spPr>
        <p:txBody>
          <a:bodyPr wrap="square"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Chloe Park</a:t>
            </a:r>
            <a:endParaRPr lang="en-US" sz="1100" dirty="0"/>
          </a:p>
        </p:txBody>
      </p:sp>
      <p:sp>
        <p:nvSpPr>
          <p:cNvPr id="27" name="Text 21"/>
          <p:cNvSpPr/>
          <p:nvPr/>
        </p:nvSpPr>
        <p:spPr>
          <a:xfrm>
            <a:off x="5532120" y="2999232"/>
            <a:ext cx="1645920" cy="4572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UX/UI Designer</a:t>
            </a:r>
            <a:endParaRPr lang="en-US" sz="1000" dirty="0"/>
          </a:p>
        </p:txBody>
      </p:sp>
      <p:sp>
        <p:nvSpPr>
          <p:cNvPr id="28" name="Shape 22"/>
          <p:cNvSpPr/>
          <p:nvPr/>
        </p:nvSpPr>
        <p:spPr>
          <a:xfrm>
            <a:off x="6263640" y="3767328"/>
            <a:ext cx="182880" cy="182880"/>
          </a:xfrm>
          <a:prstGeom prst="ellipse">
            <a:avLst/>
          </a:prstGeom>
          <a:solidFill>
            <a:srgbClr val="F5C518"/>
          </a:solidFill>
          <a:ln w="12700">
            <a:solidFill>
              <a:srgbClr val="F5C518"/>
            </a:solidFill>
            <a:prstDash val="solid"/>
          </a:ln>
        </p:spPr>
        <p:txBody>
          <a:bodyPr/>
          <a:lstStyle/>
          <a:p>
            <a:endParaRPr lang="en-AU"/>
          </a:p>
        </p:txBody>
      </p:sp>
      <p:sp>
        <p:nvSpPr>
          <p:cNvPr id="29" name="Shape 23"/>
          <p:cNvSpPr/>
          <p:nvPr/>
        </p:nvSpPr>
        <p:spPr>
          <a:xfrm>
            <a:off x="7452360" y="1143000"/>
            <a:ext cx="1188720" cy="1188720"/>
          </a:xfrm>
          <a:prstGeom prst="ellipse">
            <a:avLst/>
          </a:prstGeom>
          <a:solidFill>
            <a:srgbClr val="1B3A6B"/>
          </a:solidFill>
          <a:ln w="25400">
            <a:solidFill>
              <a:srgbClr val="F5C518"/>
            </a:solidFill>
            <a:prstDash val="solid"/>
          </a:ln>
        </p:spPr>
        <p:txBody>
          <a:bodyPr/>
          <a:lstStyle/>
          <a:p>
            <a:endParaRPr lang="en-AU"/>
          </a:p>
        </p:txBody>
      </p:sp>
      <p:pic>
        <p:nvPicPr>
          <p:cNvPr id="30" name="Image 4" descr="preencoded.png"/>
          <p:cNvPicPr>
            <a:picLocks noChangeAspect="1"/>
          </p:cNvPicPr>
          <p:nvPr/>
        </p:nvPicPr>
        <p:blipFill>
          <a:blip r:embed="rId7"/>
          <a:stretch>
            <a:fillRect/>
          </a:stretch>
        </p:blipFill>
        <p:spPr>
          <a:xfrm>
            <a:off x="7726680" y="1417320"/>
            <a:ext cx="640080" cy="640080"/>
          </a:xfrm>
          <a:prstGeom prst="rect">
            <a:avLst/>
          </a:prstGeom>
        </p:spPr>
      </p:pic>
      <p:sp>
        <p:nvSpPr>
          <p:cNvPr id="31" name="Shape 24"/>
          <p:cNvSpPr/>
          <p:nvPr/>
        </p:nvSpPr>
        <p:spPr>
          <a:xfrm>
            <a:off x="7223760" y="2487168"/>
            <a:ext cx="1645920" cy="1645920"/>
          </a:xfrm>
          <a:prstGeom prst="rect">
            <a:avLst/>
          </a:prstGeom>
          <a:solidFill>
            <a:srgbClr val="F5F7FA"/>
          </a:solidFill>
          <a:ln w="12700">
            <a:solidFill>
              <a:srgbClr val="E8EDF5"/>
            </a:solidFill>
            <a:prstDash val="solid"/>
          </a:ln>
        </p:spPr>
        <p:txBody>
          <a:bodyPr/>
          <a:lstStyle/>
          <a:p>
            <a:endParaRPr lang="en-AU"/>
          </a:p>
        </p:txBody>
      </p:sp>
      <p:sp>
        <p:nvSpPr>
          <p:cNvPr id="32" name="Text 25"/>
          <p:cNvSpPr/>
          <p:nvPr/>
        </p:nvSpPr>
        <p:spPr>
          <a:xfrm>
            <a:off x="7223760" y="2578608"/>
            <a:ext cx="1645920" cy="411480"/>
          </a:xfrm>
          <a:prstGeom prst="rect">
            <a:avLst/>
          </a:prstGeom>
          <a:noFill/>
          <a:ln/>
        </p:spPr>
        <p:txBody>
          <a:bodyPr wrap="square" rtlCol="0" anchor="ctr"/>
          <a:lstStyle/>
          <a:p>
            <a:pPr marL="0" indent="0" algn="ctr">
              <a:buNone/>
            </a:pPr>
            <a:r>
              <a:rPr lang="en-US" sz="1100" b="1" dirty="0">
                <a:solidFill>
                  <a:srgbClr val="1B3A6B"/>
                </a:solidFill>
                <a:latin typeface="Calibri" pitchFamily="34" charset="0"/>
                <a:ea typeface="Calibri" pitchFamily="34" charset="-122"/>
                <a:cs typeface="Calibri" pitchFamily="34" charset="-120"/>
              </a:rPr>
              <a:t>Raj Patel</a:t>
            </a:r>
            <a:endParaRPr lang="en-US" sz="1100" dirty="0"/>
          </a:p>
        </p:txBody>
      </p:sp>
      <p:sp>
        <p:nvSpPr>
          <p:cNvPr id="33" name="Text 26"/>
          <p:cNvSpPr/>
          <p:nvPr/>
        </p:nvSpPr>
        <p:spPr>
          <a:xfrm>
            <a:off x="7223760" y="2999232"/>
            <a:ext cx="1645920" cy="4572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Project Manager</a:t>
            </a:r>
            <a:endParaRPr lang="en-US" sz="1000" dirty="0"/>
          </a:p>
        </p:txBody>
      </p:sp>
      <p:sp>
        <p:nvSpPr>
          <p:cNvPr id="34" name="Shape 27"/>
          <p:cNvSpPr/>
          <p:nvPr/>
        </p:nvSpPr>
        <p:spPr>
          <a:xfrm>
            <a:off x="7955280" y="3767328"/>
            <a:ext cx="182880" cy="182880"/>
          </a:xfrm>
          <a:prstGeom prst="ellipse">
            <a:avLst/>
          </a:prstGeom>
          <a:solidFill>
            <a:srgbClr val="F5C518"/>
          </a:solidFill>
          <a:ln w="12700">
            <a:solidFill>
              <a:srgbClr val="F5C518"/>
            </a:solidFill>
            <a:prstDash val="solid"/>
          </a:ln>
        </p:spPr>
        <p:txBody>
          <a:bodyPr/>
          <a:lstStyle/>
          <a:p>
            <a:endParaRPr lang="en-AU"/>
          </a:p>
        </p:txBody>
      </p:sp>
      <p:sp>
        <p:nvSpPr>
          <p:cNvPr id="35" name="Text 28"/>
          <p:cNvSpPr/>
          <p:nvPr/>
        </p:nvSpPr>
        <p:spPr>
          <a:xfrm>
            <a:off x="457200" y="4480560"/>
            <a:ext cx="8229600" cy="365760"/>
          </a:xfrm>
          <a:prstGeom prst="rect">
            <a:avLst/>
          </a:prstGeom>
          <a:noFill/>
          <a:ln/>
        </p:spPr>
        <p:txBody>
          <a:bodyPr wrap="square" rtlCol="0" anchor="ctr"/>
          <a:lstStyle/>
          <a:p>
            <a:pPr marL="0" indent="0" algn="ctr">
              <a:buNone/>
            </a:pPr>
            <a:r>
              <a:rPr lang="en-US" sz="1200" i="1" dirty="0">
                <a:solidFill>
                  <a:srgbClr val="4A5568"/>
                </a:solidFill>
                <a:latin typeface="Calibri" pitchFamily="34" charset="0"/>
                <a:ea typeface="Calibri" pitchFamily="34" charset="-122"/>
                <a:cs typeface="Calibri" pitchFamily="34" charset="-120"/>
              </a:rPr>
              <a:t>A passionate team of designers, developers, and strategists working together to build your vision.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F5C518"/>
          </a:solidFill>
          <a:ln w="12700">
            <a:solidFill>
              <a:srgbClr val="F5C518"/>
            </a:solidFill>
            <a:prstDash val="solid"/>
          </a:ln>
        </p:spPr>
        <p:txBody>
          <a:bodyPr/>
          <a:lstStyle/>
          <a:p>
            <a:endParaRPr lang="en-AU"/>
          </a:p>
        </p:txBody>
      </p:sp>
      <p:sp>
        <p:nvSpPr>
          <p:cNvPr id="3" name="Text 1"/>
          <p:cNvSpPr/>
          <p:nvPr/>
        </p:nvSpPr>
        <p:spPr>
          <a:xfrm>
            <a:off x="640080" y="228600"/>
            <a:ext cx="8046720" cy="548640"/>
          </a:xfrm>
          <a:prstGeom prst="rect">
            <a:avLst/>
          </a:prstGeom>
          <a:noFill/>
          <a:ln/>
        </p:spPr>
        <p:txBody>
          <a:bodyPr wrap="square" rtlCol="0" anchor="ctr"/>
          <a:lstStyle/>
          <a:p>
            <a:pPr marL="0" indent="0">
              <a:buNone/>
            </a:pPr>
            <a:r>
              <a:rPr lang="en-US" sz="2800" b="1" dirty="0">
                <a:solidFill>
                  <a:srgbClr val="1B3A6B"/>
                </a:solidFill>
                <a:latin typeface="Calibri" pitchFamily="34" charset="0"/>
                <a:ea typeface="Calibri" pitchFamily="34" charset="-122"/>
                <a:cs typeface="Calibri" pitchFamily="34" charset="-120"/>
              </a:rPr>
              <a:t>Studio Operating Hours</a:t>
            </a:r>
            <a:endParaRPr lang="en-US" sz="2800" dirty="0"/>
          </a:p>
        </p:txBody>
      </p:sp>
      <p:sp>
        <p:nvSpPr>
          <p:cNvPr id="4" name="Text 2"/>
          <p:cNvSpPr/>
          <p:nvPr/>
        </p:nvSpPr>
        <p:spPr>
          <a:xfrm>
            <a:off x="640080" y="777240"/>
            <a:ext cx="7315200" cy="274320"/>
          </a:xfrm>
          <a:prstGeom prst="rect">
            <a:avLst/>
          </a:prstGeom>
          <a:noFill/>
          <a:ln/>
        </p:spPr>
        <p:txBody>
          <a:bodyPr wrap="square" rtlCol="0" anchor="ctr"/>
          <a:lstStyle/>
          <a:p>
            <a:pPr marL="0" indent="0">
              <a:buNone/>
            </a:pPr>
            <a:r>
              <a:rPr lang="en-US" sz="1300" dirty="0">
                <a:solidFill>
                  <a:srgbClr val="4A5568"/>
                </a:solidFill>
                <a:latin typeface="Calibri" pitchFamily="34" charset="0"/>
                <a:ea typeface="Calibri" pitchFamily="34" charset="-122"/>
                <a:cs typeface="Calibri" pitchFamily="34" charset="-120"/>
              </a:rPr>
              <a:t>Weekly availability for client consultations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5029200" cy="2011680"/>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Day</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Hours</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02336">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Monday – Thursday</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9:00 AM – 5:00 PM</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9:00 AM – 3:00 PM</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Saturday – Sunday</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Public Holidays</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Closed</a:t>
                      </a:r>
                      <a:endParaRPr lang="en-US" sz="1200" dirty="0">
                        <a:latin typeface="Calibri" charset="0"/>
                        <a:ea typeface="Calibri" charset="0"/>
                        <a:cs typeface="Calibri" charset="0"/>
                      </a:endParaRPr>
                    </a:p>
                  </a:txBody>
                  <a:tcPr>
                    <a:lnL w="12700" cap="flat" cmpd="sng" algn="ctr">
                      <a:solidFill>
                        <a:srgbClr val="E8EDF5"/>
                      </a:solidFill>
                      <a:prstDash val="solid"/>
                      <a:round/>
                      <a:headEnd type="none" w="med" len="med"/>
                      <a:tailEnd type="none" w="med" len="med"/>
                    </a:lnL>
                    <a:lnR w="12700" cap="flat" cmpd="sng" algn="ctr">
                      <a:solidFill>
                        <a:srgbClr val="E8EDF5"/>
                      </a:solidFill>
                      <a:prstDash val="solid"/>
                      <a:round/>
                      <a:headEnd type="none" w="med" len="med"/>
                      <a:tailEnd type="none" w="med" len="med"/>
                    </a:lnR>
                    <a:lnT w="12700" cap="flat" cmpd="sng" algn="ctr">
                      <a:solidFill>
                        <a:srgbClr val="E8EDF5"/>
                      </a:solidFill>
                      <a:prstDash val="solid"/>
                      <a:round/>
                      <a:headEnd type="none" w="med" len="med"/>
                      <a:tailEnd type="none" w="med" len="med"/>
                    </a:lnT>
                    <a:lnB w="12700" cap="flat" cmpd="sng" algn="ctr">
                      <a:solidFill>
                        <a:srgbClr val="E8EDF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640080" y="3383280"/>
            <a:ext cx="3657600" cy="365760"/>
          </a:xfrm>
          <a:prstGeom prst="rect">
            <a:avLst/>
          </a:prstGeom>
          <a:noFill/>
          <a:ln/>
        </p:spPr>
        <p:txBody>
          <a:bodyPr wrap="square" rtlCol="0" anchor="ctr"/>
          <a:lstStyle/>
          <a:p>
            <a:pPr marL="0" indent="0">
              <a:buNone/>
            </a:pPr>
            <a:r>
              <a:rPr lang="en-US" sz="1600" b="1" dirty="0">
                <a:solidFill>
                  <a:srgbClr val="1B3A6B"/>
                </a:solidFill>
                <a:latin typeface="Calibri" pitchFamily="34" charset="0"/>
                <a:ea typeface="Calibri" pitchFamily="34" charset="-122"/>
                <a:cs typeface="Calibri" pitchFamily="34" charset="-120"/>
              </a:rPr>
              <a:t>Get In Touch</a:t>
            </a:r>
            <a:endParaRPr lang="en-US" sz="1600" dirty="0"/>
          </a:p>
        </p:txBody>
      </p:sp>
      <p:sp>
        <p:nvSpPr>
          <p:cNvPr id="7" name="Shape 4"/>
          <p:cNvSpPr/>
          <p:nvPr/>
        </p:nvSpPr>
        <p:spPr>
          <a:xfrm>
            <a:off x="640080" y="3822192"/>
            <a:ext cx="4114800" cy="274320"/>
          </a:xfrm>
          <a:prstGeom prst="rect">
            <a:avLst/>
          </a:prstGeom>
          <a:solidFill>
            <a:srgbClr val="FFFFFF"/>
          </a:solidFill>
          <a:ln w="12700">
            <a:solidFill>
              <a:srgbClr val="E8EDF5"/>
            </a:solidFill>
            <a:prstDash val="solid"/>
          </a:ln>
        </p:spPr>
        <p:txBody>
          <a:bodyPr/>
          <a:lstStyle/>
          <a:p>
            <a:endParaRPr lang="en-AU"/>
          </a:p>
        </p:txBody>
      </p:sp>
      <p:pic>
        <p:nvPicPr>
          <p:cNvPr id="8" name="Image 0" descr="preencoded.png"/>
          <p:cNvPicPr>
            <a:picLocks noChangeAspect="1"/>
          </p:cNvPicPr>
          <p:nvPr/>
        </p:nvPicPr>
        <p:blipFill>
          <a:blip r:embed="rId3"/>
          <a:stretch>
            <a:fillRect/>
          </a:stretch>
        </p:blipFill>
        <p:spPr>
          <a:xfrm>
            <a:off x="749808" y="3849624"/>
            <a:ext cx="201168" cy="201168"/>
          </a:xfrm>
          <a:prstGeom prst="rect">
            <a:avLst/>
          </a:prstGeom>
        </p:spPr>
      </p:pic>
      <p:sp>
        <p:nvSpPr>
          <p:cNvPr id="9" name="Text 5"/>
          <p:cNvSpPr/>
          <p:nvPr/>
        </p:nvSpPr>
        <p:spPr>
          <a:xfrm>
            <a:off x="1024128" y="3858768"/>
            <a:ext cx="3566160" cy="219456"/>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info@nextgenwebworks.com</a:t>
            </a:r>
            <a:endParaRPr lang="en-US" sz="1100" dirty="0"/>
          </a:p>
        </p:txBody>
      </p:sp>
      <p:sp>
        <p:nvSpPr>
          <p:cNvPr id="10" name="Shape 6"/>
          <p:cNvSpPr/>
          <p:nvPr/>
        </p:nvSpPr>
        <p:spPr>
          <a:xfrm>
            <a:off x="640080" y="4142232"/>
            <a:ext cx="4114800" cy="274320"/>
          </a:xfrm>
          <a:prstGeom prst="rect">
            <a:avLst/>
          </a:prstGeom>
          <a:solidFill>
            <a:srgbClr val="FFFFFF"/>
          </a:solidFill>
          <a:ln w="12700">
            <a:solidFill>
              <a:srgbClr val="E8EDF5"/>
            </a:solidFill>
            <a:prstDash val="solid"/>
          </a:ln>
        </p:spPr>
        <p:txBody>
          <a:bodyPr/>
          <a:lstStyle/>
          <a:p>
            <a:endParaRPr lang="en-AU"/>
          </a:p>
        </p:txBody>
      </p:sp>
      <p:pic>
        <p:nvPicPr>
          <p:cNvPr id="11" name="Image 1" descr="preencoded.png"/>
          <p:cNvPicPr>
            <a:picLocks noChangeAspect="1"/>
          </p:cNvPicPr>
          <p:nvPr/>
        </p:nvPicPr>
        <p:blipFill>
          <a:blip r:embed="rId4"/>
          <a:stretch>
            <a:fillRect/>
          </a:stretch>
        </p:blipFill>
        <p:spPr>
          <a:xfrm>
            <a:off x="749808" y="4169664"/>
            <a:ext cx="201168" cy="201168"/>
          </a:xfrm>
          <a:prstGeom prst="rect">
            <a:avLst/>
          </a:prstGeom>
        </p:spPr>
      </p:pic>
      <p:sp>
        <p:nvSpPr>
          <p:cNvPr id="12" name="Text 7"/>
          <p:cNvSpPr/>
          <p:nvPr/>
        </p:nvSpPr>
        <p:spPr>
          <a:xfrm>
            <a:off x="1024128" y="4178808"/>
            <a:ext cx="3566160" cy="219456"/>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+61 3 0000 0000</a:t>
            </a:r>
            <a:endParaRPr lang="en-US" sz="1100" dirty="0"/>
          </a:p>
        </p:txBody>
      </p:sp>
      <p:sp>
        <p:nvSpPr>
          <p:cNvPr id="13" name="Shape 8"/>
          <p:cNvSpPr/>
          <p:nvPr/>
        </p:nvSpPr>
        <p:spPr>
          <a:xfrm>
            <a:off x="640080" y="4462272"/>
            <a:ext cx="4114800" cy="274320"/>
          </a:xfrm>
          <a:prstGeom prst="rect">
            <a:avLst/>
          </a:prstGeom>
          <a:solidFill>
            <a:srgbClr val="FFFFFF"/>
          </a:solidFill>
          <a:ln w="12700">
            <a:solidFill>
              <a:srgbClr val="E8EDF5"/>
            </a:solidFill>
            <a:prstDash val="solid"/>
          </a:ln>
        </p:spPr>
        <p:txBody>
          <a:bodyPr/>
          <a:lstStyle/>
          <a:p>
            <a:endParaRPr lang="en-AU"/>
          </a:p>
        </p:txBody>
      </p:sp>
      <p:pic>
        <p:nvPicPr>
          <p:cNvPr id="5" name="Image 2" descr="preencoded.png"/>
          <p:cNvPicPr>
            <a:picLocks noChangeAspect="1"/>
          </p:cNvPicPr>
          <p:nvPr/>
        </p:nvPicPr>
        <p:blipFill>
          <a:blip r:embed="rId5"/>
          <a:stretch>
            <a:fillRect/>
          </a:stretch>
        </p:blipFill>
        <p:spPr>
          <a:xfrm>
            <a:off x="749808" y="4489704"/>
            <a:ext cx="201168" cy="201168"/>
          </a:xfrm>
          <a:prstGeom prst="rect">
            <a:avLst/>
          </a:prstGeom>
        </p:spPr>
      </p:pic>
      <p:sp>
        <p:nvSpPr>
          <p:cNvPr id="15" name="Text 9"/>
          <p:cNvSpPr/>
          <p:nvPr/>
        </p:nvSpPr>
        <p:spPr>
          <a:xfrm>
            <a:off x="1024128" y="4498848"/>
            <a:ext cx="3566160" cy="219456"/>
          </a:xfrm>
          <a:prstGeom prst="rect">
            <a:avLst/>
          </a:prstGeom>
          <a:noFill/>
          <a:ln/>
        </p:spPr>
        <p:txBody>
          <a:bodyPr wrap="square" lIns="0" tIns="0" rIns="0" bIns="0" rtlCol="0" anchor="ctr"/>
          <a:lstStyle/>
          <a:p>
            <a:pPr marL="0" indent="0">
              <a:buNone/>
            </a:pPr>
            <a:r>
              <a:rPr lang="en-US" sz="1100" dirty="0">
                <a:solidFill>
                  <a:srgbClr val="1B2B4B"/>
                </a:solidFill>
                <a:latin typeface="Calibri" pitchFamily="34" charset="0"/>
                <a:ea typeface="Calibri" pitchFamily="34" charset="-122"/>
                <a:cs typeface="Calibri" pitchFamily="34" charset="-120"/>
              </a:rPr>
              <a:t>Melbourne, VIC, Australia</a:t>
            </a:r>
            <a:endParaRPr lang="en-US" sz="1100" dirty="0"/>
          </a:p>
        </p:txBody>
      </p:sp>
      <p:sp>
        <p:nvSpPr>
          <p:cNvPr id="16" name="Shape 10"/>
          <p:cNvSpPr/>
          <p:nvPr/>
        </p:nvSpPr>
        <p:spPr>
          <a:xfrm>
            <a:off x="5943600" y="1188720"/>
            <a:ext cx="2743200" cy="3520440"/>
          </a:xfrm>
          <a:prstGeom prst="rect">
            <a:avLst/>
          </a:prstGeom>
          <a:solidFill>
            <a:srgbClr val="1B3A6B"/>
          </a:solidFill>
          <a:ln w="12700">
            <a:solidFill>
              <a:srgbClr val="1B3A6B"/>
            </a:solidFill>
            <a:prstDash val="solid"/>
          </a:ln>
        </p:spPr>
        <p:txBody>
          <a:bodyPr/>
          <a:lstStyle/>
          <a:p>
            <a:endParaRPr lang="en-AU"/>
          </a:p>
        </p:txBody>
      </p:sp>
      <p:sp>
        <p:nvSpPr>
          <p:cNvPr id="17" name="Text 11"/>
          <p:cNvSpPr/>
          <p:nvPr/>
        </p:nvSpPr>
        <p:spPr>
          <a:xfrm>
            <a:off x="5943600" y="1280160"/>
            <a:ext cx="2743200" cy="411480"/>
          </a:xfrm>
          <a:prstGeom prst="rect">
            <a:avLst/>
          </a:prstGeom>
          <a:noFill/>
          <a:ln/>
        </p:spPr>
        <p:txBody>
          <a:bodyPr wrap="square" rtlCol="0" anchor="ctr"/>
          <a:lstStyle/>
          <a:p>
            <a:pPr marL="0" indent="0" algn="ctr">
              <a:buNone/>
            </a:pPr>
            <a:r>
              <a:rPr lang="en-US" sz="1400" b="1" dirty="0">
                <a:solidFill>
                  <a:srgbClr val="F5C518"/>
                </a:solidFill>
                <a:latin typeface="Calibri" pitchFamily="34" charset="0"/>
                <a:ea typeface="Calibri" pitchFamily="34" charset="-122"/>
                <a:cs typeface="Calibri" pitchFamily="34" charset="-120"/>
              </a:rPr>
              <a:t>Quick Facts</a:t>
            </a:r>
            <a:endParaRPr lang="en-US" sz="1400" dirty="0"/>
          </a:p>
        </p:txBody>
      </p:sp>
      <p:pic>
        <p:nvPicPr>
          <p:cNvPr id="18" name="Image 3" descr="preencoded.png"/>
          <p:cNvPicPr>
            <a:picLocks noChangeAspect="1"/>
          </p:cNvPicPr>
          <p:nvPr/>
        </p:nvPicPr>
        <p:blipFill>
          <a:blip r:embed="rId6"/>
          <a:stretch>
            <a:fillRect/>
          </a:stretch>
        </p:blipFill>
        <p:spPr>
          <a:xfrm>
            <a:off x="6080760" y="1874520"/>
            <a:ext cx="201168" cy="201168"/>
          </a:xfrm>
          <a:prstGeom prst="rect">
            <a:avLst/>
          </a:prstGeom>
        </p:spPr>
      </p:pic>
      <p:sp>
        <p:nvSpPr>
          <p:cNvPr id="19" name="Text 12"/>
          <p:cNvSpPr/>
          <p:nvPr/>
        </p:nvSpPr>
        <p:spPr>
          <a:xfrm>
            <a:off x="6355080" y="1883664"/>
            <a:ext cx="2194560" cy="27432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ABN: 00 000 000 000</a:t>
            </a:r>
            <a:endParaRPr lang="en-US" sz="1100" dirty="0"/>
          </a:p>
        </p:txBody>
      </p:sp>
      <p:pic>
        <p:nvPicPr>
          <p:cNvPr id="20" name="Image 4" descr="preencoded.png"/>
          <p:cNvPicPr>
            <a:picLocks noChangeAspect="1"/>
          </p:cNvPicPr>
          <p:nvPr/>
        </p:nvPicPr>
        <p:blipFill>
          <a:blip r:embed="rId6"/>
          <a:stretch>
            <a:fillRect/>
          </a:stretch>
        </p:blipFill>
        <p:spPr>
          <a:xfrm>
            <a:off x="6080760" y="2377440"/>
            <a:ext cx="201168" cy="201168"/>
          </a:xfrm>
          <a:prstGeom prst="rect">
            <a:avLst/>
          </a:prstGeom>
        </p:spPr>
      </p:pic>
      <p:sp>
        <p:nvSpPr>
          <p:cNvPr id="21" name="Text 13"/>
          <p:cNvSpPr/>
          <p:nvPr/>
        </p:nvSpPr>
        <p:spPr>
          <a:xfrm>
            <a:off x="6355080" y="2386584"/>
            <a:ext cx="2194560" cy="27432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GST Registered</a:t>
            </a:r>
            <a:endParaRPr lang="en-US" sz="1100" dirty="0"/>
          </a:p>
        </p:txBody>
      </p:sp>
      <p:pic>
        <p:nvPicPr>
          <p:cNvPr id="22" name="Image 5" descr="preencoded.png"/>
          <p:cNvPicPr>
            <a:picLocks noChangeAspect="1"/>
          </p:cNvPicPr>
          <p:nvPr/>
        </p:nvPicPr>
        <p:blipFill>
          <a:blip r:embed="rId6"/>
          <a:stretch>
            <a:fillRect/>
          </a:stretch>
        </p:blipFill>
        <p:spPr>
          <a:xfrm>
            <a:off x="6080760" y="2880360"/>
            <a:ext cx="201168" cy="201168"/>
          </a:xfrm>
          <a:prstGeom prst="rect">
            <a:avLst/>
          </a:prstGeom>
        </p:spPr>
      </p:pic>
      <p:sp>
        <p:nvSpPr>
          <p:cNvPr id="23" name="Text 14"/>
          <p:cNvSpPr/>
          <p:nvPr/>
        </p:nvSpPr>
        <p:spPr>
          <a:xfrm>
            <a:off x="6355080" y="2889504"/>
            <a:ext cx="2194560" cy="27432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Based in Melbourne</a:t>
            </a:r>
            <a:endParaRPr lang="en-US" sz="1100" dirty="0"/>
          </a:p>
        </p:txBody>
      </p:sp>
      <p:pic>
        <p:nvPicPr>
          <p:cNvPr id="24" name="Image 6" descr="preencoded.png"/>
          <p:cNvPicPr>
            <a:picLocks noChangeAspect="1"/>
          </p:cNvPicPr>
          <p:nvPr/>
        </p:nvPicPr>
        <p:blipFill>
          <a:blip r:embed="rId6"/>
          <a:stretch>
            <a:fillRect/>
          </a:stretch>
        </p:blipFill>
        <p:spPr>
          <a:xfrm>
            <a:off x="6080760" y="3383280"/>
            <a:ext cx="201168" cy="201168"/>
          </a:xfrm>
          <a:prstGeom prst="rect">
            <a:avLst/>
          </a:prstGeom>
        </p:spPr>
      </p:pic>
      <p:sp>
        <p:nvSpPr>
          <p:cNvPr id="25" name="Text 15"/>
          <p:cNvSpPr/>
          <p:nvPr/>
        </p:nvSpPr>
        <p:spPr>
          <a:xfrm>
            <a:off x="6355080" y="3392424"/>
            <a:ext cx="2194560" cy="27432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Serving Australia-wide</a:t>
            </a:r>
            <a:endParaRPr lang="en-US" sz="1100" dirty="0"/>
          </a:p>
        </p:txBody>
      </p:sp>
      <p:pic>
        <p:nvPicPr>
          <p:cNvPr id="26" name="Image 7" descr="preencoded.png"/>
          <p:cNvPicPr>
            <a:picLocks noChangeAspect="1"/>
          </p:cNvPicPr>
          <p:nvPr/>
        </p:nvPicPr>
        <p:blipFill>
          <a:blip r:embed="rId6"/>
          <a:stretch>
            <a:fillRect/>
          </a:stretch>
        </p:blipFill>
        <p:spPr>
          <a:xfrm>
            <a:off x="6080760" y="3886200"/>
            <a:ext cx="201168" cy="201168"/>
          </a:xfrm>
          <a:prstGeom prst="rect">
            <a:avLst/>
          </a:prstGeom>
        </p:spPr>
      </p:pic>
      <p:sp>
        <p:nvSpPr>
          <p:cNvPr id="27" name="Text 16"/>
          <p:cNvSpPr/>
          <p:nvPr/>
        </p:nvSpPr>
        <p:spPr>
          <a:xfrm>
            <a:off x="6355080" y="3895344"/>
            <a:ext cx="2194560" cy="27432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Remote clients welcome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280160"/>
          </a:xfrm>
          <a:prstGeom prst="rect">
            <a:avLst/>
          </a:prstGeom>
          <a:solidFill>
            <a:srgbClr val="F5C518"/>
          </a:solidFill>
          <a:ln w="12700">
            <a:solidFill>
              <a:srgbClr val="F5C518"/>
            </a:solidFill>
            <a:prstDash val="solid"/>
          </a:ln>
        </p:spPr>
        <p:txBody>
          <a:bodyPr/>
          <a:lstStyle/>
          <a:p>
            <a:endParaRPr lang="en-AU"/>
          </a:p>
        </p:txBody>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2800" b="1" dirty="0">
                <a:solidFill>
                  <a:srgbClr val="1B3A6B"/>
                </a:solidFill>
                <a:latin typeface="Calibri" pitchFamily="34" charset="0"/>
                <a:ea typeface="Calibri" pitchFamily="34" charset="-122"/>
                <a:cs typeface="Calibri" pitchFamily="34" charset="-120"/>
              </a:rPr>
              <a:t>Acknowledgement of Country</a:t>
            </a:r>
            <a:endParaRPr lang="en-US" sz="2800" dirty="0"/>
          </a:p>
        </p:txBody>
      </p:sp>
      <p:sp>
        <p:nvSpPr>
          <p:cNvPr id="4" name="Shape 2"/>
          <p:cNvSpPr/>
          <p:nvPr/>
        </p:nvSpPr>
        <p:spPr>
          <a:xfrm>
            <a:off x="0" y="1234440"/>
            <a:ext cx="9144000" cy="73152"/>
          </a:xfrm>
          <a:prstGeom prst="rect">
            <a:avLst/>
          </a:prstGeom>
          <a:solidFill>
            <a:srgbClr val="1B3A6B"/>
          </a:solidFill>
          <a:ln w="12700">
            <a:solidFill>
              <a:srgbClr val="1B3A6B"/>
            </a:solidFill>
            <a:prstDash val="solid"/>
          </a:ln>
        </p:spPr>
        <p:txBody>
          <a:bodyPr/>
          <a:lstStyle/>
          <a:p>
            <a:endParaRPr lang="en-AU"/>
          </a:p>
        </p:txBody>
      </p:sp>
      <p:sp>
        <p:nvSpPr>
          <p:cNvPr id="5" name="Text 3"/>
          <p:cNvSpPr/>
          <p:nvPr/>
        </p:nvSpPr>
        <p:spPr>
          <a:xfrm>
            <a:off x="548640" y="1463040"/>
            <a:ext cx="7863840" cy="1005840"/>
          </a:xfrm>
          <a:prstGeom prst="rect">
            <a:avLst/>
          </a:prstGeom>
          <a:noFill/>
          <a:ln/>
        </p:spPr>
        <p:txBody>
          <a:bodyPr wrap="square" rtlCol="0" anchor="ctr"/>
          <a:lstStyle/>
          <a:p>
            <a:pPr marL="0" indent="0" algn="l">
              <a:buNone/>
            </a:pPr>
            <a:r>
              <a:rPr lang="en-US" sz="1300" dirty="0">
                <a:solidFill>
                  <a:srgbClr val="1B2B4B"/>
                </a:solidFill>
                <a:latin typeface="Calibri" pitchFamily="34" charset="0"/>
                <a:ea typeface="Calibri" pitchFamily="34" charset="-122"/>
                <a:cs typeface="Calibri" pitchFamily="34" charset="-120"/>
              </a:rPr>
              <a:t>NextGen Web Works acknowledges the Traditional Owners and Custodians of the lands on which we work and create. We pay our respects to Indigenous Elders past, present, and emerging, and celebrate the connection to Country, culture, and community.</a:t>
            </a:r>
            <a:endParaRPr lang="en-US" sz="1300" dirty="0"/>
          </a:p>
        </p:txBody>
      </p:sp>
      <p:sp>
        <p:nvSpPr>
          <p:cNvPr id="6" name="Shape 4"/>
          <p:cNvSpPr/>
          <p:nvPr/>
        </p:nvSpPr>
        <p:spPr>
          <a:xfrm>
            <a:off x="548640" y="2651760"/>
            <a:ext cx="2011680" cy="502920"/>
          </a:xfrm>
          <a:prstGeom prst="rect">
            <a:avLst/>
          </a:prstGeom>
          <a:solidFill>
            <a:srgbClr val="000000"/>
          </a:solidFill>
          <a:ln w="12700">
            <a:solidFill>
              <a:srgbClr val="000000"/>
            </a:solidFill>
            <a:prstDash val="solid"/>
          </a:ln>
        </p:spPr>
        <p:txBody>
          <a:bodyPr/>
          <a:lstStyle/>
          <a:p>
            <a:endParaRPr lang="en-AU"/>
          </a:p>
        </p:txBody>
      </p:sp>
      <p:sp>
        <p:nvSpPr>
          <p:cNvPr id="7" name="Shape 5"/>
          <p:cNvSpPr/>
          <p:nvPr/>
        </p:nvSpPr>
        <p:spPr>
          <a:xfrm>
            <a:off x="548640" y="3154680"/>
            <a:ext cx="2011680" cy="502920"/>
          </a:xfrm>
          <a:prstGeom prst="rect">
            <a:avLst/>
          </a:prstGeom>
          <a:solidFill>
            <a:srgbClr val="CC0000"/>
          </a:solidFill>
          <a:ln w="12700">
            <a:solidFill>
              <a:srgbClr val="CC0000"/>
            </a:solidFill>
            <a:prstDash val="solid"/>
          </a:ln>
        </p:spPr>
        <p:txBody>
          <a:bodyPr/>
          <a:lstStyle/>
          <a:p>
            <a:endParaRPr lang="en-AU"/>
          </a:p>
        </p:txBody>
      </p:sp>
      <p:sp>
        <p:nvSpPr>
          <p:cNvPr id="8" name="Shape 6"/>
          <p:cNvSpPr/>
          <p:nvPr/>
        </p:nvSpPr>
        <p:spPr>
          <a:xfrm>
            <a:off x="1371600" y="2971800"/>
            <a:ext cx="365760" cy="365760"/>
          </a:xfrm>
          <a:prstGeom prst="ellipse">
            <a:avLst/>
          </a:prstGeom>
          <a:solidFill>
            <a:srgbClr val="F5C518"/>
          </a:solidFill>
          <a:ln w="12700">
            <a:solidFill>
              <a:srgbClr val="F5C518"/>
            </a:solidFill>
            <a:prstDash val="solid"/>
          </a:ln>
        </p:spPr>
        <p:txBody>
          <a:bodyPr/>
          <a:lstStyle/>
          <a:p>
            <a:endParaRPr lang="en-AU"/>
          </a:p>
        </p:txBody>
      </p:sp>
      <p:sp>
        <p:nvSpPr>
          <p:cNvPr id="9" name="Text 7"/>
          <p:cNvSpPr/>
          <p:nvPr/>
        </p:nvSpPr>
        <p:spPr>
          <a:xfrm>
            <a:off x="548640" y="3703320"/>
            <a:ext cx="2011680" cy="2286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Aboriginal Flag</a:t>
            </a:r>
            <a:endParaRPr lang="en-US" sz="1000" dirty="0"/>
          </a:p>
        </p:txBody>
      </p:sp>
      <p:sp>
        <p:nvSpPr>
          <p:cNvPr id="10" name="Shape 8"/>
          <p:cNvSpPr/>
          <p:nvPr/>
        </p:nvSpPr>
        <p:spPr>
          <a:xfrm>
            <a:off x="2926080" y="2651760"/>
            <a:ext cx="2011680" cy="1005840"/>
          </a:xfrm>
          <a:prstGeom prst="rect">
            <a:avLst/>
          </a:prstGeom>
          <a:solidFill>
            <a:srgbClr val="009B5F"/>
          </a:solidFill>
          <a:ln w="12700">
            <a:solidFill>
              <a:srgbClr val="009B5F"/>
            </a:solidFill>
            <a:prstDash val="solid"/>
          </a:ln>
        </p:spPr>
        <p:txBody>
          <a:bodyPr/>
          <a:lstStyle/>
          <a:p>
            <a:endParaRPr lang="en-AU"/>
          </a:p>
        </p:txBody>
      </p:sp>
      <p:sp>
        <p:nvSpPr>
          <p:cNvPr id="11" name="Shape 9"/>
          <p:cNvSpPr/>
          <p:nvPr/>
        </p:nvSpPr>
        <p:spPr>
          <a:xfrm>
            <a:off x="2926080" y="3063240"/>
            <a:ext cx="2011680" cy="182880"/>
          </a:xfrm>
          <a:prstGeom prst="rect">
            <a:avLst/>
          </a:prstGeom>
          <a:solidFill>
            <a:srgbClr val="000000"/>
          </a:solidFill>
          <a:ln w="12700">
            <a:solidFill>
              <a:srgbClr val="000000"/>
            </a:solidFill>
            <a:prstDash val="solid"/>
          </a:ln>
        </p:spPr>
        <p:txBody>
          <a:bodyPr/>
          <a:lstStyle/>
          <a:p>
            <a:endParaRPr lang="en-AU"/>
          </a:p>
        </p:txBody>
      </p:sp>
      <p:sp>
        <p:nvSpPr>
          <p:cNvPr id="12" name="Shape 10"/>
          <p:cNvSpPr/>
          <p:nvPr/>
        </p:nvSpPr>
        <p:spPr>
          <a:xfrm>
            <a:off x="3703320" y="2926080"/>
            <a:ext cx="457200" cy="457200"/>
          </a:xfrm>
          <a:prstGeom prst="ellipse">
            <a:avLst/>
          </a:prstGeom>
          <a:solidFill>
            <a:srgbClr val="FFFFFF"/>
          </a:solidFill>
          <a:ln w="12700">
            <a:solidFill>
              <a:srgbClr val="FFFFFF"/>
            </a:solidFill>
            <a:prstDash val="solid"/>
          </a:ln>
        </p:spPr>
        <p:txBody>
          <a:bodyPr/>
          <a:lstStyle/>
          <a:p>
            <a:endParaRPr lang="en-AU"/>
          </a:p>
        </p:txBody>
      </p:sp>
      <p:sp>
        <p:nvSpPr>
          <p:cNvPr id="13" name="Shape 11"/>
          <p:cNvSpPr/>
          <p:nvPr/>
        </p:nvSpPr>
        <p:spPr>
          <a:xfrm>
            <a:off x="3767328" y="2990088"/>
            <a:ext cx="329184" cy="329184"/>
          </a:xfrm>
          <a:prstGeom prst="ellipse">
            <a:avLst/>
          </a:prstGeom>
          <a:solidFill>
            <a:srgbClr val="004B8D"/>
          </a:solidFill>
          <a:ln w="12700">
            <a:solidFill>
              <a:srgbClr val="004B8D"/>
            </a:solidFill>
            <a:prstDash val="solid"/>
          </a:ln>
        </p:spPr>
        <p:txBody>
          <a:bodyPr/>
          <a:lstStyle/>
          <a:p>
            <a:endParaRPr lang="en-AU"/>
          </a:p>
        </p:txBody>
      </p:sp>
      <p:sp>
        <p:nvSpPr>
          <p:cNvPr id="14" name="Text 12"/>
          <p:cNvSpPr/>
          <p:nvPr/>
        </p:nvSpPr>
        <p:spPr>
          <a:xfrm>
            <a:off x="2926080" y="3703320"/>
            <a:ext cx="2011680" cy="228600"/>
          </a:xfrm>
          <a:prstGeom prst="rect">
            <a:avLst/>
          </a:prstGeom>
          <a:noFill/>
          <a:ln/>
        </p:spPr>
        <p:txBody>
          <a:bodyPr wrap="square"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Torres Strait Islander Flag</a:t>
            </a:r>
            <a:endParaRPr lang="en-US" sz="1000" dirty="0"/>
          </a:p>
        </p:txBody>
      </p:sp>
      <p:sp>
        <p:nvSpPr>
          <p:cNvPr id="15" name="Text 13"/>
          <p:cNvSpPr/>
          <p:nvPr/>
        </p:nvSpPr>
        <p:spPr>
          <a:xfrm>
            <a:off x="5029200" y="2606040"/>
            <a:ext cx="3657600" cy="365760"/>
          </a:xfrm>
          <a:prstGeom prst="rect">
            <a:avLst/>
          </a:prstGeom>
          <a:noFill/>
          <a:ln/>
        </p:spPr>
        <p:txBody>
          <a:bodyPr wrap="square" rtlCol="0" anchor="ctr"/>
          <a:lstStyle/>
          <a:p>
            <a:pPr marL="0" indent="0">
              <a:buNone/>
            </a:pPr>
            <a:r>
              <a:rPr lang="en-US" sz="1500" b="1" dirty="0">
                <a:solidFill>
                  <a:srgbClr val="1B3A6B"/>
                </a:solidFill>
                <a:latin typeface="Calibri" pitchFamily="34" charset="0"/>
                <a:ea typeface="Calibri" pitchFamily="34" charset="-122"/>
                <a:cs typeface="Calibri" pitchFamily="34" charset="-120"/>
              </a:rPr>
              <a:t>Our Commitment to Diversity</a:t>
            </a:r>
            <a:endParaRPr lang="en-US" sz="1500" dirty="0"/>
          </a:p>
        </p:txBody>
      </p:sp>
      <p:pic>
        <p:nvPicPr>
          <p:cNvPr id="16" name="Image 0" descr="preencoded.png"/>
          <p:cNvPicPr>
            <a:picLocks noChangeAspect="1"/>
          </p:cNvPicPr>
          <p:nvPr/>
        </p:nvPicPr>
        <p:blipFill>
          <a:blip r:embed="rId3"/>
          <a:stretch>
            <a:fillRect/>
          </a:stretch>
        </p:blipFill>
        <p:spPr>
          <a:xfrm>
            <a:off x="5029200" y="3108960"/>
            <a:ext cx="201168" cy="201168"/>
          </a:xfrm>
          <a:prstGeom prst="rect">
            <a:avLst/>
          </a:prstGeom>
        </p:spPr>
      </p:pic>
      <p:sp>
        <p:nvSpPr>
          <p:cNvPr id="17" name="Text 14"/>
          <p:cNvSpPr/>
          <p:nvPr/>
        </p:nvSpPr>
        <p:spPr>
          <a:xfrm>
            <a:off x="5321808" y="3127248"/>
            <a:ext cx="3291840" cy="256032"/>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Inclusive workplace culture</a:t>
            </a:r>
            <a:endParaRPr lang="en-US" sz="1200" dirty="0"/>
          </a:p>
        </p:txBody>
      </p:sp>
      <p:pic>
        <p:nvPicPr>
          <p:cNvPr id="18" name="Image 1" descr="preencoded.png"/>
          <p:cNvPicPr>
            <a:picLocks noChangeAspect="1"/>
          </p:cNvPicPr>
          <p:nvPr/>
        </p:nvPicPr>
        <p:blipFill>
          <a:blip r:embed="rId3"/>
          <a:stretch>
            <a:fillRect/>
          </a:stretch>
        </p:blipFill>
        <p:spPr>
          <a:xfrm>
            <a:off x="5029200" y="3456432"/>
            <a:ext cx="201168" cy="201168"/>
          </a:xfrm>
          <a:prstGeom prst="rect">
            <a:avLst/>
          </a:prstGeom>
        </p:spPr>
      </p:pic>
      <p:sp>
        <p:nvSpPr>
          <p:cNvPr id="19" name="Text 15"/>
          <p:cNvSpPr/>
          <p:nvPr/>
        </p:nvSpPr>
        <p:spPr>
          <a:xfrm>
            <a:off x="5321808" y="3474720"/>
            <a:ext cx="3291840" cy="256032"/>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Supplier diversity program</a:t>
            </a:r>
            <a:endParaRPr lang="en-US" sz="1200" dirty="0"/>
          </a:p>
        </p:txBody>
      </p:sp>
      <p:pic>
        <p:nvPicPr>
          <p:cNvPr id="20" name="Image 2" descr="preencoded.png"/>
          <p:cNvPicPr>
            <a:picLocks noChangeAspect="1"/>
          </p:cNvPicPr>
          <p:nvPr/>
        </p:nvPicPr>
        <p:blipFill>
          <a:blip r:embed="rId3"/>
          <a:stretch>
            <a:fillRect/>
          </a:stretch>
        </p:blipFill>
        <p:spPr>
          <a:xfrm>
            <a:off x="5029200" y="3803904"/>
            <a:ext cx="201168" cy="201168"/>
          </a:xfrm>
          <a:prstGeom prst="rect">
            <a:avLst/>
          </a:prstGeom>
        </p:spPr>
      </p:pic>
      <p:sp>
        <p:nvSpPr>
          <p:cNvPr id="21" name="Text 16"/>
          <p:cNvSpPr/>
          <p:nvPr/>
        </p:nvSpPr>
        <p:spPr>
          <a:xfrm>
            <a:off x="5321808" y="3822192"/>
            <a:ext cx="3291840" cy="256032"/>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Community partnerships</a:t>
            </a:r>
            <a:endParaRPr lang="en-US" sz="1200" dirty="0"/>
          </a:p>
        </p:txBody>
      </p:sp>
      <p:pic>
        <p:nvPicPr>
          <p:cNvPr id="22" name="Image 3" descr="preencoded.png"/>
          <p:cNvPicPr>
            <a:picLocks noChangeAspect="1"/>
          </p:cNvPicPr>
          <p:nvPr/>
        </p:nvPicPr>
        <p:blipFill>
          <a:blip r:embed="rId3"/>
          <a:stretch>
            <a:fillRect/>
          </a:stretch>
        </p:blipFill>
        <p:spPr>
          <a:xfrm>
            <a:off x="5029200" y="4151376"/>
            <a:ext cx="201168" cy="201168"/>
          </a:xfrm>
          <a:prstGeom prst="rect">
            <a:avLst/>
          </a:prstGeom>
        </p:spPr>
      </p:pic>
      <p:sp>
        <p:nvSpPr>
          <p:cNvPr id="23" name="Text 17"/>
          <p:cNvSpPr/>
          <p:nvPr/>
        </p:nvSpPr>
        <p:spPr>
          <a:xfrm>
            <a:off x="5321808" y="4169664"/>
            <a:ext cx="3291840" cy="256032"/>
          </a:xfrm>
          <a:prstGeom prst="rect">
            <a:avLst/>
          </a:prstGeom>
          <a:noFill/>
          <a:ln/>
        </p:spPr>
        <p:txBody>
          <a:bodyPr wrap="square" lIns="0" tIns="0" rIns="0" bIns="0" rtlCol="0" anchor="ctr"/>
          <a:lstStyle/>
          <a:p>
            <a:pPr marL="0" indent="0">
              <a:buNone/>
            </a:pPr>
            <a:r>
              <a:rPr lang="en-US" sz="1200" dirty="0">
                <a:solidFill>
                  <a:srgbClr val="1B2B4B"/>
                </a:solidFill>
                <a:latin typeface="Calibri" pitchFamily="34" charset="0"/>
                <a:ea typeface="Calibri" pitchFamily="34" charset="-122"/>
                <a:cs typeface="Calibri" pitchFamily="34" charset="-120"/>
              </a:rPr>
              <a:t>Reconciliation Action Plan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22548"/>
        </a:solidFill>
        <a:effectLst/>
      </p:bgPr>
    </p:bg>
    <p:spTree>
      <p:nvGrpSpPr>
        <p:cNvPr id="1" name=""/>
        <p:cNvGrpSpPr/>
        <p:nvPr/>
      </p:nvGrpSpPr>
      <p:grpSpPr>
        <a:xfrm>
          <a:off x="0" y="0"/>
          <a:ext cx="0" cy="0"/>
          <a:chOff x="0" y="0"/>
          <a:chExt cx="0" cy="0"/>
        </a:xfrm>
      </p:grpSpPr>
      <p:sp>
        <p:nvSpPr>
          <p:cNvPr id="2" name="Shape 0"/>
          <p:cNvSpPr/>
          <p:nvPr/>
        </p:nvSpPr>
        <p:spPr>
          <a:xfrm>
            <a:off x="5029200" y="182880"/>
            <a:ext cx="4754880" cy="4754880"/>
          </a:xfrm>
          <a:prstGeom prst="ellipse">
            <a:avLst/>
          </a:prstGeom>
          <a:solidFill>
            <a:srgbClr val="F5C518"/>
          </a:solidFill>
          <a:ln w="12700">
            <a:solidFill>
              <a:srgbClr val="F5C518"/>
            </a:solidFill>
            <a:prstDash val="solid"/>
          </a:ln>
        </p:spPr>
        <p:txBody>
          <a:bodyPr/>
          <a:lstStyle/>
          <a:p>
            <a:endParaRPr lang="en-AU"/>
          </a:p>
        </p:txBody>
      </p:sp>
      <p:sp>
        <p:nvSpPr>
          <p:cNvPr id="3" name="Shape 1"/>
          <p:cNvSpPr/>
          <p:nvPr/>
        </p:nvSpPr>
        <p:spPr>
          <a:xfrm>
            <a:off x="5303520" y="457200"/>
            <a:ext cx="4206240" cy="4206240"/>
          </a:xfrm>
          <a:prstGeom prst="ellipse">
            <a:avLst/>
          </a:prstGeom>
          <a:solidFill>
            <a:srgbClr val="D4A800">
              <a:alpha val="60000"/>
            </a:srgbClr>
          </a:solidFill>
          <a:ln w="12700">
            <a:solidFill>
              <a:srgbClr val="D4A800"/>
            </a:solidFill>
            <a:prstDash val="solid"/>
          </a:ln>
        </p:spPr>
        <p:txBody>
          <a:bodyPr/>
          <a:lstStyle/>
          <a:p>
            <a:endParaRPr lang="en-AU"/>
          </a:p>
        </p:txBody>
      </p:sp>
      <p:sp>
        <p:nvSpPr>
          <p:cNvPr id="4" name="Shape 2"/>
          <p:cNvSpPr/>
          <p:nvPr/>
        </p:nvSpPr>
        <p:spPr>
          <a:xfrm>
            <a:off x="6035040" y="1188720"/>
            <a:ext cx="2743200" cy="2743200"/>
          </a:xfrm>
          <a:prstGeom prst="ellipse">
            <a:avLst/>
          </a:prstGeom>
          <a:solidFill>
            <a:srgbClr val="1B3A6B">
              <a:alpha val="80000"/>
            </a:srgbClr>
          </a:solidFill>
          <a:ln w="12700">
            <a:solidFill>
              <a:srgbClr val="1B3A6B"/>
            </a:solidFill>
            <a:prstDash val="solid"/>
          </a:ln>
        </p:spPr>
        <p:txBody>
          <a:bodyPr/>
          <a:lstStyle/>
          <a:p>
            <a:endParaRPr lang="en-AU"/>
          </a:p>
        </p:txBody>
      </p:sp>
      <p:pic>
        <p:nvPicPr>
          <p:cNvPr id="5" name="Image 0" descr="preencoded.png"/>
          <p:cNvPicPr>
            <a:picLocks noChangeAspect="1"/>
          </p:cNvPicPr>
          <p:nvPr/>
        </p:nvPicPr>
        <p:blipFill>
          <a:blip r:embed="rId3"/>
          <a:stretch>
            <a:fillRect/>
          </a:stretch>
        </p:blipFill>
        <p:spPr>
          <a:xfrm>
            <a:off x="6675120" y="1463040"/>
            <a:ext cx="1280160" cy="1280160"/>
          </a:xfrm>
          <a:prstGeom prst="rect">
            <a:avLst/>
          </a:prstGeom>
        </p:spPr>
      </p:pic>
      <p:sp>
        <p:nvSpPr>
          <p:cNvPr id="6" name="Text 3"/>
          <p:cNvSpPr/>
          <p:nvPr/>
        </p:nvSpPr>
        <p:spPr>
          <a:xfrm>
            <a:off x="6035040" y="2834640"/>
            <a:ext cx="2377440" cy="548640"/>
          </a:xfrm>
          <a:prstGeom prst="rect">
            <a:avLst/>
          </a:prstGeom>
          <a:noFill/>
          <a:ln/>
        </p:spPr>
        <p:txBody>
          <a:bodyPr wrap="square" rtlCol="0" anchor="ctr"/>
          <a:lstStyle/>
          <a:p>
            <a:pPr marL="0" indent="0" algn="ctr">
              <a:buNone/>
            </a:pPr>
            <a:r>
              <a:rPr lang="en-US" sz="2800" b="1" dirty="0">
                <a:solidFill>
                  <a:srgbClr val="1B3A6B"/>
                </a:solidFill>
                <a:latin typeface="Calibri" pitchFamily="34" charset="0"/>
                <a:ea typeface="Calibri" pitchFamily="34" charset="-122"/>
                <a:cs typeface="Calibri" pitchFamily="34" charset="-120"/>
              </a:rPr>
              <a:t>Next</a:t>
            </a:r>
            <a:r>
              <a:rPr lang="en-US" sz="2800" b="1" dirty="0">
                <a:solidFill>
                  <a:srgbClr val="122548"/>
                </a:solidFill>
                <a:latin typeface="Calibri" pitchFamily="34" charset="0"/>
                <a:ea typeface="Calibri" pitchFamily="34" charset="-122"/>
                <a:cs typeface="Calibri" pitchFamily="34" charset="-120"/>
              </a:rPr>
              <a:t>Gen</a:t>
            </a:r>
            <a:endParaRPr lang="en-US" sz="2800" dirty="0"/>
          </a:p>
        </p:txBody>
      </p:sp>
      <p:sp>
        <p:nvSpPr>
          <p:cNvPr id="7" name="Text 4"/>
          <p:cNvSpPr/>
          <p:nvPr/>
        </p:nvSpPr>
        <p:spPr>
          <a:xfrm>
            <a:off x="6035040" y="3364992"/>
            <a:ext cx="2377440" cy="320040"/>
          </a:xfrm>
          <a:prstGeom prst="rect">
            <a:avLst/>
          </a:prstGeom>
          <a:noFill/>
          <a:ln/>
        </p:spPr>
        <p:txBody>
          <a:bodyPr wrap="square" rtlCol="0" anchor="ctr"/>
          <a:lstStyle/>
          <a:p>
            <a:pPr marL="0" indent="0" algn="ctr">
              <a:buNone/>
            </a:pPr>
            <a:r>
              <a:rPr lang="en-US" sz="1200" b="1" kern="0" spc="400" dirty="0">
                <a:solidFill>
                  <a:srgbClr val="122548"/>
                </a:solidFill>
                <a:latin typeface="Calibri" pitchFamily="34" charset="0"/>
                <a:ea typeface="Calibri" pitchFamily="34" charset="-122"/>
                <a:cs typeface="Calibri" pitchFamily="34" charset="-120"/>
              </a:rPr>
              <a:t>WEB WORKS</a:t>
            </a:r>
            <a:endParaRPr lang="en-US" sz="1200" dirty="0"/>
          </a:p>
        </p:txBody>
      </p:sp>
      <p:sp>
        <p:nvSpPr>
          <p:cNvPr id="8" name="Text 5"/>
          <p:cNvSpPr/>
          <p:nvPr/>
        </p:nvSpPr>
        <p:spPr>
          <a:xfrm>
            <a:off x="457200" y="457200"/>
            <a:ext cx="5029200" cy="201168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Let's Build</a:t>
            </a:r>
            <a:endParaRPr lang="en-US" sz="4000" dirty="0"/>
          </a:p>
          <a:p>
            <a:pPr marL="0" indent="0">
              <a:buNone/>
            </a:pPr>
            <a:r>
              <a:rPr lang="en-US" sz="4000" b="1" dirty="0">
                <a:solidFill>
                  <a:srgbClr val="FFFFFF"/>
                </a:solidFill>
                <a:latin typeface="Calibri" pitchFamily="34" charset="0"/>
                <a:ea typeface="Calibri" pitchFamily="34" charset="-122"/>
                <a:cs typeface="Calibri" pitchFamily="34" charset="-120"/>
              </a:rPr>
              <a:t>Something</a:t>
            </a:r>
            <a:endParaRPr lang="en-US" sz="4000" dirty="0"/>
          </a:p>
          <a:p>
            <a:pPr marL="0" indent="0">
              <a:buNone/>
            </a:pPr>
            <a:r>
              <a:rPr lang="en-US" sz="4000" b="1" dirty="0">
                <a:solidFill>
                  <a:srgbClr val="FFFFFF"/>
                </a:solidFill>
                <a:latin typeface="Calibri" pitchFamily="34" charset="0"/>
                <a:ea typeface="Calibri" pitchFamily="34" charset="-122"/>
                <a:cs typeface="Calibri" pitchFamily="34" charset="-120"/>
              </a:rPr>
              <a:t>Amazing.</a:t>
            </a:r>
            <a:endParaRPr lang="en-US" sz="4000" dirty="0"/>
          </a:p>
        </p:txBody>
      </p:sp>
      <p:sp>
        <p:nvSpPr>
          <p:cNvPr id="9" name="Text 6"/>
          <p:cNvSpPr/>
          <p:nvPr/>
        </p:nvSpPr>
        <p:spPr>
          <a:xfrm>
            <a:off x="457200" y="2560320"/>
            <a:ext cx="4572000" cy="365760"/>
          </a:xfrm>
          <a:prstGeom prst="rect">
            <a:avLst/>
          </a:prstGeom>
          <a:noFill/>
          <a:ln/>
        </p:spPr>
        <p:txBody>
          <a:bodyPr wrap="square" rtlCol="0" anchor="ctr"/>
          <a:lstStyle/>
          <a:p>
            <a:pPr marL="0" indent="0">
              <a:buNone/>
            </a:pPr>
            <a:r>
              <a:rPr lang="en-US" sz="1300" i="1" dirty="0">
                <a:solidFill>
                  <a:srgbClr val="8C9DC0"/>
                </a:solidFill>
                <a:latin typeface="Calibri" pitchFamily="34" charset="0"/>
                <a:ea typeface="Calibri" pitchFamily="34" charset="-122"/>
                <a:cs typeface="Calibri" pitchFamily="34" charset="-120"/>
              </a:rPr>
              <a:t>Ready to transform your digital presence?</a:t>
            </a:r>
            <a:endParaRPr lang="en-US" sz="1300" dirty="0"/>
          </a:p>
        </p:txBody>
      </p:sp>
      <p:sp>
        <p:nvSpPr>
          <p:cNvPr id="10" name="Shape 7"/>
          <p:cNvSpPr/>
          <p:nvPr/>
        </p:nvSpPr>
        <p:spPr>
          <a:xfrm>
            <a:off x="457200" y="3063240"/>
            <a:ext cx="2926080" cy="502920"/>
          </a:xfrm>
          <a:prstGeom prst="rect">
            <a:avLst/>
          </a:prstGeom>
          <a:solidFill>
            <a:srgbClr val="F5C518"/>
          </a:solidFill>
          <a:ln w="12700">
            <a:solidFill>
              <a:srgbClr val="F5C518"/>
            </a:solidFill>
            <a:prstDash val="solid"/>
          </a:ln>
          <a:effectLst>
            <a:outerShdw blurRad="101600" dist="38100" dir="8100000" algn="bl" rotWithShape="0">
              <a:srgbClr val="000000">
                <a:alpha val="20000"/>
              </a:srgbClr>
            </a:outerShdw>
          </a:effectLst>
        </p:spPr>
        <p:txBody>
          <a:bodyPr/>
          <a:lstStyle/>
          <a:p>
            <a:endParaRPr lang="en-AU"/>
          </a:p>
        </p:txBody>
      </p:sp>
      <p:sp>
        <p:nvSpPr>
          <p:cNvPr id="11" name="Text 8"/>
          <p:cNvSpPr/>
          <p:nvPr/>
        </p:nvSpPr>
        <p:spPr>
          <a:xfrm>
            <a:off x="457200" y="3063240"/>
            <a:ext cx="2926080" cy="502920"/>
          </a:xfrm>
          <a:prstGeom prst="rect">
            <a:avLst/>
          </a:prstGeom>
          <a:noFill/>
          <a:ln/>
        </p:spPr>
        <p:txBody>
          <a:bodyPr wrap="square" lIns="0" tIns="0" rIns="0" bIns="0" rtlCol="0" anchor="ctr"/>
          <a:lstStyle/>
          <a:p>
            <a:pPr marL="0" indent="0" algn="ctr">
              <a:buNone/>
            </a:pPr>
            <a:r>
              <a:rPr lang="en-US" sz="1500" b="1" dirty="0">
                <a:solidFill>
                  <a:srgbClr val="1B3A6B"/>
                </a:solidFill>
                <a:latin typeface="Calibri" pitchFamily="34" charset="0"/>
                <a:ea typeface="Calibri" pitchFamily="34" charset="-122"/>
                <a:cs typeface="Calibri" pitchFamily="34" charset="-120"/>
              </a:rPr>
              <a:t>Contact Us Today →</a:t>
            </a:r>
            <a:endParaRPr lang="en-US" sz="1500" dirty="0"/>
          </a:p>
        </p:txBody>
      </p:sp>
      <p:sp>
        <p:nvSpPr>
          <p:cNvPr id="12" name="Text 9"/>
          <p:cNvSpPr/>
          <p:nvPr/>
        </p:nvSpPr>
        <p:spPr>
          <a:xfrm>
            <a:off x="457200" y="3730752"/>
            <a:ext cx="4572000" cy="292608"/>
          </a:xfrm>
          <a:prstGeom prst="rect">
            <a:avLst/>
          </a:prstGeom>
          <a:noFill/>
          <a:ln/>
        </p:spPr>
        <p:txBody>
          <a:bodyPr wrap="square" rtlCol="0" anchor="ctr"/>
          <a:lstStyle/>
          <a:p>
            <a:pPr marL="0" indent="0">
              <a:buNone/>
            </a:pPr>
            <a:r>
              <a:rPr lang="en-US" sz="1200" dirty="0">
                <a:solidFill>
                  <a:srgbClr val="8C9DC0"/>
                </a:solidFill>
                <a:latin typeface="Calibri" pitchFamily="34" charset="0"/>
                <a:ea typeface="Calibri" pitchFamily="34" charset="-122"/>
                <a:cs typeface="Calibri" pitchFamily="34" charset="-120"/>
              </a:rPr>
              <a:t>info@nextgenwebworks.com</a:t>
            </a:r>
            <a:endParaRPr lang="en-US" sz="1200" dirty="0"/>
          </a:p>
        </p:txBody>
      </p:sp>
      <p:sp>
        <p:nvSpPr>
          <p:cNvPr id="13" name="Text 10"/>
          <p:cNvSpPr/>
          <p:nvPr/>
        </p:nvSpPr>
        <p:spPr>
          <a:xfrm>
            <a:off x="457200" y="4023360"/>
            <a:ext cx="4572000" cy="292608"/>
          </a:xfrm>
          <a:prstGeom prst="rect">
            <a:avLst/>
          </a:prstGeom>
          <a:noFill/>
          <a:ln/>
        </p:spPr>
        <p:txBody>
          <a:bodyPr wrap="square" rtlCol="0" anchor="ctr"/>
          <a:lstStyle/>
          <a:p>
            <a:pPr marL="0" indent="0">
              <a:buNone/>
            </a:pPr>
            <a:r>
              <a:rPr lang="en-US" sz="1200" dirty="0">
                <a:solidFill>
                  <a:srgbClr val="8C9DC0"/>
                </a:solidFill>
                <a:latin typeface="Calibri" pitchFamily="34" charset="0"/>
                <a:ea typeface="Calibri" pitchFamily="34" charset="-122"/>
                <a:cs typeface="Calibri" pitchFamily="34" charset="-120"/>
              </a:rPr>
              <a:t>nextgenwebworks.com.au</a:t>
            </a:r>
            <a:endParaRPr lang="en-US" sz="1200" dirty="0"/>
          </a:p>
        </p:txBody>
      </p:sp>
      <p:sp>
        <p:nvSpPr>
          <p:cNvPr id="14" name="Shape 11"/>
          <p:cNvSpPr/>
          <p:nvPr/>
        </p:nvSpPr>
        <p:spPr>
          <a:xfrm>
            <a:off x="0" y="4754880"/>
            <a:ext cx="9144000" cy="388620"/>
          </a:xfrm>
          <a:prstGeom prst="rect">
            <a:avLst/>
          </a:prstGeom>
          <a:solidFill>
            <a:srgbClr val="0A1A35"/>
          </a:solidFill>
          <a:ln w="12700">
            <a:solidFill>
              <a:srgbClr val="0A1A35"/>
            </a:solidFill>
            <a:prstDash val="solid"/>
          </a:ln>
        </p:spPr>
        <p:txBody>
          <a:bodyPr/>
          <a:lstStyle/>
          <a:p>
            <a:endParaRPr lang="en-AU"/>
          </a:p>
        </p:txBody>
      </p:sp>
      <p:sp>
        <p:nvSpPr>
          <p:cNvPr id="15" name="Text 12"/>
          <p:cNvSpPr/>
          <p:nvPr/>
        </p:nvSpPr>
        <p:spPr>
          <a:xfrm>
            <a:off x="457200" y="4773168"/>
            <a:ext cx="8229600" cy="292608"/>
          </a:xfrm>
          <a:prstGeom prst="rect">
            <a:avLst/>
          </a:prstGeom>
          <a:noFill/>
          <a:ln/>
        </p:spPr>
        <p:txBody>
          <a:bodyPr wrap="square" rtlCol="0" anchor="ctr"/>
          <a:lstStyle/>
          <a:p>
            <a:pPr marL="0" indent="0" algn="ctr">
              <a:buNone/>
            </a:pPr>
            <a:r>
              <a:rPr lang="en-US" sz="1000" dirty="0">
                <a:solidFill>
                  <a:srgbClr val="8C9DC0"/>
                </a:solidFill>
                <a:latin typeface="Calibri" pitchFamily="34" charset="0"/>
                <a:ea typeface="Calibri" pitchFamily="34" charset="-122"/>
                <a:cs typeface="Calibri" pitchFamily="34" charset="-120"/>
              </a:rPr>
              <a:t>© 2026 NextGen Web Works — G06 Creative Media &amp; Design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TotalTime>
  <Words>932</Words>
  <Application>Microsoft Office PowerPoint</Application>
  <PresentationFormat>On-screen Show (16:9)</PresentationFormat>
  <Paragraphs>263</Paragraphs>
  <Slides>16</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NextGen Web Works</dc:title>
  <dc:subject>PptxGenJS Presentation</dc:subject>
  <dc:creator>NextGen Web Works</dc:creator>
  <cp:lastModifiedBy>HAMNAH CHAUDHARY</cp:lastModifiedBy>
  <cp:revision>3</cp:revision>
  <dcterms:created xsi:type="dcterms:W3CDTF">2026-05-28T14:36:23Z</dcterms:created>
  <dcterms:modified xsi:type="dcterms:W3CDTF">2026-05-29T04:45:35Z</dcterms:modified>
</cp:coreProperties>
</file>